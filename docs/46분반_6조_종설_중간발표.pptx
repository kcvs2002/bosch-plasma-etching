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0"/>
  </p:notesMasterIdLst>
  <p:sldIdLst>
    <p:sldId id="257" r:id="rId5"/>
    <p:sldId id="295" r:id="rId6"/>
    <p:sldId id="288" r:id="rId7"/>
    <p:sldId id="294" r:id="rId8"/>
    <p:sldId id="293" r:id="rId9"/>
    <p:sldId id="291" r:id="rId10"/>
    <p:sldId id="292" r:id="rId11"/>
    <p:sldId id="290" r:id="rId12"/>
    <p:sldId id="278" r:id="rId13"/>
    <p:sldId id="282" r:id="rId14"/>
    <p:sldId id="284" r:id="rId15"/>
    <p:sldId id="283" r:id="rId16"/>
    <p:sldId id="279" r:id="rId17"/>
    <p:sldId id="285" r:id="rId18"/>
    <p:sldId id="287" r:id="rId19"/>
  </p:sldIdLst>
  <p:sldSz cx="12192000" cy="6858000"/>
  <p:notesSz cx="6858000" cy="9144000"/>
  <p:embeddedFontLst>
    <p:embeddedFont>
      <p:font typeface="Pretendard Black" panose="020B0600000101010101" charset="-127"/>
      <p:bold r:id="rId21"/>
    </p:embeddedFont>
    <p:embeddedFont>
      <p:font typeface="Pretendard ExtraBold" panose="020B0600000101010101" charset="-127"/>
      <p:bold r:id="rId22"/>
    </p:embeddedFont>
    <p:embeddedFont>
      <p:font typeface="Pretendard Light" panose="020B0600000101010101" charset="-127"/>
      <p:regular r:id="rId23"/>
    </p:embeddedFont>
    <p:embeddedFont>
      <p:font typeface="Pretendard Medium" panose="020B0600000101010101" charset="-127"/>
      <p:regular r:id="rId24"/>
    </p:embeddedFont>
    <p:embeddedFont>
      <p:font typeface="Pretendard SemiBold" panose="020B0600000101010101" charset="-127"/>
      <p:bold r:id="rId25"/>
    </p:embeddedFont>
    <p:embeddedFont>
      <p:font typeface="Noto Sans KR ExtraBold" panose="020B0200000000000000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81496" autoAdjust="0"/>
  </p:normalViewPr>
  <p:slideViewPr>
    <p:cSldViewPr snapToGrid="0">
      <p:cViewPr varScale="1">
        <p:scale>
          <a:sx n="86" d="100"/>
          <a:sy n="86" d="100"/>
        </p:scale>
        <p:origin x="79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C1D9-B018-4416-BCEE-00231967477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1ADF3-D9EB-4753-914D-CCE533B33C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48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EE-1E2D-974C-F341-70E78AD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2E63DE-800B-5B04-AA9F-2C9129B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B4DC46-37D6-3A3F-3AF5-A584E7C9F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 소개할 파이프라인은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사용하는 입력 데이터는 크게 세 가지입니다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채널로 구성됩니다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3,245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채널입니다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측정 위치 좌표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포인트의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원시 데이터를 그대로 쓰기엔 차원이 너무 높기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엔지니어링 단계에서 사이클 단위로 요약합니다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밴드별로 평균을 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평균을 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 시퀀스에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최솟값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최댓값 등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통계를 적용하면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XY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피처가 만들어집니다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피처 벡터를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Regressor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입력해서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learning_rate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딥러닝 모델과 비교할 성능 기준선 역할을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803C6-A892-A0FA-FADF-65BEF411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82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파이프라인은 저희가 핵심 기여로 제안하는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DL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2D-CNN, Bidirectional LSTM,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모듈을 결합한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가장 큰 차이점은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내부의 시간 파형을 그대로 학습에 활용한다는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3,648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파장으로 구성되고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OES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통과시켜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31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채널을 동일한 구조의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Process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처리해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만듭니다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공유한다는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사이클을 독립적으로 동일한 인코더로 처리하는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이어 붙인 뒤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LayerNorm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거쳐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× 128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시퀀스를 만들고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Bidirectional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사이클 간 시간적 변화를 학습하는 부분입니다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Pooling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하나의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벡터로 압축하고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모듈로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스케일링 파라미터를 통해 웨이퍼 전체의 공정 상태를 표현하는 역할을 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위치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인코딩해서 공간 정보를 결합하고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측정 포인트 각각에 대해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7ABA-CDC8-0D3E-F6EB-DA3972CF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07103-834A-DDB9-CE88-788FB8B5C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2A289F-5C82-159B-1CA1-7709B971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결과로 넘어오겠습니다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모델 성능을 해석하기에 앞서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타겟의 학습 난이도를 이해할 필요가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표는 각 타겟의 분산이 웨이퍼 내부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공간적 위치 차이에서 오는 비율과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간 즉 공정 배치 변동에서 오는 비율을 분해한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표준편차가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3.61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전체 분산의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차지합니다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변동 대부분은 측정 위치에 따른 공간 패턴에서 비롯되며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0.985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거의 모든 모델이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보이는 건 자연스러운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웨이퍼 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0.064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(68%),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0.044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(32%)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변동이 상당 부분을 차지합니다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0.156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밖에 안 된다는 것이 이를 잘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센서와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로부터 배치 간 변화를 실제로 학습해야만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저희 연구에서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핵심 평가 타겟으로 보는 이유입니다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5BF82-53B2-F98B-FE91-160D7599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6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9CC0D-BA9C-7ECE-981A-97CC60EA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0ECD1D-1CE1-53D5-FEDD-0F26EEF72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FA566C-587B-F371-061D-2B6DD52A4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표는 모든 모델의 성능을 정리한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앞서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것처럼 모든 모델이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0.99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높아 변별력이 낮습니다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핵심 지표는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Spatial-mean baseline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0.156.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0.551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크게 뛰어오르고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DL OES-only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0.346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오히려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낮습니다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만으로는 부족하다는 뜻입니다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DL Process-only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0.641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넘어서고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최종 제안 모델인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파라미터를 함께 사용해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R² 0.734, RMSE 0.0399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추가할수록 성능이 향상되며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파라미터가 서로 다른 정보를 담고 있음을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높은 성능을 보이는 것은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 파형 패턴이라는 시간 정보가 추가적인 예측 신호를 제공하기 때문으로 해석됩니다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2522A-D3D5-8694-4C28-11A22ACA6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70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E6EF-C164-055F-5C9F-D99F3287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D27BB-FEEF-9240-87C4-748EFBE7B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3DE0CB-3035-4007-C9A7-E35AC43F4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모델에 대한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중요도 분석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 중요한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proc_Heater2Temp_late,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공정 후반부 히터 온도 피처가 가장 높은 중요도를 가지고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뒤로 공정 파라미터와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피처가 혼합됩니다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그래프는 피처를 그룹 단위로 묶어 기여도를 비교한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Static(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0.012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Temporal(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기울기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후기 값 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0.009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Static: 0.025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Temporal: 0.038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높습니다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0.037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 높습니다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결과에서 두 가지 사실을 알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정보가 매우 중요하다는 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 패턴이 생각보다 훨씬 중요한 신호입니다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중에서도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사이클 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기울기 같은 시간적 변화량이 정적 통계보다 더 중요하다는 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저희가 시계열 구조를 학습에 반영한 것이 의미 있음을 간접적으로 지지합니다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06F034-0437-472C-1799-8313A3DB0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646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FC36-B098-CC56-5BEE-1D13CDFF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68872-7E8C-4D9D-48FE-117206548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BE7225-D760-45BD-0763-8AD0CA8F1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사이클 단위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Attribution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그래프는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어느 사이클에 얼마나 집중했는지를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색상은 사이클 번호를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막대 높이는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 norm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파란 음영은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표준편차를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가지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조합을 비교해보면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비교적 균등하게 분포되어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사이클에 집중하지 않고 전 구간에서 고르게 정보를 추출합니다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OES+process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(Multimodal)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초기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(1~20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급격히 높고 이후 급감하는 패턴을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초기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챔버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상태나 점화 직후 플라즈마가 안정되는 순간의 정보가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예측에 특히 중요함을 시사합니다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모델은 후반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(80~100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집중되는 경향이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식각이 쌓이면서 공정 후반 센서 변화가 최종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상태를 더 잘 반영하는 것으로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차이는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공정 파라미터가 서로 다른 공정 시간대의 정보를 제공하며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멀티모달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결합의 성능 향상으로 이어진다는 것을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9DE45-92FB-24FF-CA04-96B7789E1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45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6441-7B19-2C69-5BB4-885E8A2D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91E7A8-0C4A-53F4-01D1-756885968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917BC-0ED2-16FC-4D87-C64918A75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47A0EE-11EC-EDA6-9D60-B6C9B3471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92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0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 논문의 데이터셋을 활용하여 반도체 제조 공정에서의 </a:t>
            </a:r>
            <a:r>
              <a:rPr lang="en-US" altLang="ko-KR" dirty="0"/>
              <a:t>VM</a:t>
            </a:r>
            <a:r>
              <a:rPr lang="ko-KR" altLang="en-US" dirty="0"/>
              <a:t>을 구현하려고 합니다</a:t>
            </a:r>
            <a:r>
              <a:rPr lang="en-US" altLang="ko-KR" dirty="0"/>
              <a:t>. </a:t>
            </a:r>
            <a:r>
              <a:rPr lang="ko-KR" altLang="en-US" dirty="0"/>
              <a:t>논문의 용어 몇 가지를 간단히 설명하겠습니다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C4F8(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패시베이션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가스를 교대로 사용하는 사이클릭 공정입니다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연구에서 활용하는 데이터셋은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초의 점화 단계 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회의 사이클로 구성되며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사이클에서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C4F8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웨이퍼에 대해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채널에서 연속으로 기록됩니다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데이터에는 각 사이클에서의 플라즈마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화학종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풍부한 공정 정보가 포함되어 있기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정보를 고려한 예측 방법이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등으로 축소하여 사용하는 경우가 대부분이며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방식으로는 사이클 간 시간적 변화 패턴이라는 핵심 정보가 손실된다는 문제가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74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접근법의 한계를 요약하면 이 세 가지로 정리할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방금 언급한 것처럼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통계적으로 축소하고 전통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 방식은 사이클 간의 시간적 변화 정보를 반영할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직접 입력하는 방식은 모든 정보를 입력하고 학습시키는 것인데 차원이 너무 높아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시계열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dirty="0"/>
              <a:t>BOSCH </a:t>
            </a:r>
            <a:r>
              <a:rPr lang="ko-KR" altLang="en-US" dirty="0"/>
              <a:t>공정의 사이클 구조를 반영하지 못한다는 문제가 있습니다</a:t>
            </a:r>
            <a:r>
              <a:rPr lang="en-US" altLang="ko-KR" dirty="0"/>
              <a:t>.</a:t>
            </a: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공정의 물리적 사이클 구조를 반영할 수 있는 딥러닝 기반 표현 학습 방법을 구현해보려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719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70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31</a:t>
            </a:r>
            <a:r>
              <a:rPr lang="ko-KR" altLang="en-US" dirty="0"/>
              <a:t>개 공정 파라미터가 무엇인지 간단히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31</a:t>
            </a:r>
            <a:r>
              <a:rPr lang="ko-KR" altLang="en-US" dirty="0"/>
              <a:t>개 공정 파라미터는 </a:t>
            </a:r>
            <a:r>
              <a:rPr lang="en-US" altLang="ko-KR" dirty="0"/>
              <a:t>ICP-RIE </a:t>
            </a:r>
            <a:r>
              <a:rPr lang="ko-KR" altLang="en-US" dirty="0"/>
              <a:t>장비의 세 영역에 대응됩니다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장비 위쪽에는 </a:t>
            </a:r>
            <a:r>
              <a:rPr lang="en-US" altLang="ko-KR" dirty="0"/>
              <a:t>ICP </a:t>
            </a:r>
            <a:r>
              <a:rPr lang="ko-KR" altLang="en-US" dirty="0"/>
              <a:t>코일이 있어서 </a:t>
            </a:r>
            <a:r>
              <a:rPr lang="en-US" altLang="ko-KR" dirty="0"/>
              <a:t>RF </a:t>
            </a:r>
            <a:r>
              <a:rPr lang="ko-KR" altLang="en-US" dirty="0"/>
              <a:t>전력으로 플라즈마를 만들어 이것이 플라즈마 밀도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 </a:t>
            </a:r>
            <a:r>
              <a:rPr lang="ko-KR" altLang="en-US" dirty="0" err="1"/>
              <a:t>라디칼</a:t>
            </a:r>
            <a:r>
              <a:rPr lang="ko-KR" altLang="en-US" dirty="0"/>
              <a:t> </a:t>
            </a:r>
            <a:r>
              <a:rPr lang="ko-KR" altLang="en-US" dirty="0" err="1"/>
              <a:t>생성량을</a:t>
            </a:r>
            <a:r>
              <a:rPr lang="ko-KR" altLang="en-US" dirty="0"/>
              <a:t> 결정합니다</a:t>
            </a:r>
            <a:r>
              <a:rPr lang="en-US" altLang="ko-KR" dirty="0"/>
              <a:t>. </a:t>
            </a:r>
            <a:r>
              <a:rPr lang="ko-KR" altLang="en-US" dirty="0"/>
              <a:t>이 전력이 세질수록 가스가 더 많이 분해돼서 식각이 빨라집니다</a:t>
            </a:r>
            <a:r>
              <a:rPr lang="en-US" altLang="ko-KR" dirty="0"/>
              <a:t>. </a:t>
            </a:r>
            <a:r>
              <a:rPr lang="ko-KR" altLang="en-US" dirty="0"/>
              <a:t>중앙 챔버에서는 </a:t>
            </a:r>
            <a:r>
              <a:rPr lang="en-US" altLang="ko-KR" dirty="0"/>
              <a:t>SF₆, C₄F₈ </a:t>
            </a:r>
            <a:r>
              <a:rPr lang="ko-KR" altLang="en-US" dirty="0"/>
              <a:t>같은 가스 유량과 챔버 압력이 화학 반응 환경을 제어합니다</a:t>
            </a:r>
            <a:r>
              <a:rPr lang="en-US" altLang="ko-KR" dirty="0"/>
              <a:t>. </a:t>
            </a:r>
            <a:r>
              <a:rPr lang="ko-KR" altLang="en-US" dirty="0"/>
              <a:t>아래쪽에는 웨이퍼가 놓이는 전극이 있는데</a:t>
            </a:r>
            <a:r>
              <a:rPr lang="en-US" altLang="ko-KR" dirty="0"/>
              <a:t>, </a:t>
            </a:r>
            <a:r>
              <a:rPr lang="ko-KR" altLang="en-US" dirty="0"/>
              <a:t>여기에 걸리는 바이어스 전압이 이온을 얼마나 세게 가속시킬지를 결정하여 물리적 식각에 기여합니다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표에 정리했듯이 </a:t>
            </a:r>
            <a:r>
              <a:rPr lang="en-US" altLang="ko-KR" dirty="0"/>
              <a:t>Source RF Power, DC Bias, SF₆ </a:t>
            </a:r>
            <a:r>
              <a:rPr lang="ko-KR" altLang="en-US" dirty="0"/>
              <a:t>유량</a:t>
            </a:r>
            <a:r>
              <a:rPr lang="en-US" altLang="ko-KR" dirty="0"/>
              <a:t>, C₄F₈ </a:t>
            </a:r>
            <a:r>
              <a:rPr lang="ko-KR" altLang="en-US" dirty="0"/>
              <a:t>유량이 가장 핵심적인 변수로 예상됩니다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중요한 것은 이 </a:t>
            </a:r>
            <a:r>
              <a:rPr lang="en-US" altLang="ko-KR" dirty="0"/>
              <a:t>31</a:t>
            </a:r>
            <a:r>
              <a:rPr lang="ko-KR" altLang="en-US" dirty="0"/>
              <a:t>개 변수가 독립적으로 작용하는 게 아니라 복합적으로 상호작용하면서 식각 깊이를 결정한다는 점이고</a:t>
            </a:r>
            <a:r>
              <a:rPr lang="en-US" altLang="ko-KR" dirty="0"/>
              <a:t>, </a:t>
            </a:r>
            <a:r>
              <a:rPr lang="ko-KR" altLang="en-US" dirty="0"/>
              <a:t>이 복합 관계를 학습하는 것이 데이터 기반 접근의 핵심입니다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83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저희가 예측하려는 것은 실리콘이 얼마나 깊이 </a:t>
            </a:r>
            <a:r>
              <a:rPr lang="ko-KR" altLang="en-US" dirty="0" err="1"/>
              <a:t>파였는지입니다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그림을 보시면</a:t>
            </a:r>
            <a:r>
              <a:rPr lang="en-US" altLang="ko-KR" dirty="0"/>
              <a:t>, </a:t>
            </a:r>
            <a:r>
              <a:rPr lang="ko-KR" altLang="en-US" dirty="0"/>
              <a:t>식각 전에는 </a:t>
            </a:r>
            <a:r>
              <a:rPr lang="en-US" altLang="ko-KR" dirty="0" err="1"/>
              <a:t>SiO</a:t>
            </a:r>
            <a:r>
              <a:rPr lang="en-US" altLang="ko-KR" dirty="0"/>
              <a:t>₂ </a:t>
            </a:r>
            <a:r>
              <a:rPr lang="ko-KR" altLang="en-US" dirty="0"/>
              <a:t>마스크가 위에 덮여 있고 그 아래 실리콘이 평평합니다</a:t>
            </a:r>
            <a:r>
              <a:rPr lang="en-US" altLang="ko-KR" dirty="0"/>
              <a:t>. 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거치면 마스크가 열린 부분으로 약 </a:t>
            </a:r>
            <a:r>
              <a:rPr lang="en-US" altLang="ko-KR" dirty="0"/>
              <a:t>40</a:t>
            </a:r>
            <a:r>
              <a:rPr lang="ko-KR" altLang="en-US" dirty="0"/>
              <a:t>마이크로미터 깊이의 구멍이 파이게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마이크로미터라는 값이 저희 타겟</a:t>
            </a:r>
            <a:r>
              <a:rPr lang="en-US" altLang="ko-KR" dirty="0"/>
              <a:t>, </a:t>
            </a:r>
            <a:r>
              <a:rPr lang="ko-KR" altLang="en-US" dirty="0"/>
              <a:t>즉 모델이 맞춰야 할 정답입니다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마스크도 일부 소모되어 </a:t>
            </a:r>
            <a:r>
              <a:rPr lang="en-US" altLang="ko-KR" dirty="0"/>
              <a:t>0.45</a:t>
            </a:r>
            <a:r>
              <a:rPr lang="ko-KR" altLang="en-US" dirty="0"/>
              <a:t>마이크로미터로 얇아집니다</a:t>
            </a:r>
            <a:r>
              <a:rPr lang="en-US" altLang="ko-KR" dirty="0"/>
              <a:t>. </a:t>
            </a:r>
            <a:r>
              <a:rPr lang="ko-KR" altLang="en-US" dirty="0"/>
              <a:t>아래 표가 실제 </a:t>
            </a:r>
            <a:r>
              <a:rPr lang="en-US" altLang="ko-KR" dirty="0"/>
              <a:t>CSV </a:t>
            </a:r>
            <a:r>
              <a:rPr lang="ko-KR" altLang="en-US" dirty="0"/>
              <a:t>데이터이고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en-US" altLang="ko-KR" dirty="0"/>
              <a:t> </a:t>
            </a:r>
            <a:r>
              <a:rPr lang="ko-KR" altLang="en-US" dirty="0"/>
              <a:t>열이 저희 타겟입니다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전체 흐름입니다</a:t>
            </a:r>
            <a:r>
              <a:rPr lang="en-US" altLang="ko-KR" dirty="0"/>
              <a:t>, </a:t>
            </a:r>
            <a:r>
              <a:rPr lang="ko-KR" altLang="en-US" dirty="0"/>
              <a:t>식각 중 실시간으로 기록된 공정 파라미터와 </a:t>
            </a:r>
            <a:r>
              <a:rPr lang="en-US" altLang="ko-KR" dirty="0"/>
              <a:t>OES</a:t>
            </a:r>
            <a:r>
              <a:rPr lang="ko-KR" altLang="en-US" dirty="0"/>
              <a:t>가 입력이 되고</a:t>
            </a:r>
            <a:r>
              <a:rPr lang="en-US" altLang="ko-KR" dirty="0"/>
              <a:t>, </a:t>
            </a:r>
            <a:r>
              <a:rPr lang="ko-KR" altLang="en-US" dirty="0"/>
              <a:t>식각 후에 잰 깊이를 정답으로 매칭해서 모델을 학습시킵니다</a:t>
            </a:r>
            <a:r>
              <a:rPr lang="en-US" altLang="ko-KR" dirty="0"/>
              <a:t>. </a:t>
            </a:r>
            <a:r>
              <a:rPr lang="ko-KR" altLang="en-US" dirty="0"/>
              <a:t>이렇게 하면 나중에는 센서 데이터만 보고도 실제로 재지 않아도 식각 깊이를 예측할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3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0770F-D728-4439-5857-849780E8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8C55C-DBE0-2167-0934-2C818D198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3F5A8-9B56-B62B-F52A-75AA875F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B520F-3B45-F805-5444-94C9DF9F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47B91-E84F-4036-D7C8-B589A55E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8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FA413-CA51-1F45-8DC7-1A069E1B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DE04EB-3354-B874-EDAC-7F5C2855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6CD1-CCAC-6CF0-803D-A46284C6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4FA30-864F-3143-4C60-B49554B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9FF1B-5B18-BB30-86CE-0A61E188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097ED-8242-B8A7-11CF-BEF96528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E531F-9982-414C-B087-99565BBB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68051-F30A-EBC4-FC0B-A4B16EDB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ACE3F-26B9-64B7-5B5A-060CAE9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F3FC9-C4A4-4751-8FD9-6734BA2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9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5BDA4-50F9-C6DF-3878-F485680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F960A-5A7C-B8F6-BF2D-831814A7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6D8664-E883-9B69-8CE7-51E474D51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9D0B2-A91B-8EB4-4D04-0F0D4E85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BF03B2-805C-A022-5E6E-9FAA21D7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37862-6269-E72C-371E-8E21DF6B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1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B0197-2B86-2E3E-3045-E44040D5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5DEDE-DA4E-EC1D-502C-DDEC78C3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E724A7-8325-2C1E-E460-E9AABC70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B8B83E-4206-FDEA-EF3E-C4906C9C6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00B246-02DF-911F-0297-1E864F4BD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A44302-559E-7EB0-180F-9E37DB3C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B37CB4-2228-F33B-98E7-93557C3D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4A893-54A4-E994-620B-0E2A608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2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A3F72-129A-9B71-4536-E5CAACB1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746C75-2D79-F2DE-407F-D86456F4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75E07-29B7-D7D0-47CA-C4798F99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789EF-7235-4314-B6E5-EBA4D2F3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60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BD7E58-B589-1D5B-13E0-F13D5408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13AF85-3B88-23A8-2875-8B8E2F19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78908-2051-9F07-10D6-3486920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33A7E-D1F6-6693-95F3-429B2FF4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8F3B3-645B-D011-7030-38A5A9AB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0FD68-0F33-B1F9-76FD-7127C0445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43DD80-619C-47E3-6D7C-68021D7E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6E2BBA-18DD-B277-DFD8-AF44C018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41DD4-AE4F-2DF3-C3F2-B76B08D9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7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FD4C8-D966-6E30-02CC-BB85FF3F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A96DD-5675-14AC-87FC-C15AF785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A3F5E6-3D43-3A1B-E4AF-BE8F9E51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BDB55-9145-D13F-1FB6-E7B0750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25595-9654-EA95-05EE-DF411A5A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FE68E-BC32-3AA6-2899-38509C8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83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8362E-5715-0267-C269-9A92C6CA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DCE1E0-D23D-515E-9B3D-A2191ED2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4C5D-63CF-8FE4-6A77-B2A8E762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B6F6C-3749-0D2D-6FB5-DF4D6D91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4F069F-EA39-C960-1E1A-5C36AD2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93F588-EB27-9C58-3FA6-C81A5EA25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FBC81-C1B2-1B27-861E-A32A1C004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8A182-40B9-8569-F491-5602C73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1EA2C-5A40-A95D-2F23-30FE0A38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52508-105F-0632-9445-C2B33F0B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45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249AA1-5582-6BD2-EF1A-654855D8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57EE5-A3EE-86CB-BB68-C735821BD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E9680-583E-8438-768B-99FB50D15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00FF2-D11E-4552-B7E5-9AF2C6534834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BFDA2-4A40-F78C-8EB8-FBD967AE6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82D46-6B12-525E-5655-135455F7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1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시계열 </a:t>
            </a:r>
            <a:r>
              <a:rPr lang="en-US" altLang="ko-KR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AI </a:t>
            </a: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기반 반도체 식각 공정 </a:t>
            </a:r>
            <a:endParaRPr lang="en-US" altLang="ko-KR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가상 계측</a:t>
            </a:r>
            <a:r>
              <a:rPr lang="en-US" altLang="ko-KR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모델</a:t>
            </a:r>
            <a:endParaRPr lang="en-US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8620-8EB8-31B3-6E3A-85FF90C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1414E6-7E22-65C7-A84A-6061E791464A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B21766E-55F7-2C36-70FD-4C886C8D75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13BBB68-1F1B-44F0-99B6-EA4F39653C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5477D1-F820-6ACC-9B9E-56430084B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0" y="1232605"/>
            <a:ext cx="9182100" cy="51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9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02F53D3-41E7-2410-3F31-A41B6BD63443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1E9A29-332E-5B79-A2CE-1C6EE4F17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246" y="987274"/>
            <a:ext cx="8487508" cy="56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5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C539-3BF9-F6EA-92C5-A35C5FC2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3911EE9-46CE-CE79-9595-2584950EB688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7A7D00C-1599-C99D-37E4-96E1C70F7C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F6799A-9EA9-F412-7F01-ABD4D0C222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883C3AE-9075-65F7-D701-75824F987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354583"/>
              </p:ext>
            </p:extLst>
          </p:nvPr>
        </p:nvGraphicFramePr>
        <p:xfrm>
          <a:off x="821159" y="2657475"/>
          <a:ext cx="10549683" cy="154305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Target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Within-wafer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Between-wafer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Spatial baseline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Si_etch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3.61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(99%)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0.40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(1%)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Oxide_etch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0.064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(68%)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0.044 μ</a:t>
                      </a:r>
                      <a:r>
                        <a:rPr 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(32%)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44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C53A-438F-EE4F-E992-0DF36899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76A1F52-198C-6DEE-DFD8-6FBB2FFBB610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7E16530-3462-410C-C707-FF6F32675A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720949F-D46D-12CE-E670-D558A65555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C5BA140-4362-ED57-DCBA-B66757AC5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099619"/>
              </p:ext>
            </p:extLst>
          </p:nvPr>
        </p:nvGraphicFramePr>
        <p:xfrm>
          <a:off x="821159" y="1885950"/>
          <a:ext cx="10549683" cy="308610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Model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Oxide_etch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Oxide_etch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RMSE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Si_etch</a:t>
                      </a:r>
                      <a:r>
                        <a:rPr lang="en-US" sz="1800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Spatial-mean baseline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—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XGBoost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(5-fold avg)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0.551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0.0514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DL OES-only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0.346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0.0626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DL Proc-only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0.641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0.0464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0.995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DL Multimodal ★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0.734</a:t>
                      </a:r>
                      <a:endParaRPr lang="ko-KR" altLang="en-US" sz="18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0.0399</a:t>
                      </a:r>
                      <a:endParaRPr lang="ko-KR" altLang="en-US" sz="1800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0.996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0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18CC-512F-E02B-FF56-AD5D187E1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01718BB-6E4E-19E8-9DE0-4DFEBE94D4B2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BE39067-C132-C947-870E-90E925EEAB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B6BBDF3-CD8C-3277-9C6D-AAF0FD04FD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D5076D5-8C8F-26AC-5391-CE835B83E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1177239"/>
            <a:ext cx="10236200" cy="48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7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224F-B684-6A54-5BF2-3909B40F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1B623E2-9D3A-BBCC-9E1D-9FE6D3D67C82}"/>
              </a:ext>
            </a:extLst>
          </p:cNvPr>
          <p:cNvSpPr txBox="1"/>
          <p:nvPr/>
        </p:nvSpPr>
        <p:spPr>
          <a:xfrm>
            <a:off x="514350" y="314637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FC1AF6A-BA4E-E2A4-9412-459DF462E9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3A112E4-79BD-8120-03E2-E0B6CAC31C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3A3B61BB-E7B3-CFDB-E5A4-3273A23EB06A}"/>
              </a:ext>
            </a:extLst>
          </p:cNvPr>
          <p:cNvGrpSpPr/>
          <p:nvPr/>
        </p:nvGrpSpPr>
        <p:grpSpPr>
          <a:xfrm>
            <a:off x="3102015" y="650955"/>
            <a:ext cx="8056578" cy="5967396"/>
            <a:chOff x="3102015" y="650955"/>
            <a:chExt cx="8056578" cy="596739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9F32294-9ACC-5088-C9B2-FF1DC0EA8817}"/>
                </a:ext>
              </a:extLst>
            </p:cNvPr>
            <p:cNvGrpSpPr/>
            <p:nvPr/>
          </p:nvGrpSpPr>
          <p:grpSpPr>
            <a:xfrm>
              <a:off x="3102015" y="650955"/>
              <a:ext cx="5150909" cy="5967396"/>
              <a:chOff x="5058273" y="650955"/>
              <a:chExt cx="5150909" cy="596739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8AAD528-4EA8-1D8A-7ABA-55C9E840A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650955"/>
                <a:ext cx="5150909" cy="1951102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4DCAF5C2-B0DE-A80D-6C60-6FCAEEB54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2659103"/>
                <a:ext cx="5150909" cy="1951101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5354EC4-CBA7-8343-84D6-F138881E1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058273" y="4667250"/>
                <a:ext cx="5150909" cy="1951101"/>
              </a:xfrm>
              <a:prstGeom prst="rect">
                <a:avLst/>
              </a:prstGeom>
            </p:spPr>
          </p:pic>
        </p:grpSp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8CBE1108-E49A-E00B-0FB0-01987157B41D}"/>
                </a:ext>
              </a:extLst>
            </p:cNvPr>
            <p:cNvSpPr/>
            <p:nvPr/>
          </p:nvSpPr>
          <p:spPr>
            <a:xfrm>
              <a:off x="8534488" y="1397906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OES_only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1B2884AF-6A5D-583E-8D03-AA628FE7C9BF}"/>
                </a:ext>
              </a:extLst>
            </p:cNvPr>
            <p:cNvSpPr/>
            <p:nvPr/>
          </p:nvSpPr>
          <p:spPr>
            <a:xfrm>
              <a:off x="8534488" y="5414200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OES+process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3EEF854A-75AE-6C96-F62B-D90A1C78F035}"/>
                </a:ext>
              </a:extLst>
            </p:cNvPr>
            <p:cNvSpPr/>
            <p:nvPr/>
          </p:nvSpPr>
          <p:spPr>
            <a:xfrm>
              <a:off x="8534488" y="3406053"/>
              <a:ext cx="262410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2400" dirty="0" err="1">
                  <a:solidFill>
                    <a:srgbClr val="1A2744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process_only</a:t>
              </a:r>
              <a:endPara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57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19A-4252-992B-311C-842A295F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A2D959-AF9F-E14D-F46B-656A417EDD37}"/>
              </a:ext>
            </a:extLst>
          </p:cNvPr>
          <p:cNvSpPr txBox="1"/>
          <p:nvPr/>
        </p:nvSpPr>
        <p:spPr>
          <a:xfrm>
            <a:off x="514350" y="314637"/>
            <a:ext cx="34353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Further Study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5E637D4E-F401-7400-5E72-73A1AFFB88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386D4B4-3E23-0BE5-6DBF-5BF0C39A32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2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1000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5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1915-B615-22FE-2F5A-4E1C2A26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CD4E7BE9-7134-AC58-91F5-C53DC4AD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1184E29-6F37-AE44-9F88-EB58D11C08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22FFEF-AD30-69AB-F063-5FA7DE8C3468}"/>
              </a:ext>
            </a:extLst>
          </p:cNvPr>
          <p:cNvGrpSpPr/>
          <p:nvPr/>
        </p:nvGrpSpPr>
        <p:grpSpPr>
          <a:xfrm>
            <a:off x="521110" y="1188093"/>
            <a:ext cx="11149781" cy="5401256"/>
            <a:chOff x="658761" y="1188093"/>
            <a:chExt cx="11149781" cy="540125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BCF773-A988-AD12-E920-3DCBC05B3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761" y="1188093"/>
              <a:ext cx="4119716" cy="540125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8D8FB8-6DBB-F4E7-7194-CF46FC12EE56}"/>
                </a:ext>
              </a:extLst>
            </p:cNvPr>
            <p:cNvSpPr txBox="1"/>
            <p:nvPr/>
          </p:nvSpPr>
          <p:spPr>
            <a:xfrm>
              <a:off x="4873728" y="1330008"/>
              <a:ext cx="6934814" cy="3783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(Deep Reactive Ion Etching, DRIE):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SF6(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식각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C4F8(</a:t>
              </a:r>
              <a:r>
                <a:rPr lang="ko-KR" altLang="en-US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패시베이션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가스를 교대로 사용하는 사이클릭 공정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데이터셋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초의 점화 단계 후 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회의 사이클**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(SF6 4.5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C4F8 1.5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 구성되며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각 웨이퍼에 대해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OES(Optical Emission Spectroscopy)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3,648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 파장 채널에서 연속 기록됨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VM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연구에서는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통계적 요약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평균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분산 등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으로 축소하여 사용 → </a:t>
              </a:r>
              <a:r>
                <a:rPr lang="ko-KR" altLang="en-US" b="1" u="sng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사이클 간 시간적 변화 패턴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이라는 핵심 정보 손실</a:t>
              </a: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130D8BFA-32D3-B344-8672-57DAAFBC1E0D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64564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B2CA-B423-9F11-E184-E40CF0E3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836D02F6-99BC-CAE8-46FF-A6FB63E7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2B4A886-03C2-1A4A-798C-4433E2CEA9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E0A156-352E-C27A-13DD-281B8FE9BFFC}"/>
              </a:ext>
            </a:extLst>
          </p:cNvPr>
          <p:cNvSpPr txBox="1"/>
          <p:nvPr/>
        </p:nvSpPr>
        <p:spPr>
          <a:xfrm>
            <a:off x="884903" y="1517525"/>
            <a:ext cx="10422195" cy="266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접근법의 한계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통계 요약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전통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ML: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사이클 간 시간적 변화 정보 손실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 입력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차원이 너무 높아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(14,744 × 3,648)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 불가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일반적 시계열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DL: BOSCH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사이클 구조를 반영하지 못함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BOSCH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물리적 사이클 구조를 반영한 딥러닝 기반 표현 학습 방법 필요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4182A52-E6A9-5667-9B8E-AED875CFDAA6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527746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4200-1213-674A-240B-92267184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729180-39D1-BCB1-8419-21DE2F7F2254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1DA838BF-450B-E027-CE80-E39504BB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6F8D9AA-B744-E161-53C9-92884C70A4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2C8097-280E-506C-FB90-37705E206D8B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1BEF95C-A628-D908-628F-20B1BFCFD71D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C1FC46-1F2E-7AF1-61F6-9E1CF88BA3E6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E941A855-46CD-92CC-9B56-45C52796763E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0E797F39-F21E-C00D-EE48-870A140B433F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764E4AA-656C-80D9-6AC1-82ACDF3053D9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8AAD7B60-A9F7-7CA5-46D1-9119AE146183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BDABCAB3-180C-B3C8-931A-529ECEE630D6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0D163435-18C0-60AF-53AD-C631A7FCF952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57D3CE0-2B76-6087-5F29-BA9B80EBF0A5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D0C08D06-D7C4-864D-CE7C-617493509A66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1349BBE9-473B-C052-DC55-F620DF43693B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52FF06A8-E5B6-CF8E-218F-236243B41FA6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D08E975-F09F-8D32-913A-1FF6C160E867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CFDD2194-C231-3909-FEDB-D9FB7347118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65E3C821-A017-E6F7-CA26-DEF2901AE444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D1936756-08B4-1132-AECF-38970A388C9E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37BF3E72-10F1-52D3-575F-1B3E380A0939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5C5E5F83-CC98-9D8F-4B52-1E63463C8E4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9C1534E9-8309-EEE2-81B6-5DB34F7DA198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4E43B2D-FC58-E5CD-C24B-E4A937F86F67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F93B92DE-9CE5-5C55-0E00-B0567468B1A4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26D88EE4-047F-E80F-E246-A564E345C4B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C72A56BB-A6EE-9B1D-5A15-A5C03C877C13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DFC3C4A4-6A05-12CB-76E2-043AC5D185C6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7DFC0076-BEFB-F6C3-F951-69F081F59BA5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7F28A1A9-2DE4-4478-8FBB-C2D81C0591D6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9/89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FC71E5D2-DC46-8786-2F6E-DB4E3D1DE24A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6869D74-527B-EC64-19DC-54102A174189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873F5134-2193-0C6F-B08D-D0D9EA0AAFDC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E8808E3B-37F1-C87C-05D1-A63C057B6D81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159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D290-2FB5-9956-3765-45A20FCF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FE9FA752-34BE-49F7-298A-9D5C598F90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A7B2AA4-25AC-2FE6-E75F-E3B3F28063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18" name="TextBox 2">
            <a:extLst>
              <a:ext uri="{FF2B5EF4-FFF2-40B4-BE49-F238E27FC236}">
                <a16:creationId xmlns:a16="http://schemas.microsoft.com/office/drawing/2014/main" id="{7DAE976A-A970-B428-EF78-CFEF8078B514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119" name="Text 0">
            <a:extLst>
              <a:ext uri="{FF2B5EF4-FFF2-40B4-BE49-F238E27FC236}">
                <a16:creationId xmlns:a16="http://schemas.microsoft.com/office/drawing/2014/main" id="{0CCABD9F-A6C3-25A8-1542-24A3F1542506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파라미터 31개 — 장비 구조와 매핑</a:t>
            </a:r>
            <a:endParaRPr 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0" name="Text 1">
            <a:extLst>
              <a:ext uri="{FF2B5EF4-FFF2-40B4-BE49-F238E27FC236}">
                <a16:creationId xmlns:a16="http://schemas.microsoft.com/office/drawing/2014/main" id="{03684288-5B39-8658-0462-84E81EAE2B23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센서가 ICP-RIE 장비의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어느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부분을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모니터링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하는지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1" name="그림 160">
            <a:extLst>
              <a:ext uri="{FF2B5EF4-FFF2-40B4-BE49-F238E27FC236}">
                <a16:creationId xmlns:a16="http://schemas.microsoft.com/office/drawing/2014/main" id="{E298A38D-8158-D7EA-01E5-352652195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057" y="2077145"/>
            <a:ext cx="10057887" cy="37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8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C42-1A12-C903-5581-6BD58BC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23AD093C-1908-2048-CF62-1C2D579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778C96C-7DCB-1C32-D440-3C0A96E7B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65AE0E54-91AE-893D-0489-C5809F6BEB82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45602636-7D7A-CB53-E760-0E8E09DE401B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타겟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변수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(Y) 및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CFDA115-F354-C074-FE9F-2C97A671B006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예측하고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들어가는가</a:t>
            </a:r>
            <a:endParaRPr lang="en-US" alt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F6A7FAF9-2122-3731-6D8C-EDE45E2F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2249510"/>
            <a:ext cx="9245600" cy="38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F787AD634E8974FAABB582240919361" ma:contentTypeVersion="5" ma:contentTypeDescription="새 문서를 만듭니다." ma:contentTypeScope="" ma:versionID="1fa8b2931dd5ad3d6ba865f7069cfefe">
  <xsd:schema xmlns:xsd="http://www.w3.org/2001/XMLSchema" xmlns:xs="http://www.w3.org/2001/XMLSchema" xmlns:p="http://schemas.microsoft.com/office/2006/metadata/properties" xmlns:ns3="c3eb8d4a-7777-481c-ac78-29a95a185d1c" targetNamespace="http://schemas.microsoft.com/office/2006/metadata/properties" ma:root="true" ma:fieldsID="f44929429e3522498aed53a9090a96ba" ns3:_="">
    <xsd:import namespace="c3eb8d4a-7777-481c-ac78-29a95a185d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eb8d4a-7777-481c-ac78-29a95a185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787CD8-1CA6-4A7E-9E33-CF87F87B4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eb8d4a-7777-481c-ac78-29a95a185d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8D86DD-8A5A-42B5-B777-EE1A170D4A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B072FC-6A9A-4992-90A1-A618702A7127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c3eb8d4a-7777-481c-ac78-29a95a185d1c"/>
    <ds:schemaRef ds:uri="http://www.w3.org/XML/1998/namespace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2487</TotalTime>
  <Words>2133</Words>
  <Application>Microsoft Office PowerPoint</Application>
  <PresentationFormat>와이드스크린</PresentationFormat>
  <Paragraphs>166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Pretendard SemiBold</vt:lpstr>
      <vt:lpstr>Noto Sans KR ExtraBold</vt:lpstr>
      <vt:lpstr>Pretendard Light</vt:lpstr>
      <vt:lpstr>맑은 고딕</vt:lpstr>
      <vt:lpstr>Pretendard Black</vt:lpstr>
      <vt:lpstr>Arial</vt:lpstr>
      <vt:lpstr>Pretendard Medium</vt:lpstr>
      <vt:lpstr>Pretendard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박성하</dc:creator>
  <cp:lastModifiedBy>이준서</cp:lastModifiedBy>
  <cp:revision>10</cp:revision>
  <dcterms:created xsi:type="dcterms:W3CDTF">2026-04-14T07:50:13Z</dcterms:created>
  <dcterms:modified xsi:type="dcterms:W3CDTF">2026-05-05T10:35:46Z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0x010100CF787AD634E8974FAABB582240919361</vt:lpwstr>
  </property>
</Properties>
</file>