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37"/>
  </p:notesMasterIdLst>
  <p:sldIdLst>
    <p:sldId id="257" r:id="rId5"/>
    <p:sldId id="295" r:id="rId6"/>
    <p:sldId id="288" r:id="rId7"/>
    <p:sldId id="294" r:id="rId8"/>
    <p:sldId id="293" r:id="rId9"/>
    <p:sldId id="338" r:id="rId10"/>
    <p:sldId id="291" r:id="rId11"/>
    <p:sldId id="292" r:id="rId12"/>
    <p:sldId id="290" r:id="rId13"/>
    <p:sldId id="296" r:id="rId14"/>
    <p:sldId id="337" r:id="rId15"/>
    <p:sldId id="336" r:id="rId16"/>
    <p:sldId id="278" r:id="rId17"/>
    <p:sldId id="297" r:id="rId18"/>
    <p:sldId id="282" r:id="rId19"/>
    <p:sldId id="284" r:id="rId20"/>
    <p:sldId id="283" r:id="rId21"/>
    <p:sldId id="279" r:id="rId22"/>
    <p:sldId id="285" r:id="rId23"/>
    <p:sldId id="287" r:id="rId24"/>
    <p:sldId id="303" r:id="rId25"/>
    <p:sldId id="314" r:id="rId26"/>
    <p:sldId id="315" r:id="rId27"/>
    <p:sldId id="316" r:id="rId28"/>
    <p:sldId id="317" r:id="rId29"/>
    <p:sldId id="318" r:id="rId30"/>
    <p:sldId id="319" r:id="rId31"/>
    <p:sldId id="323" r:id="rId32"/>
    <p:sldId id="327" r:id="rId33"/>
    <p:sldId id="331" r:id="rId34"/>
    <p:sldId id="281" r:id="rId35"/>
    <p:sldId id="332" r:id="rId36"/>
  </p:sldIdLst>
  <p:sldSz cx="12192000" cy="6858000"/>
  <p:notesSz cx="6858000" cy="9144000"/>
  <p:embeddedFontLst>
    <p:embeddedFont>
      <p:font typeface="Pretendard Black" panose="020B0600000101010101" charset="-127"/>
      <p:bold r:id="rId38"/>
    </p:embeddedFont>
    <p:embeddedFont>
      <p:font typeface="Pretendard ExtraBold" panose="020B0600000101010101" charset="-127"/>
      <p:bold r:id="rId39"/>
    </p:embeddedFont>
    <p:embeddedFont>
      <p:font typeface="Pretendard Light" panose="020B0600000101010101" charset="-127"/>
      <p:regular r:id="rId40"/>
    </p:embeddedFont>
    <p:embeddedFont>
      <p:font typeface="Pretendard Medium" panose="020B0600000101010101" charset="-127"/>
      <p:regular r:id="rId41"/>
    </p:embeddedFont>
    <p:embeddedFont>
      <p:font typeface="Pretendard SemiBold" panose="020B0600000101010101" charset="-127"/>
      <p:bold r:id="rId42"/>
    </p:embeddedFont>
    <p:embeddedFont>
      <p:font typeface="Noto Sans KR ExtraBold" panose="020B0200000000000000"/>
      <p:bold r:id="rId43"/>
    </p:embeddedFont>
    <p:embeddedFont>
      <p:font typeface="맑은 고딕" panose="020B0503020000020004" pitchFamily="50" charset="-127"/>
      <p:regular r:id="rId44"/>
      <p:bold r:id="rId4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4" autoAdjust="0"/>
    <p:restoredTop sz="81496" autoAdjust="0"/>
  </p:normalViewPr>
  <p:slideViewPr>
    <p:cSldViewPr snapToGrid="0">
      <p:cViewPr varScale="1">
        <p:scale>
          <a:sx n="86" d="100"/>
          <a:sy n="86" d="100"/>
        </p:scale>
        <p:origin x="799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2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5.fntdata"/><Relationship Id="rId47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6.fntdata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1.fntdata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6CC1D9-B018-4416-BCEE-002319674774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A1ADF3-D9EB-4753-914D-CCE533B33C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3482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D0DEE-1E2D-974C-F341-70E78AD8D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2E63DE-800B-5B04-AA9F-2C9129BB38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B4DC46-37D6-3A3F-3AF5-A584E7C9F6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번째로 소개할 파이프라인은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Baseline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아키텍처입니다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저희가 사용하는 입력 데이터는 크게 세 가지입니다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OES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시계열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약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14,744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타임스텝에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3,648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파장 채널로 구성됩니다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둘째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공정 파라미터 시계열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약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3,245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타임스텝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44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센서 채널입니다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셋째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웨이퍼 내 측정 위치 좌표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89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포인트의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XY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좌표입니다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원시 데이터를 그대로 쓰기엔 차원이 너무 높기 때문에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피처 엔지니어링 단계에서 사이클 단위로 요약합니다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OES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× 10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파장 밴드별로 평균을 내고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공정 파라미터도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× 44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채널 평균을 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사이클 시퀀스에 평균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표준편차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최솟값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최댓값 등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 통계를 적용하면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최종적으로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 80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공정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352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XY 2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총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434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피처가 만들어집니다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피처 벡터를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Regressor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입력해서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si_etch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oxide_etch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동시에 예측합니다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트리 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max_depth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6,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learning_rate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0.09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설정했습니다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모델이 딥러닝 모델과 비교할 성능 기준선 역할을 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A803C6-A892-A0FA-FADF-65BEF41189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0829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02557-5536-FCAB-BE6A-3DB071B2D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EE68BC-54BC-02DB-AB90-2EE62EC083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60EB22-B5EE-6426-48AA-6A82D1769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 파이프라인은 저희가 핵심 기여로 제안하는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Cycle-Aware DL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아키텍처입니다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2D-CNN, Bidirectional LSTM,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</a:t>
            </a:r>
            <a:r>
              <a:rPr lang="en-US" altLang="ko-KR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FiLM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모듈을 결합한 구조입니다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가장 큰 차이점은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내부의 시간 파형을 그대로 학습에 활용한다는 점입니다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입력은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× 128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타임스텝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× 3,648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파장으로 구성되고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2D-CNN OES Encoder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통과시켜 사이클당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128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차원 </a:t>
            </a:r>
            <a:r>
              <a:rPr lang="ko-KR" altLang="en-US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임베딩을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얻습니다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공정 파라미터도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× 30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스텝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× 31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채널을 동일한 구조의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2D-CNN Process Encoder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처리해 사이클당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64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차원 </a:t>
            </a:r>
            <a:r>
              <a:rPr lang="ko-KR" altLang="en-US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임베딩을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만듭니다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 핵심은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CNN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가중치를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사이클이 공유한다는 점입니다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사이클을 독립적으로 동일한 인코더로 처리하는 구조입니다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</a:t>
            </a:r>
            <a:r>
              <a:rPr lang="ko-KR" altLang="en-US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임베딩을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이어 붙인 뒤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FC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LayerNorm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거쳐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 × 128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시퀀스를 만들고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Bidirectional LSTM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입력합니다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LSTM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사이클 간 시간적 변화를 학습하는 부분입니다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LSTM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출력을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 Pooling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하나의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256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차원 벡터로 압축하고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FiLM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모듈로 </a:t>
            </a:r>
            <a:r>
              <a:rPr lang="ko-KR" altLang="en-US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컨디셔닝합니다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FiLM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γ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β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스케일링 파라미터를 통해 웨이퍼 전체의 공정 상태를 표현하는 역할을 합니다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마지막으로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측정 위치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XY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좌표를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Fourier Encoder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인코딩해서 공간 정보를 결합하고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최종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Regression Head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89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측정 포인트 각각에 대해 </a:t>
            </a:r>
            <a:r>
              <a:rPr lang="en-US" altLang="ko-KR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si_etch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oxide_etch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예측합니다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en-US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EB4BAB-9120-1C08-6AC9-A45A3296D4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794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F7ABA-CDC8-0D3E-F6EB-DA3972CF2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207103-834A-DDB9-CE88-788FB8B5C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2A289F-5C82-159B-1CA1-7709B971A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결과로 넘어오겠습니다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모델 성능을 해석하기에 앞서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타겟의 학습 난이도를 이해할 필요가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표는 각 타겟의 분산이 웨이퍼 내부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공간적 위치 차이에서 오는 비율과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웨이퍼 간 즉 공정 배치 변동에서 오는 비율을 분해한 것입니다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si_etch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경우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웨이퍼 내 표준편차가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3.61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μm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전체 분산의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99%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차지합니다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si_etch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변동 대부분은 측정 위치에 따른 공간 패턴에서 비롯되며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Spatial-mean baseline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만으로도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R²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0.985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달합니다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때문에 거의 모든 모델이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si_etch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에서는 높은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R²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보이는 건 자연스러운 결과입니다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반면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oxide_etch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웨이퍼 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std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0.064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μm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(68%),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웨이퍼 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std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0.044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μm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(32%)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공정 변동이 상당 부분을 차지합니다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Spatial-mean baseline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R²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0.156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밖에 안 된다는 것이 이를 잘 보여줍니다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공정 센서와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로부터 배치 간 변화를 실제로 학습해야만 높은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R²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달성할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이것이 저희 연구에서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oxide_etch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핵심 평가 타겟으로 보는 이유입니다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E5BF82-53B2-F98B-FE91-160D7599E2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89613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9CC0D-BA9C-7ECE-981A-97CC60EAE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0ECD1D-1CE1-53D5-FEDD-0F26EEF72B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FA566C-587B-F371-061D-2B6DD52A4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표는 모든 모델의 성능을 정리한 것입니다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si_etch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R²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앞서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설명드린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것처럼 모든 모델이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0.99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수준으로 높아 변별력이 낮습니다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 핵심 지표는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oxide_etch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R²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RMSE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Spatial-mean baseline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oxide_etch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R²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0.156.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0.551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크게 뛰어오르고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DL OES-only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0.346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오히려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보다 낮습니다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OES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만으로는 부족하다는 뜻입니다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DL Process-only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0.641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넘어서고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저희가 최종 제안 모델인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DL Multimodal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공정 파라미터를 함께 사용해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R² 0.734, RMSE 0.0399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달성했습니다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모달리티를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추가할수록 성능이 향상되며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OES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공정 파라미터가 서로 다른 정보를 담고 있음을 확인했습니다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특히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DL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보다 높은 성능을 보이는 것은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내 파형 패턴이라는 시간 정보가 추가적인 예측 신호를 제공하기 때문으로 해석됩니다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F2522A-D3D5-8694-4C28-11A22ACA64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7017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1ADF3-D9EB-4753-914D-CCE533B33CF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985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FE6EF-C164-055F-5C9F-D99F32874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1D27BB-FEEF-9240-87C4-748EFBE7BC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3DE0CB-3035-4007-C9A7-E35AC43F4B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슬라이드는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모델에 대한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SHAP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피처 중요도 분석 결과입니다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왼쪽 그래프는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oxide_etch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예측에 중요한 상위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피처를 보여줍니다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proc_Heater2Temp_late,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공정 후반부 히터 온도 피처가 가장 높은 중요도를 가지고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뒤로 공정 파라미터와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피처가 혼합됩니다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오른쪽 그래프는 피처를 그룹 단위로 묶어 기여도를 비교한 것입니다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 Static(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분산 등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0.012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 Temporal(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기울기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후기 값 등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0.009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 Static: 0.025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 Temporal: 0.038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가장 높습니다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XY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좌표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0.037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번째로 높습니다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결과에서 두 가지 사실을 알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oxide_etch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예측에서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XY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위치 정보가 매우 중요하다는 점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공간 패턴이 생각보다 훨씬 중요한 신호입니다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둘째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공정 파라미터 중에서도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Temporal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피처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사이클 초기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후기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기울기 같은 시간적 변화량이 정적 통계보다 더 중요하다는 점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이는 저희가 시계열 구조를 학습에 반영한 것이 의미 있음을 간접적으로 지지합니다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06F034-0437-472C-1799-8313A3DB0F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8646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AFC36-B098-CC56-5BEE-1D13CDFFD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C68872-7E8C-4D9D-48FE-117206548F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BE7225-D760-45BD-0763-8AD0CA8F1F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DL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모델의 사이클 단위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Gradient Attribution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분석입니다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그래프는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oxide_etch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예측 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DL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사이클 중 어느 사이클에 얼마나 집중했는지를 보여줍니다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색상은 사이클 번호를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막대 높이는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gradient norm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파란 음영은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wafer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간 표준편차를 나타냅니다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가지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모달리티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조합을 비교해보면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OES-only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모델은 사이클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Attribution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비교적 균등하게 분포되어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사이클에 집중하지 않고 전 구간에서 고르게 정보를 추출합니다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OES+process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(Multimodal)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모델은 초기 사이클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(1~20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Attribution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급격히 높고 이후 급감하는 패턴을 보입니다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공정 초기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챔버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컨디셔닝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상태나 점화 직후 플라즈마가 안정되는 순간의 정보가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oxide_etch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예측에 특히 중요함을 시사합니다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Process-only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모델은 후반 사이클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(80~100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Attribution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집중되는 경향이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식각이 쌓이면서 공정 후반 센서 변화가 최종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산화막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상태를 더 잘 반영하는 것으로 해석할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이러한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모달리티별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Attribution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패턴 차이는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공정 파라미터가 서로 다른 공정 시간대의 정보를 제공하며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이것이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멀티모달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결합의 성능 향상으로 이어진다는 것을 보여줍니다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39DE45-92FB-24FF-CA04-96B7789E1D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73453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86441-7B19-2C69-5BB4-885E8A2DA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91E7A8-0C4A-53F4-01D1-756885968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7917BC-0ED2-16FC-4D87-C64918A75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현재 모델은 </a:t>
            </a:r>
            <a:r>
              <a:rPr lang="en-US" altLang="ko-KR" dirty="0"/>
              <a:t>DL Multimodal </a:t>
            </a:r>
            <a:r>
              <a:rPr lang="ko-KR" altLang="en-US" dirty="0"/>
              <a:t>구조에서 </a:t>
            </a:r>
            <a:r>
              <a:rPr lang="en-US" altLang="ko-KR" dirty="0" err="1"/>
              <a:t>oxide_etch</a:t>
            </a:r>
            <a:r>
              <a:rPr lang="en-US" altLang="ko-KR" dirty="0"/>
              <a:t> </a:t>
            </a:r>
            <a:r>
              <a:rPr lang="ko-KR" altLang="en-US" dirty="0"/>
              <a:t>기준 </a:t>
            </a:r>
            <a:r>
              <a:rPr lang="en-US" altLang="ko-KR" dirty="0"/>
              <a:t>R² 0.734</a:t>
            </a:r>
            <a:r>
              <a:rPr lang="ko-KR" altLang="en-US" dirty="0"/>
              <a:t>로 가장 좋은 성능을 보였습니다</a:t>
            </a:r>
            <a:r>
              <a:rPr lang="en-US" altLang="ko-KR" dirty="0"/>
              <a:t>. </a:t>
            </a:r>
            <a:r>
              <a:rPr lang="ko-KR" altLang="en-US" dirty="0"/>
              <a:t>하지만 이 결과만으로 모델이 공정 시계열 정보를 충분히 학습했다고 보기는 어렵습니다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먼저</a:t>
            </a:r>
            <a:r>
              <a:rPr lang="en-US" altLang="ko-KR" dirty="0"/>
              <a:t>, </a:t>
            </a:r>
            <a:r>
              <a:rPr lang="en-US" altLang="ko-KR" dirty="0" err="1"/>
              <a:t>si_etch</a:t>
            </a:r>
            <a:r>
              <a:rPr lang="ko-KR" altLang="en-US" dirty="0"/>
              <a:t>의 경우 </a:t>
            </a:r>
            <a:r>
              <a:rPr lang="en-US" altLang="ko-KR" dirty="0"/>
              <a:t>DL </a:t>
            </a:r>
            <a:r>
              <a:rPr lang="ko-KR" altLang="en-US" dirty="0"/>
              <a:t>모델이 </a:t>
            </a:r>
            <a:r>
              <a:rPr lang="en-US" altLang="ko-KR" dirty="0"/>
              <a:t>R² 0.996</a:t>
            </a:r>
            <a:r>
              <a:rPr lang="ko-KR" altLang="en-US" dirty="0"/>
              <a:t>으로 매우 높게 나왔지만</a:t>
            </a:r>
            <a:r>
              <a:rPr lang="en-US" altLang="ko-KR" dirty="0"/>
              <a:t>, spatial baseline</a:t>
            </a:r>
            <a:r>
              <a:rPr lang="ko-KR" altLang="en-US" dirty="0"/>
              <a:t>만으로도 </a:t>
            </a:r>
            <a:r>
              <a:rPr lang="en-US" altLang="ko-KR" dirty="0"/>
              <a:t>R² 0.985</a:t>
            </a:r>
            <a:r>
              <a:rPr lang="ko-KR" altLang="en-US" dirty="0"/>
              <a:t>에 도달했습니다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en-US" altLang="ko-KR" dirty="0" err="1"/>
              <a:t>si_etch</a:t>
            </a:r>
            <a:r>
              <a:rPr lang="ko-KR" altLang="en-US" dirty="0"/>
              <a:t>는 대부분 </a:t>
            </a:r>
            <a:r>
              <a:rPr lang="en-US" altLang="ko-KR" dirty="0"/>
              <a:t>XY </a:t>
            </a:r>
            <a:r>
              <a:rPr lang="ko-KR" altLang="en-US" dirty="0"/>
              <a:t>위치 정보만으로도 설명될 수 있기 때문에</a:t>
            </a:r>
            <a:r>
              <a:rPr lang="en-US" altLang="ko-KR" dirty="0"/>
              <a:t>, </a:t>
            </a:r>
            <a:r>
              <a:rPr lang="ko-KR" altLang="en-US" dirty="0"/>
              <a:t>높은 </a:t>
            </a:r>
            <a:r>
              <a:rPr lang="en-US" altLang="ko-KR" dirty="0"/>
              <a:t>R²</a:t>
            </a:r>
            <a:r>
              <a:rPr lang="ko-KR" altLang="en-US" dirty="0"/>
              <a:t>가 모델 구조의 효과를 직접적으로 보여주는 지표는 아니라고 판단했습니다</a:t>
            </a:r>
            <a:r>
              <a:rPr lang="en-US" altLang="ko-KR" dirty="0"/>
              <a:t>. </a:t>
            </a:r>
            <a:r>
              <a:rPr lang="ko-KR" altLang="en-US" dirty="0"/>
              <a:t>그래서 향후에는 </a:t>
            </a:r>
            <a:r>
              <a:rPr lang="en-US" altLang="ko-KR" dirty="0" err="1"/>
              <a:t>oxide_etch</a:t>
            </a:r>
            <a:r>
              <a:rPr lang="en-US" altLang="ko-KR" dirty="0"/>
              <a:t> </a:t>
            </a:r>
            <a:r>
              <a:rPr lang="ko-KR" altLang="en-US" dirty="0"/>
              <a:t>성능 개선에 더 집중할 계획입니다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두 번째로</a:t>
            </a:r>
            <a:r>
              <a:rPr lang="en-US" altLang="ko-KR" dirty="0"/>
              <a:t>, OES </a:t>
            </a:r>
            <a:r>
              <a:rPr lang="ko-KR" altLang="en-US" dirty="0"/>
              <a:t>정보 활용도가 아직 낮습니다</a:t>
            </a:r>
            <a:r>
              <a:rPr lang="en-US" altLang="ko-KR" dirty="0"/>
              <a:t>. DL OES-only </a:t>
            </a:r>
            <a:r>
              <a:rPr lang="ko-KR" altLang="en-US" dirty="0"/>
              <a:t>모델의 </a:t>
            </a:r>
            <a:r>
              <a:rPr lang="en-US" altLang="ko-KR" dirty="0"/>
              <a:t>R²</a:t>
            </a:r>
            <a:r>
              <a:rPr lang="ko-KR" altLang="en-US" dirty="0"/>
              <a:t>는 </a:t>
            </a:r>
            <a:r>
              <a:rPr lang="en-US" altLang="ko-KR" dirty="0"/>
              <a:t>0.346</a:t>
            </a:r>
            <a:r>
              <a:rPr lang="ko-KR" altLang="en-US" dirty="0"/>
              <a:t>으로 </a:t>
            </a:r>
            <a:r>
              <a:rPr lang="en-US" altLang="ko-KR" dirty="0" err="1"/>
              <a:t>XGBoost</a:t>
            </a:r>
            <a:r>
              <a:rPr lang="ko-KR" altLang="en-US" dirty="0"/>
              <a:t>보다 낮았고</a:t>
            </a:r>
            <a:r>
              <a:rPr lang="en-US" altLang="ko-KR" dirty="0"/>
              <a:t>, SHAP </a:t>
            </a:r>
            <a:r>
              <a:rPr lang="ko-KR" altLang="en-US" dirty="0"/>
              <a:t>분석에서도 </a:t>
            </a:r>
            <a:r>
              <a:rPr lang="en-US" altLang="ko-KR" dirty="0"/>
              <a:t>OES feature</a:t>
            </a:r>
            <a:r>
              <a:rPr lang="ko-KR" altLang="en-US" dirty="0"/>
              <a:t>의 중요도가 </a:t>
            </a:r>
            <a:r>
              <a:rPr lang="en-US" altLang="ko-KR" dirty="0"/>
              <a:t>process feature</a:t>
            </a:r>
            <a:r>
              <a:rPr lang="ko-KR" altLang="en-US" dirty="0"/>
              <a:t>보다 낮게 나타났습니다</a:t>
            </a:r>
            <a:r>
              <a:rPr lang="en-US" altLang="ko-KR" dirty="0"/>
              <a:t>. </a:t>
            </a:r>
            <a:r>
              <a:rPr lang="ko-KR" altLang="en-US" dirty="0"/>
              <a:t>따라서 주요 파장대와 </a:t>
            </a:r>
            <a:r>
              <a:rPr lang="en-US" altLang="ko-KR" dirty="0"/>
              <a:t>cycle</a:t>
            </a:r>
            <a:r>
              <a:rPr lang="ko-KR" altLang="en-US" dirty="0"/>
              <a:t>별 정보를 더 잘 반영할 수 있도록 중요도 분석 기반 </a:t>
            </a:r>
            <a:r>
              <a:rPr lang="en-US" altLang="ko-KR" dirty="0"/>
              <a:t>feature engineering</a:t>
            </a:r>
            <a:r>
              <a:rPr lang="ko-KR" altLang="en-US" dirty="0"/>
              <a:t>을 진행할 예정입니다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세 번째로</a:t>
            </a:r>
            <a:r>
              <a:rPr lang="en-US" altLang="ko-KR" dirty="0"/>
              <a:t>, </a:t>
            </a:r>
            <a:r>
              <a:rPr lang="ko-KR" altLang="en-US" dirty="0"/>
              <a:t>데이터 규모에 비해 모델이 복잡할 가능성이 있습니다</a:t>
            </a:r>
            <a:r>
              <a:rPr lang="en-US" altLang="ko-KR" dirty="0"/>
              <a:t>. </a:t>
            </a:r>
            <a:r>
              <a:rPr lang="ko-KR" altLang="en-US" dirty="0"/>
              <a:t>현재 데이터는 약 </a:t>
            </a:r>
            <a:r>
              <a:rPr lang="en-US" altLang="ko-KR" dirty="0"/>
              <a:t>7,800</a:t>
            </a:r>
            <a:r>
              <a:rPr lang="ko-KR" altLang="en-US" dirty="0"/>
              <a:t>개 </a:t>
            </a:r>
            <a:r>
              <a:rPr lang="en-US" altLang="ko-KR" dirty="0"/>
              <a:t>sample</a:t>
            </a:r>
            <a:r>
              <a:rPr lang="ko-KR" altLang="en-US" dirty="0"/>
              <a:t>이고</a:t>
            </a:r>
            <a:r>
              <a:rPr lang="en-US" altLang="ko-KR" dirty="0"/>
              <a:t>, fold</a:t>
            </a:r>
            <a:r>
              <a:rPr lang="ko-KR" altLang="en-US" dirty="0"/>
              <a:t>별 학습 데이터는 약 </a:t>
            </a:r>
            <a:r>
              <a:rPr lang="en-US" altLang="ko-KR" dirty="0"/>
              <a:t>6,200</a:t>
            </a:r>
            <a:r>
              <a:rPr lang="ko-KR" altLang="en-US" dirty="0"/>
              <a:t>개 수준입니다</a:t>
            </a:r>
            <a:r>
              <a:rPr lang="en-US" altLang="ko-KR" dirty="0"/>
              <a:t>. </a:t>
            </a:r>
            <a:r>
              <a:rPr lang="ko-KR" altLang="en-US" dirty="0"/>
              <a:t>이에 비해 </a:t>
            </a:r>
            <a:r>
              <a:rPr lang="en-US" altLang="ko-KR" dirty="0"/>
              <a:t>CNN, LSTM, </a:t>
            </a:r>
            <a:r>
              <a:rPr lang="en-US" altLang="ko-KR" dirty="0" err="1"/>
              <a:t>FiLM</a:t>
            </a:r>
            <a:r>
              <a:rPr lang="en-US" altLang="ko-KR" dirty="0"/>
              <a:t> </a:t>
            </a:r>
            <a:r>
              <a:rPr lang="ko-KR" altLang="en-US" dirty="0"/>
              <a:t>구조가 모두 포함되어 있어 </a:t>
            </a:r>
            <a:r>
              <a:rPr lang="ko-KR" altLang="en-US" dirty="0" err="1"/>
              <a:t>과적합</a:t>
            </a:r>
            <a:r>
              <a:rPr lang="ko-KR" altLang="en-US" dirty="0"/>
              <a:t> 가능성이 있습니다</a:t>
            </a:r>
            <a:r>
              <a:rPr lang="en-US" altLang="ko-KR" dirty="0"/>
              <a:t>. </a:t>
            </a:r>
            <a:r>
              <a:rPr lang="ko-KR" altLang="en-US" dirty="0"/>
              <a:t>따라서 </a:t>
            </a:r>
            <a:r>
              <a:rPr lang="en-US" altLang="ko-KR" dirty="0"/>
              <a:t>train-validation loss</a:t>
            </a:r>
            <a:r>
              <a:rPr lang="ko-KR" altLang="en-US" dirty="0"/>
              <a:t>를 확인하고</a:t>
            </a:r>
            <a:r>
              <a:rPr lang="en-US" altLang="ko-KR" dirty="0"/>
              <a:t>, hyperparameter tuning</a:t>
            </a:r>
            <a:r>
              <a:rPr lang="ko-KR" altLang="en-US" dirty="0"/>
              <a:t>과 </a:t>
            </a:r>
            <a:r>
              <a:rPr lang="en-US" altLang="ko-KR" dirty="0"/>
              <a:t>regularization</a:t>
            </a:r>
            <a:r>
              <a:rPr lang="ko-KR" altLang="en-US" dirty="0"/>
              <a:t>을 적용할 계획입니다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마지막으로</a:t>
            </a:r>
            <a:r>
              <a:rPr lang="en-US" altLang="ko-KR" dirty="0"/>
              <a:t>, </a:t>
            </a:r>
            <a:r>
              <a:rPr lang="ko-KR" altLang="en-US" dirty="0"/>
              <a:t>현재 검증은 </a:t>
            </a:r>
            <a:r>
              <a:rPr lang="en-US" altLang="ko-KR" dirty="0"/>
              <a:t>wafer </a:t>
            </a:r>
            <a:r>
              <a:rPr lang="ko-KR" altLang="en-US" dirty="0"/>
              <a:t>단위 중심이기 때문에 실제 </a:t>
            </a:r>
            <a:r>
              <a:rPr lang="en-US" altLang="ko-KR" dirty="0"/>
              <a:t>production </a:t>
            </a:r>
            <a:r>
              <a:rPr lang="ko-KR" altLang="en-US" dirty="0"/>
              <a:t>환경에서 새로운 </a:t>
            </a:r>
            <a:r>
              <a:rPr lang="en-US" altLang="ko-KR" dirty="0"/>
              <a:t>Lot</a:t>
            </a:r>
            <a:r>
              <a:rPr lang="ko-KR" altLang="en-US" dirty="0"/>
              <a:t>에 대한 일반화 성능은 아직 충분히 확인되지 않았습니다</a:t>
            </a:r>
            <a:r>
              <a:rPr lang="en-US" altLang="ko-KR" dirty="0"/>
              <a:t>. </a:t>
            </a:r>
            <a:r>
              <a:rPr lang="ko-KR" altLang="en-US" dirty="0"/>
              <a:t>그래서 기존 </a:t>
            </a:r>
            <a:r>
              <a:rPr lang="en-US" altLang="ko-KR" dirty="0"/>
              <a:t>K-fold </a:t>
            </a:r>
            <a:r>
              <a:rPr lang="ko-KR" altLang="en-US" dirty="0"/>
              <a:t>검증과 함께 </a:t>
            </a:r>
            <a:r>
              <a:rPr lang="en-US" altLang="ko-KR" dirty="0"/>
              <a:t>Lot-level validation</a:t>
            </a:r>
            <a:r>
              <a:rPr lang="ko-KR" altLang="en-US" dirty="0"/>
              <a:t>을 추가할 예정입니다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정리하면</a:t>
            </a:r>
            <a:r>
              <a:rPr lang="en-US" altLang="ko-KR" dirty="0"/>
              <a:t>, </a:t>
            </a:r>
            <a:r>
              <a:rPr lang="ko-KR" altLang="en-US" dirty="0"/>
              <a:t>향후 연구는 </a:t>
            </a:r>
            <a:r>
              <a:rPr lang="en-US" altLang="ko-KR" b="1" dirty="0" err="1"/>
              <a:t>oxide_etch</a:t>
            </a:r>
            <a:r>
              <a:rPr lang="en-US" altLang="ko-KR" b="1" dirty="0"/>
              <a:t> </a:t>
            </a:r>
            <a:r>
              <a:rPr lang="ko-KR" altLang="en-US" b="1" dirty="0"/>
              <a:t>중심 성능 개선</a:t>
            </a:r>
            <a:r>
              <a:rPr lang="en-US" altLang="ko-KR" b="1" dirty="0"/>
              <a:t>, OES feature </a:t>
            </a:r>
            <a:r>
              <a:rPr lang="ko-KR" altLang="en-US" b="1" dirty="0"/>
              <a:t>활용 강화</a:t>
            </a:r>
            <a:r>
              <a:rPr lang="en-US" altLang="ko-KR" b="1" dirty="0"/>
              <a:t>, </a:t>
            </a:r>
            <a:r>
              <a:rPr lang="ko-KR" altLang="en-US" b="1" dirty="0"/>
              <a:t>모델 </a:t>
            </a:r>
            <a:r>
              <a:rPr lang="ko-KR" altLang="en-US" b="1" dirty="0" err="1"/>
              <a:t>과적합</a:t>
            </a:r>
            <a:r>
              <a:rPr lang="ko-KR" altLang="en-US" b="1" dirty="0"/>
              <a:t> 점검</a:t>
            </a:r>
            <a:r>
              <a:rPr lang="en-US" altLang="ko-KR" b="1" dirty="0"/>
              <a:t>, Lot </a:t>
            </a:r>
            <a:r>
              <a:rPr lang="ko-KR" altLang="en-US" b="1" dirty="0"/>
              <a:t>단위 일반화 검증</a:t>
            </a:r>
            <a:r>
              <a:rPr lang="ko-KR" altLang="en-US" dirty="0"/>
              <a:t>을 중심으로 진행할 계획입니다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47A0EE-11EC-EDA6-9D60-B6C9B3471C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9274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1545A-74BC-E293-21B5-F378F0125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CED607F-86EA-9077-0224-5BD458928F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30057E-7174-8F08-DC04-C81C422CD3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모델은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DL Multimodal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구조로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oxide_etch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R² 0.734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달성했지만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아키텍처 측면에서 아직 개선할 수 있는 여지가 있다고 판단했습니다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크게 네 가지 방향으로 정리하겠습니다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레이블 데이터 부족 문제입니다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레이블이 있는 웨이퍼는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88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딥러닝 모델을 충분히 학습시키기에는 적은 수입니다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자체 데이터는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14,744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파장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3,648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개로 레이블 없이도 풍부하게 존재합니다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 이 데이터를 활용해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Mask-and-Reconstruct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Contrastive Learning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방식으로 인코더를 먼저 사전훈련한 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소수의 레이블 데이터로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fine-tuning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하는 방향을 검토하고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예측 불확실성 정량화가 아직 이루어지지 않고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모델은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예측값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하나만 출력하기 때문에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산업 현장에서 해당 예측을 얼마나 신뢰할 수 있는지 판단하기 어렵습니다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해결하기 위해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 Ensembles, MC Dropout, Conformal Prediction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활용하여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예측값과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신뢰구간을 함께 출력할 수 있도록 개선할 계획입니다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번째로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BiLSTM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Mean Pooling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구조에서는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사이클 중 어떤 사이클이 예측에 중요하게 작용했는지 알 수 없습니다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Gradient Attribution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일부 해석을 시도할 수 있지만 간접적인 방법에 불과합니다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Transformer + Cycle Positional Encoding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대체하면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Attention weight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통해 사이클 중요도를 직접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시각화할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다만 데이터셋이 작아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Transformer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단독 학습이 어려울 수 있기 때문에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앞서 언급한 자기지도 사전훈련과 연계하여 진행할 계획입니다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모델은 물리적 제약 없이 순수하게 데이터만으로 학습하기 때문에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식각 깊이가 사이클 진행에 따라 반드시 증가해야 한다는 공정의 기본 성질이 보장되지 않습니다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 손실 함수에 단조증가 제약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Smoothness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정규화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관측되는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원자와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CF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종의 농도 비율을 반영한 화학 관계 제약을 추가하여 물리적으로 타당한 예측을 유도할 계획입니다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정리하면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향후 연구는 자기지도학습 사전훈련을 통한 데이터 부족 극복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불확실성 정량화를 통한 배포 신뢰성 확보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Transformer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기반 해석 가능성 향상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물리 제약 적용을 중심으로 진행할 예정입니다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2C100C-3FB9-4DC4-56D5-3EFBE8F48E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96885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0C9F3-FF7E-6DAA-EB6D-948F003F9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22303F-1E76-7D78-589B-6B27665348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7EF9E5-2582-95C0-0E55-90E170CE86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모델은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DL Multimodal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구조로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oxide_etch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R² 0.734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달성했지만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아키텍처 측면에서 아직 개선할 수 있는 여지가 있다고 판단했습니다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크게 네 가지 방향으로 정리하겠습니다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레이블 데이터 부족 문제입니다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레이블이 있는 웨이퍼는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88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딥러닝 모델을 충분히 학습시키기에는 적은 수입니다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자체 데이터는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14,744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파장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3,648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개로 레이블 없이도 풍부하게 존재합니다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 이 데이터를 활용해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Mask-and-Reconstruct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Contrastive Learning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방식으로 인코더를 먼저 사전훈련한 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소수의 레이블 데이터로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fine-tuning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하는 방향을 검토하고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예측 불확실성 정량화가 아직 이루어지지 않고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모델은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예측값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하나만 출력하기 때문에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산업 현장에서 해당 예측을 얼마나 신뢰할 수 있는지 판단하기 어렵습니다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해결하기 위해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 Ensembles, MC Dropout, Conformal Prediction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활용하여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예측값과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신뢰구간을 함께 출력할 수 있도록 개선할 계획입니다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번째로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BiLSTM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Mean Pooling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구조에서는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사이클 중 어떤 사이클이 예측에 중요하게 작용했는지 알 수 없습니다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Gradient Attribution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일부 해석을 시도할 수 있지만 간접적인 방법에 불과합니다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Transformer + Cycle Positional Encoding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대체하면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Attention weight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통해 사이클 중요도를 직접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시각화할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다만 데이터셋이 작아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Transformer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단독 학습이 어려울 수 있기 때문에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앞서 언급한 자기지도 사전훈련과 연계하여 진행할 계획입니다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모델은 물리적 제약 없이 순수하게 데이터만으로 학습하기 때문에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식각 깊이가 사이클 진행에 따라 반드시 증가해야 한다는 공정의 기본 성질이 보장되지 않습니다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 손실 함수에 단조증가 제약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Smoothness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정규화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관측되는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원자와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CF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종의 농도 비율을 반영한 화학 관계 제약을 추가하여 물리적으로 타당한 예측을 유도할 계획입니다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정리하면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향후 연구는 자기지도학습 사전훈련을 통한 데이터 부족 극복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불확실성 정량화를 통한 배포 신뢰성 확보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Transformer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기반 해석 가능성 향상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물리 제약 적용을 중심으로 진행할 예정입니다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27E541-3115-A062-BB59-19C7117592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79981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D9438-D756-39FB-E6B6-426D15551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3B1BF9-8AA1-D0C1-8049-48CEFDAD79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9353AE-5438-2DB0-57BC-5BBC1064AD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모델은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DL Multimodal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구조로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oxide_etch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R² 0.734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달성했지만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아키텍처 측면에서 아직 개선할 수 있는 여지가 있다고 판단했습니다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크게 네 가지 방향으로 정리하겠습니다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레이블 데이터 부족 문제입니다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레이블이 있는 웨이퍼는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88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딥러닝 모델을 충분히 학습시키기에는 적은 수입니다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자체 데이터는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14,744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파장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3,648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개로 레이블 없이도 풍부하게 존재합니다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 이 데이터를 활용해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Mask-and-Reconstruct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Contrastive Learning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방식으로 인코더를 먼저 사전훈련한 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소수의 레이블 데이터로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fine-tuning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하는 방향을 검토하고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예측 불확실성 정량화가 아직 이루어지지 않고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모델은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예측값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하나만 출력하기 때문에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산업 현장에서 해당 예측을 얼마나 신뢰할 수 있는지 판단하기 어렵습니다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해결하기 위해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 Ensembles, MC Dropout, Conformal Prediction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활용하여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예측값과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신뢰구간을 함께 출력할 수 있도록 개선할 계획입니다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번째로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BiLSTM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Mean Pooling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구조에서는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사이클 중 어떤 사이클이 예측에 중요하게 작용했는지 알 수 없습니다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Gradient Attribution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일부 해석을 시도할 수 있지만 간접적인 방법에 불과합니다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Transformer + Cycle Positional Encoding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대체하면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Attention weight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통해 사이클 중요도를 직접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시각화할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다만 데이터셋이 작아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Transformer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단독 학습이 어려울 수 있기 때문에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앞서 언급한 자기지도 사전훈련과 연계하여 진행할 계획입니다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모델은 물리적 제약 없이 순수하게 데이터만으로 학습하기 때문에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식각 깊이가 사이클 진행에 따라 반드시 증가해야 한다는 공정의 기본 성질이 보장되지 않습니다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 손실 함수에 단조증가 제약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Smoothness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정규화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관측되는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원자와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CF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종의 농도 비율을 반영한 화학 관계 제약을 추가하여 물리적으로 타당한 예측을 유도할 계획입니다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정리하면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향후 연구는 자기지도학습 사전훈련을 통한 데이터 부족 극복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불확실성 정량화를 통한 배포 신뢰성 확보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Transformer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기반 해석 가능성 향상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물리 제약 적용을 중심으로 진행할 예정입니다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9A5030-B3D2-8F5A-17A8-CF43D8F244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49028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0C9F3-FF7E-6DAA-EB6D-948F003F9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22303F-1E76-7D78-589B-6B27665348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7EF9E5-2582-95C0-0E55-90E170CE86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모델은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DL Multimodal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구조로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oxide_etch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R² 0.734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달성했지만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아키텍처 측면에서 아직 개선할 수 있는 여지가 있다고 판단했습니다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크게 네 가지 방향으로 정리하겠습니다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레이블 데이터 부족 문제입니다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레이블이 있는 웨이퍼는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88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딥러닝 모델을 충분히 학습시키기에는 적은 수입니다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자체 데이터는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14,744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파장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3,648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개로 레이블 없이도 풍부하게 존재합니다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 이 데이터를 활용해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Mask-and-Reconstruct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Contrastive Learning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방식으로 인코더를 먼저 사전훈련한 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소수의 레이블 데이터로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fine-tuning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하는 방향을 검토하고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예측 불확실성 정량화가 아직 이루어지지 않고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모델은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예측값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하나만 출력하기 때문에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산업 현장에서 해당 예측을 얼마나 신뢰할 수 있는지 판단하기 어렵습니다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해결하기 위해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 Ensembles, MC Dropout, Conformal Prediction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활용하여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예측값과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신뢰구간을 함께 출력할 수 있도록 개선할 계획입니다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번째로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BiLSTM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Mean Pooling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구조에서는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사이클 중 어떤 사이클이 예측에 중요하게 작용했는지 알 수 없습니다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Gradient Attribution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일부 해석을 시도할 수 있지만 간접적인 방법에 불과합니다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Transformer + Cycle Positional Encoding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대체하면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Attention weight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통해 사이클 중요도를 직접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시각화할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다만 데이터셋이 작아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Transformer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단독 학습이 어려울 수 있기 때문에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앞서 언급한 자기지도 사전훈련과 연계하여 진행할 계획입니다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모델은 물리적 제약 없이 순수하게 데이터만으로 학습하기 때문에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식각 깊이가 사이클 진행에 따라 반드시 증가해야 한다는 공정의 기본 성질이 보장되지 않습니다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 손실 함수에 단조증가 제약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Smoothness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정규화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관측되는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원자와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CF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종의 농도 비율을 반영한 화학 관계 제약을 추가하여 물리적으로 타당한 예측을 유도할 계획입니다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정리하면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향후 연구는 자기지도학습 사전훈련을 통한 데이터 부족 극복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불확실성 정량화를 통한 배포 신뢰성 확보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Transformer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기반 해석 가능성 향상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물리 제약 적용을 중심으로 진행할 예정입니다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27E541-3115-A062-BB59-19C7117592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79981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반도체 제조 공정에서 웨이퍼의 품질은 식각 깊이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산화막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두께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등의 물리적인 측정값에 따라 달라집니다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그러나 이를 실제로 측정하려면 비용과 시간이 많이 소요되고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웨이퍼에 대해 수행하기 어렵다는 문제가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VM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공정 중에 수집되는 센서 데이터로부터 이러한 물리적 측정값을 예측하는 기술로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전수 검사를 가능하게 하고 공정 제어의 실시간성을 높일 수 있다는 장점이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0002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저희는 이 논문의 데이터셋을 활용하여 반도체 제조 공정에서의 </a:t>
            </a:r>
            <a:r>
              <a:rPr lang="en-US" altLang="ko-KR" dirty="0"/>
              <a:t>VM</a:t>
            </a:r>
            <a:r>
              <a:rPr lang="ko-KR" altLang="en-US" dirty="0"/>
              <a:t>을 구현하려고 합니다</a:t>
            </a:r>
            <a:r>
              <a:rPr lang="en-US" altLang="ko-KR" dirty="0"/>
              <a:t>. </a:t>
            </a:r>
            <a:r>
              <a:rPr lang="ko-KR" altLang="en-US" dirty="0"/>
              <a:t>논문의 용어 몇 가지를 간단히 설명하겠습니다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BOSCH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공정은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SF6(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식각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C4F8(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패시베이션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가스를 교대로 사용하는 사이클릭 공정입니다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본 연구에서 활용하는 데이터셋은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초의 점화 단계 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회의 사이클로 구성되며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사이클에서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SF6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4.5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C4F8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1.5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웨이퍼에 대해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3,648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파장 채널에서 연속으로 기록됩니다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데이터에는 각 사이클에서의 플라즈마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화학종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변화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챔버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컨디셔닝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효과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drift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 풍부한 공정 정보가 포함되어 있기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때문에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정보를 고려한 예측 방법이 필요합니다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그러나 기존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VM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연구에서는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평균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분산 등으로 축소하여 사용하는 경우가 대부분이며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방식으로는 사이클 간 시간적 변화 패턴이라는 핵심 정보가 손실된다는 문제가 생깁니다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3748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기존 접근법의 한계를 요약하면 이 세 가지로 정리할 수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방금 언급한 것처럼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통계적으로 축소하고 전통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사용하는 방식은 사이클 간의 시간적 변화 정보를 반영할 수 없습니다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직접 입력하는 방식은 모든 정보를 입력하고 학습시키는 것인데 차원이 너무 높아 불가능합니다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일반적인 시계열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dirty="0"/>
              <a:t>BOSCH </a:t>
            </a:r>
            <a:r>
              <a:rPr lang="ko-KR" altLang="en-US" dirty="0"/>
              <a:t>공정의 사이클 구조를 반영하지 못한다는 문제가 있습니다</a:t>
            </a:r>
            <a:r>
              <a:rPr lang="en-US" altLang="ko-KR" dirty="0"/>
              <a:t>.</a:t>
            </a: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BOSCH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공정의 물리적 사이클 구조를 반영할 수 있는 딥러닝 기반 표현 학습 방법을 구현해보려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97198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Dataset </a:t>
            </a:r>
            <a:r>
              <a:rPr lang="ko-KR" altLang="en-US" dirty="0"/>
              <a:t>파트에 대해서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저희가 쓰는 데이터는 독일 연구소에서 실제 플라즈마 식각 장비를 돌리면서 수집한 데이터입니다</a:t>
            </a:r>
            <a:r>
              <a:rPr lang="en-US" altLang="ko-KR" dirty="0"/>
              <a:t>. </a:t>
            </a:r>
            <a:r>
              <a:rPr lang="ko-KR" altLang="en-US" dirty="0"/>
              <a:t>장비는 </a:t>
            </a:r>
            <a:r>
              <a:rPr lang="en-US" altLang="ko-KR" dirty="0"/>
              <a:t>ICP-RIE </a:t>
            </a:r>
            <a:r>
              <a:rPr lang="ko-KR" altLang="en-US" dirty="0"/>
              <a:t>방식이고</a:t>
            </a:r>
            <a:r>
              <a:rPr lang="en-US" altLang="ko-KR" dirty="0"/>
              <a:t>, 200mm </a:t>
            </a:r>
            <a:r>
              <a:rPr lang="ko-KR" altLang="en-US" dirty="0"/>
              <a:t>실리콘 웨이퍼에 </a:t>
            </a:r>
            <a:r>
              <a:rPr lang="en-US" altLang="ko-KR" dirty="0"/>
              <a:t>SF₆</a:t>
            </a:r>
            <a:r>
              <a:rPr lang="ko-KR" altLang="en-US" dirty="0"/>
              <a:t>와 </a:t>
            </a:r>
            <a:r>
              <a:rPr lang="en-US" altLang="ko-KR" dirty="0"/>
              <a:t>C₄F₈</a:t>
            </a:r>
            <a:r>
              <a:rPr lang="ko-KR" altLang="en-US" dirty="0"/>
              <a:t>를 교대로 사용하는 </a:t>
            </a:r>
            <a:r>
              <a:rPr lang="en-US" altLang="ko-KR" dirty="0"/>
              <a:t>BOSCH </a:t>
            </a:r>
            <a:r>
              <a:rPr lang="ko-KR" altLang="en-US" dirty="0"/>
              <a:t>공정 </a:t>
            </a:r>
            <a:r>
              <a:rPr lang="en-US" altLang="ko-KR" dirty="0"/>
              <a:t>100</a:t>
            </a:r>
            <a:r>
              <a:rPr lang="ko-KR" altLang="en-US" dirty="0"/>
              <a:t>사이클을 적용했습니다</a:t>
            </a:r>
            <a:r>
              <a:rPr lang="en-US" altLang="ko-KR" dirty="0"/>
              <a:t>. </a:t>
            </a:r>
            <a:r>
              <a:rPr lang="ko-KR" altLang="en-US" dirty="0"/>
              <a:t>총 </a:t>
            </a:r>
            <a:r>
              <a:rPr lang="en-US" altLang="ko-KR" dirty="0"/>
              <a:t>10</a:t>
            </a:r>
            <a:r>
              <a:rPr lang="ko-KR" altLang="en-US" dirty="0"/>
              <a:t>개 </a:t>
            </a:r>
            <a:r>
              <a:rPr lang="ko-KR" altLang="en-US" dirty="0" err="1"/>
              <a:t>로트</a:t>
            </a:r>
            <a:r>
              <a:rPr lang="en-US" altLang="ko-KR" dirty="0"/>
              <a:t>, </a:t>
            </a:r>
            <a:r>
              <a:rPr lang="ko-KR" altLang="en-US" dirty="0"/>
              <a:t>약 </a:t>
            </a:r>
            <a:r>
              <a:rPr lang="en-US" altLang="ko-KR" dirty="0"/>
              <a:t>100</a:t>
            </a:r>
            <a:r>
              <a:rPr lang="ko-KR" altLang="en-US" dirty="0"/>
              <a:t>개 웨이퍼 규모이고</a:t>
            </a:r>
            <a:r>
              <a:rPr lang="en-US" altLang="ko-KR" dirty="0"/>
              <a:t>, </a:t>
            </a:r>
            <a:r>
              <a:rPr lang="en-US" altLang="ko-KR" dirty="0" err="1"/>
              <a:t>Zenodo</a:t>
            </a:r>
            <a:r>
              <a:rPr lang="ko-KR" altLang="en-US" dirty="0"/>
              <a:t>에 오픈 데이터로 공개되어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데이터의 가장 큰 강점은 세 종류의 데이터가 동시에 수집되었다는 점입니다</a:t>
            </a:r>
            <a:r>
              <a:rPr lang="en-US" altLang="ko-KR" dirty="0"/>
              <a:t>. </a:t>
            </a:r>
            <a:r>
              <a:rPr lang="ko-KR" altLang="en-US" dirty="0"/>
              <a:t>첫째</a:t>
            </a:r>
            <a:r>
              <a:rPr lang="en-US" altLang="ko-KR" dirty="0"/>
              <a:t>, </a:t>
            </a:r>
            <a:r>
              <a:rPr lang="ko-KR" altLang="en-US" dirty="0"/>
              <a:t>플라즈마 안에 어떤 화학종이 있는지 빛으로 측정한 </a:t>
            </a:r>
            <a:r>
              <a:rPr lang="en-US" altLang="ko-KR" dirty="0"/>
              <a:t>OES </a:t>
            </a:r>
            <a:r>
              <a:rPr lang="ko-KR" altLang="en-US" dirty="0"/>
              <a:t>데이터 </a:t>
            </a:r>
            <a:r>
              <a:rPr lang="en-US" altLang="ko-KR" dirty="0"/>
              <a:t>3,648</a:t>
            </a:r>
            <a:r>
              <a:rPr lang="ko-KR" altLang="en-US" dirty="0"/>
              <a:t>채널</a:t>
            </a:r>
            <a:r>
              <a:rPr lang="en-US" altLang="ko-KR" dirty="0"/>
              <a:t>. </a:t>
            </a:r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ko-KR" altLang="en-US" dirty="0"/>
              <a:t>장비의 센서가 기록한 공정 파라미터 </a:t>
            </a:r>
            <a:r>
              <a:rPr lang="en-US" altLang="ko-KR" dirty="0"/>
              <a:t>31</a:t>
            </a:r>
            <a:r>
              <a:rPr lang="ko-KR" altLang="en-US" dirty="0"/>
              <a:t>개</a:t>
            </a:r>
            <a:r>
              <a:rPr lang="en-US" altLang="ko-KR" dirty="0"/>
              <a:t>. </a:t>
            </a:r>
            <a:r>
              <a:rPr lang="ko-KR" altLang="en-US" dirty="0"/>
              <a:t>셋째</a:t>
            </a:r>
            <a:r>
              <a:rPr lang="en-US" altLang="ko-KR" dirty="0"/>
              <a:t>, </a:t>
            </a:r>
            <a:r>
              <a:rPr lang="ko-KR" altLang="en-US" dirty="0"/>
              <a:t>식각이 끝난 후 실제로 재본 식각 깊이가 웨이퍼 </a:t>
            </a:r>
            <a:r>
              <a:rPr lang="ko-KR" altLang="en-US" dirty="0" err="1"/>
              <a:t>계측값</a:t>
            </a:r>
            <a:r>
              <a:rPr lang="ko-KR" altLang="en-US" dirty="0"/>
              <a:t> </a:t>
            </a:r>
            <a:r>
              <a:rPr lang="en-US" altLang="ko-KR" dirty="0"/>
              <a:t>9</a:t>
            </a:r>
            <a:r>
              <a:rPr lang="ko-KR" altLang="en-US" dirty="0"/>
              <a:t>개 또는 </a:t>
            </a:r>
            <a:r>
              <a:rPr lang="en-US" altLang="ko-KR" dirty="0"/>
              <a:t>89</a:t>
            </a:r>
            <a:r>
              <a:rPr lang="ko-KR" altLang="en-US" dirty="0"/>
              <a:t>개 포인트로 </a:t>
            </a:r>
            <a:r>
              <a:rPr lang="ko-KR" altLang="en-US" dirty="0" err="1"/>
              <a:t>기록되어있습니다</a:t>
            </a:r>
            <a:r>
              <a:rPr lang="en-US" altLang="ko-KR" dirty="0"/>
              <a:t>. </a:t>
            </a:r>
            <a:r>
              <a:rPr lang="ko-KR" altLang="en-US" dirty="0"/>
              <a:t>앞의 둘이 모델의 입력이고</a:t>
            </a:r>
            <a:r>
              <a:rPr lang="en-US" altLang="ko-KR" dirty="0"/>
              <a:t>, </a:t>
            </a:r>
            <a:r>
              <a:rPr lang="ko-KR" altLang="en-US" dirty="0"/>
              <a:t>마지막이 저희가 예측하려는 </a:t>
            </a:r>
            <a:r>
              <a:rPr lang="ko-KR" altLang="en-US" dirty="0" err="1"/>
              <a:t>정답값입니다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1ADF3-D9EB-4753-914D-CCE533B33CF7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77041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31</a:t>
            </a:r>
            <a:r>
              <a:rPr lang="ko-KR" altLang="en-US" dirty="0"/>
              <a:t>개 공정 파라미터가 무엇인지 간단히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31</a:t>
            </a:r>
            <a:r>
              <a:rPr lang="ko-KR" altLang="en-US" dirty="0"/>
              <a:t>개 공정 파라미터는 </a:t>
            </a:r>
            <a:r>
              <a:rPr lang="en-US" altLang="ko-KR" dirty="0"/>
              <a:t>ICP-RIE </a:t>
            </a:r>
            <a:r>
              <a:rPr lang="ko-KR" altLang="en-US" dirty="0"/>
              <a:t>장비의 세 영역에 대응됩니다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장비 위쪽에는 </a:t>
            </a:r>
            <a:r>
              <a:rPr lang="en-US" altLang="ko-KR" dirty="0"/>
              <a:t>ICP </a:t>
            </a:r>
            <a:r>
              <a:rPr lang="ko-KR" altLang="en-US" dirty="0"/>
              <a:t>코일이 있어서 </a:t>
            </a:r>
            <a:r>
              <a:rPr lang="en-US" altLang="ko-KR" dirty="0"/>
              <a:t>RF </a:t>
            </a:r>
            <a:r>
              <a:rPr lang="ko-KR" altLang="en-US" dirty="0"/>
              <a:t>전력으로 플라즈마를 만들어 이것이 플라즈마 밀도</a:t>
            </a:r>
            <a:r>
              <a:rPr lang="en-US" altLang="ko-KR" dirty="0"/>
              <a:t>, </a:t>
            </a:r>
            <a:r>
              <a:rPr lang="ko-KR" altLang="en-US" dirty="0"/>
              <a:t>즉 </a:t>
            </a:r>
            <a:r>
              <a:rPr lang="en-US" altLang="ko-KR" dirty="0"/>
              <a:t>F </a:t>
            </a:r>
            <a:r>
              <a:rPr lang="ko-KR" altLang="en-US" dirty="0" err="1"/>
              <a:t>라디칼</a:t>
            </a:r>
            <a:r>
              <a:rPr lang="ko-KR" altLang="en-US" dirty="0"/>
              <a:t> </a:t>
            </a:r>
            <a:r>
              <a:rPr lang="ko-KR" altLang="en-US" dirty="0" err="1"/>
              <a:t>생성량을</a:t>
            </a:r>
            <a:r>
              <a:rPr lang="ko-KR" altLang="en-US" dirty="0"/>
              <a:t> 결정합니다</a:t>
            </a:r>
            <a:r>
              <a:rPr lang="en-US" altLang="ko-KR" dirty="0"/>
              <a:t>. </a:t>
            </a:r>
            <a:r>
              <a:rPr lang="ko-KR" altLang="en-US" dirty="0"/>
              <a:t>이 전력이 세질수록 가스가 더 많이 분해돼서 식각이 빨라집니다</a:t>
            </a:r>
            <a:r>
              <a:rPr lang="en-US" altLang="ko-KR" dirty="0"/>
              <a:t>. </a:t>
            </a:r>
            <a:r>
              <a:rPr lang="ko-KR" altLang="en-US" dirty="0"/>
              <a:t>중앙 챔버에서는 </a:t>
            </a:r>
            <a:r>
              <a:rPr lang="en-US" altLang="ko-KR" dirty="0"/>
              <a:t>SF₆, C₄F₈ </a:t>
            </a:r>
            <a:r>
              <a:rPr lang="ko-KR" altLang="en-US" dirty="0"/>
              <a:t>같은 가스 유량과 챔버 압력이 화학 반응 환경을 제어합니다</a:t>
            </a:r>
            <a:r>
              <a:rPr lang="en-US" altLang="ko-KR" dirty="0"/>
              <a:t>. </a:t>
            </a:r>
            <a:r>
              <a:rPr lang="ko-KR" altLang="en-US" dirty="0"/>
              <a:t>아래쪽에는 웨이퍼가 놓이는 전극이 있는데</a:t>
            </a:r>
            <a:r>
              <a:rPr lang="en-US" altLang="ko-KR" dirty="0"/>
              <a:t>, </a:t>
            </a:r>
            <a:r>
              <a:rPr lang="ko-KR" altLang="en-US" dirty="0"/>
              <a:t>여기에 걸리는 바이어스 전압이 이온을 얼마나 세게 가속시킬지를 결정하여 물리적 식각에 기여합니다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오른쪽 표에 정리했듯이 </a:t>
            </a:r>
            <a:r>
              <a:rPr lang="en-US" altLang="ko-KR" dirty="0"/>
              <a:t>Source RF Power, DC Bias, SF₆ </a:t>
            </a:r>
            <a:r>
              <a:rPr lang="ko-KR" altLang="en-US" dirty="0"/>
              <a:t>유량</a:t>
            </a:r>
            <a:r>
              <a:rPr lang="en-US" altLang="ko-KR" dirty="0"/>
              <a:t>, C₄F₈ </a:t>
            </a:r>
            <a:r>
              <a:rPr lang="ko-KR" altLang="en-US" dirty="0"/>
              <a:t>유량이 가장 핵심적인 변수로 예상됩니다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중요한 것은 이 </a:t>
            </a:r>
            <a:r>
              <a:rPr lang="en-US" altLang="ko-KR" dirty="0"/>
              <a:t>31</a:t>
            </a:r>
            <a:r>
              <a:rPr lang="ko-KR" altLang="en-US" dirty="0"/>
              <a:t>개 변수가 독립적으로 작용하는 게 아니라 복합적으로 상호작용하면서 식각 깊이를 결정한다는 점이고</a:t>
            </a:r>
            <a:r>
              <a:rPr lang="en-US" altLang="ko-KR" dirty="0"/>
              <a:t>, </a:t>
            </a:r>
            <a:r>
              <a:rPr lang="ko-KR" altLang="en-US" dirty="0"/>
              <a:t>이 복합 관계를 학습하는 것이 데이터 기반 접근의 핵심입니다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1ADF3-D9EB-4753-914D-CCE533B33CF7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74833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그래서 저희가 예측하려는 것은 실리콘이 얼마나 깊이 </a:t>
            </a:r>
            <a:r>
              <a:rPr lang="ko-KR" altLang="en-US" dirty="0" err="1"/>
              <a:t>파였는지입니다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왼쪽 그림을 보시면</a:t>
            </a:r>
            <a:r>
              <a:rPr lang="en-US" altLang="ko-KR" dirty="0"/>
              <a:t>, </a:t>
            </a:r>
            <a:r>
              <a:rPr lang="ko-KR" altLang="en-US" dirty="0"/>
              <a:t>식각 전에는 </a:t>
            </a:r>
            <a:r>
              <a:rPr lang="en-US" altLang="ko-KR" dirty="0" err="1"/>
              <a:t>SiO</a:t>
            </a:r>
            <a:r>
              <a:rPr lang="en-US" altLang="ko-KR" dirty="0"/>
              <a:t>₂ </a:t>
            </a:r>
            <a:r>
              <a:rPr lang="ko-KR" altLang="en-US" dirty="0"/>
              <a:t>마스크가 위에 덮여 있고 그 아래 실리콘이 평평합니다</a:t>
            </a:r>
            <a:r>
              <a:rPr lang="en-US" altLang="ko-KR" dirty="0"/>
              <a:t>. BOSCH </a:t>
            </a:r>
            <a:r>
              <a:rPr lang="ko-KR" altLang="en-US" dirty="0"/>
              <a:t>공정 </a:t>
            </a:r>
            <a:r>
              <a:rPr lang="en-US" altLang="ko-KR" dirty="0"/>
              <a:t>100</a:t>
            </a:r>
            <a:r>
              <a:rPr lang="ko-KR" altLang="en-US" dirty="0"/>
              <a:t>사이클을 거치면 마스크가 열린 부분으로 약 </a:t>
            </a:r>
            <a:r>
              <a:rPr lang="en-US" altLang="ko-KR" dirty="0"/>
              <a:t>40</a:t>
            </a:r>
            <a:r>
              <a:rPr lang="ko-KR" altLang="en-US" dirty="0"/>
              <a:t>마이크로미터 깊이의 구멍이 파이게 됩니다</a:t>
            </a:r>
            <a:r>
              <a:rPr lang="en-US" altLang="ko-KR" dirty="0"/>
              <a:t>. </a:t>
            </a:r>
            <a:r>
              <a:rPr lang="ko-KR" altLang="en-US" dirty="0"/>
              <a:t>이 </a:t>
            </a:r>
            <a:r>
              <a:rPr lang="en-US" altLang="ko-KR" dirty="0"/>
              <a:t>40</a:t>
            </a:r>
            <a:r>
              <a:rPr lang="ko-KR" altLang="en-US" dirty="0"/>
              <a:t>마이크로미터라는 값이 저희 타겟</a:t>
            </a:r>
            <a:r>
              <a:rPr lang="en-US" altLang="ko-KR" dirty="0"/>
              <a:t>, </a:t>
            </a:r>
            <a:r>
              <a:rPr lang="ko-KR" altLang="en-US" dirty="0"/>
              <a:t>즉 모델이 맞춰야 할 정답입니다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마스크도 일부 소모되어 </a:t>
            </a:r>
            <a:r>
              <a:rPr lang="en-US" altLang="ko-KR" dirty="0"/>
              <a:t>0.45</a:t>
            </a:r>
            <a:r>
              <a:rPr lang="ko-KR" altLang="en-US" dirty="0"/>
              <a:t>마이크로미터로 얇아집니다</a:t>
            </a:r>
            <a:r>
              <a:rPr lang="en-US" altLang="ko-KR" dirty="0"/>
              <a:t>. </a:t>
            </a:r>
            <a:r>
              <a:rPr lang="ko-KR" altLang="en-US" dirty="0"/>
              <a:t>아래 표가 실제 </a:t>
            </a:r>
            <a:r>
              <a:rPr lang="en-US" altLang="ko-KR" dirty="0"/>
              <a:t>CSV </a:t>
            </a:r>
            <a:r>
              <a:rPr lang="ko-KR" altLang="en-US" dirty="0"/>
              <a:t>데이터이고</a:t>
            </a:r>
            <a:r>
              <a:rPr lang="en-US" altLang="ko-KR" dirty="0"/>
              <a:t>, </a:t>
            </a:r>
            <a:r>
              <a:rPr lang="en-US" altLang="ko-KR" dirty="0" err="1"/>
              <a:t>si_etch</a:t>
            </a:r>
            <a:r>
              <a:rPr lang="en-US" altLang="ko-KR" dirty="0"/>
              <a:t> </a:t>
            </a:r>
            <a:r>
              <a:rPr lang="ko-KR" altLang="en-US" dirty="0"/>
              <a:t>열이 저희 타겟입니다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오른쪽은 전체 흐름입니다</a:t>
            </a:r>
            <a:r>
              <a:rPr lang="en-US" altLang="ko-KR" dirty="0"/>
              <a:t>, </a:t>
            </a:r>
            <a:r>
              <a:rPr lang="ko-KR" altLang="en-US" dirty="0"/>
              <a:t>식각 중 실시간으로 기록된 공정 파라미터와 </a:t>
            </a:r>
            <a:r>
              <a:rPr lang="en-US" altLang="ko-KR" dirty="0"/>
              <a:t>OES</a:t>
            </a:r>
            <a:r>
              <a:rPr lang="ko-KR" altLang="en-US" dirty="0"/>
              <a:t>가 입력이 되고</a:t>
            </a:r>
            <a:r>
              <a:rPr lang="en-US" altLang="ko-KR" dirty="0"/>
              <a:t>, </a:t>
            </a:r>
            <a:r>
              <a:rPr lang="ko-KR" altLang="en-US" dirty="0"/>
              <a:t>식각 후에 잰 깊이를 정답으로 매칭해서 모델을 학습시킵니다</a:t>
            </a:r>
            <a:r>
              <a:rPr lang="en-US" altLang="ko-KR" dirty="0"/>
              <a:t>. </a:t>
            </a:r>
            <a:r>
              <a:rPr lang="ko-KR" altLang="en-US" dirty="0"/>
              <a:t>이렇게 하면 나중에는 센서 데이터만 보고도 실제로 재지 않아도 식각 깊이를 예측할 수 있게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1ADF3-D9EB-4753-914D-CCE533B33CF7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77381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지금부터 이 연구의 핵심인 모델링 파트를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설명드리겠습니다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저희가 제안하는 모델은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BOSCH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공정의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100-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구조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명시적으로 반영한 계층적 표현 학습 모델입니다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아키텍처는 총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단계로 구성되어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1ADF3-D9EB-4753-914D-CCE533B33CF7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0199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 데이터입니다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아까 데이터셋에서 보셨듯이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OES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3,648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파장 채널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시계열 데이터이고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Process Params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압력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가스유량 등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44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센서 변수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데이터는 물리적 성질이 완전히 다르기 때문에 별도의 경로로 처리합니다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1ADF3-D9EB-4753-914D-CCE533B33CF7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6002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단위 인코딩입니다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100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사이클을 각각 독립적으로 인코딩합니다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OES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PCA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차원을 줄인 뒤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1D-CNN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Process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MLP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사용합니다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중요한 점은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사이클이 동일한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encoder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공유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한다는 것입니다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통해 사이클 내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국소 패턴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효율적으로 학습합니다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1ADF3-D9EB-4753-914D-CCE533B33CF7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47223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번째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Early Fusion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사이클에서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임베딩과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임베딩을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Concat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후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FC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레이어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결합합니다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Late Fusion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 달리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내에서 두 센서 간의 상호작용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모델이 직접 학습할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과정을 통해 사이클별 통합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임베딩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e₁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부터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e₁₀₀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얻습니다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1ADF3-D9EB-4753-914D-CCE533B33CF7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86878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 번째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시간적 모델링입니다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ARDE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효과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챔버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컨디셔닝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drift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사이클이 진행될수록 공정 상태가 변화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변화가 최종 식각 깊이에 영향을 줍니다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 이러한 시간에 따른 변화를 모델이 학습할 수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있어야합니다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저희 모델에서는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임베딩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시퀀스를 시계열 모델인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Bi-LSTM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또는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Transformer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학습합니다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통해 웨이퍼 전체를 요약하는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Wafer Representation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얻습니다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1ADF3-D9EB-4753-914D-CCE533B33CF7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9563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 단계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공간 예측입니다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Wafer Representation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측정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위치 좌표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(X, Y)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를 함께 입력해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Regression Head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통과시킵니다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최종적으로 </a:t>
            </a:r>
            <a:r>
              <a:rPr lang="en-US" altLang="ko-K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si_etch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oxide_etch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식각 깊이를 웨이퍼 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89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공간 포인트 각각에 대해 예측합니다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1ADF3-D9EB-4753-914D-CCE533B33CF7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15206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다음은 실험 파이프라인입니다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저희는 제안 모델 단독이 아닌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베이스라인과의 앙상블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함께 실험합니다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모델이 서로 다른 관점으로 데이터를 학습한다는 점을 활용하는 전략입니다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1ADF3-D9EB-4753-914D-CCE533B33CF7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63943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기반의 베이스라인입니다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OES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평균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분산 등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통계 요약 피처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변환한 뒤 학습합니다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특징 간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비선형 상호작용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강하고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SHAP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분석으로 해석이 용이합니다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1ADF3-D9EB-4753-914D-CCE533B33CF7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6321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DL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방금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설명드린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Cycle-Aware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아키텍처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OES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시계열 그대로 입력해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간 시간적 변화 패턴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학습합니다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Attention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가중치로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 사이클이 예측에 중요했는지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시각적으로 확인할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1ADF3-D9EB-4753-914D-CCE533B33CF7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8048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모델을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앙상블하는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이유는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강점이 다르기 때문입니다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ML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정적 피처 관계에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DL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동적 시퀀스 패턴에 강합니다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실수하는 지점이 서로 달라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결합 시 상호 보완이 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최종 예측은 가중 평균 또는 메타 러너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스태킹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두 가지 방식으로 구현하고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어느 쪽이 더 효과적인지 실험으로 검증할 예정입니다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1ADF3-D9EB-4753-914D-CCE533B33CF7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89371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연구의 기대 효과는 두 가지로 정리할 수 있습니다</a:t>
            </a:r>
            <a:r>
              <a:rPr lang="en-US" altLang="ko-KR" dirty="0"/>
              <a:t>. </a:t>
            </a:r>
            <a:r>
              <a:rPr lang="ko-KR" altLang="en-US" dirty="0"/>
              <a:t>첫째</a:t>
            </a:r>
            <a:r>
              <a:rPr lang="en-US" altLang="ko-KR" dirty="0"/>
              <a:t>, virtual metrology </a:t>
            </a:r>
            <a:r>
              <a:rPr lang="ko-KR" altLang="en-US" dirty="0"/>
              <a:t>모델을 사용하면 식각 결과를 매번 직접 측정하지 않고도 센서 데이터 기반으로 예측할 수 있기 때문에</a:t>
            </a:r>
            <a:r>
              <a:rPr lang="en-US" altLang="ko-KR" dirty="0"/>
              <a:t>, </a:t>
            </a:r>
            <a:r>
              <a:rPr lang="ko-KR" altLang="en-US" dirty="0"/>
              <a:t>측정 비용과 시간을 줄이고 공정 관리의 효율성을 높일 수 있습니다</a:t>
            </a:r>
            <a:r>
              <a:rPr lang="en-US" altLang="ko-KR" dirty="0"/>
              <a:t>. </a:t>
            </a:r>
            <a:r>
              <a:rPr lang="ko-KR" altLang="en-US" dirty="0"/>
              <a:t>또한 전수 검사나 실시간 모니터링에도 활용될 수 있다는 장점이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ko-KR" altLang="en-US" dirty="0"/>
              <a:t>이번 연구는 </a:t>
            </a:r>
            <a:r>
              <a:rPr lang="en-US" altLang="ko-KR" dirty="0"/>
              <a:t>BOSCH </a:t>
            </a:r>
            <a:r>
              <a:rPr lang="ko-KR" altLang="en-US" dirty="0"/>
              <a:t>공정의 </a:t>
            </a:r>
            <a:r>
              <a:rPr lang="en-US" altLang="ko-KR" dirty="0"/>
              <a:t>cycle </a:t>
            </a:r>
            <a:r>
              <a:rPr lang="ko-KR" altLang="en-US" dirty="0"/>
              <a:t>구조를 고려한다는 점에서 의미가 있습니다</a:t>
            </a:r>
            <a:r>
              <a:rPr lang="en-US" altLang="ko-KR" dirty="0"/>
              <a:t>. BOSCH </a:t>
            </a:r>
            <a:r>
              <a:rPr lang="ko-KR" altLang="en-US" dirty="0"/>
              <a:t>공정은 </a:t>
            </a:r>
            <a:r>
              <a:rPr lang="en-US" altLang="ko-KR" dirty="0"/>
              <a:t>etch</a:t>
            </a:r>
            <a:r>
              <a:rPr lang="ko-KR" altLang="en-US" dirty="0"/>
              <a:t>와 </a:t>
            </a:r>
            <a:r>
              <a:rPr lang="en-US" altLang="ko-KR" dirty="0"/>
              <a:t>passivation</a:t>
            </a:r>
            <a:r>
              <a:rPr lang="ko-KR" altLang="en-US" dirty="0"/>
              <a:t>이 반복되는 구조이기 때문에</a:t>
            </a:r>
            <a:r>
              <a:rPr lang="en-US" altLang="ko-KR" dirty="0"/>
              <a:t>, </a:t>
            </a:r>
            <a:r>
              <a:rPr lang="ko-KR" altLang="en-US" dirty="0"/>
              <a:t>단순히 전체 신호를 평균내는 방식으로는 중요한 시간적 변화를 놓칠 수 있습니다</a:t>
            </a:r>
            <a:r>
              <a:rPr lang="en-US" altLang="ko-KR" dirty="0"/>
              <a:t>. </a:t>
            </a:r>
            <a:r>
              <a:rPr lang="ko-KR" altLang="en-US" dirty="0"/>
              <a:t>반면 </a:t>
            </a:r>
            <a:r>
              <a:rPr lang="en-US" altLang="ko-KR" dirty="0"/>
              <a:t>cycle-aware </a:t>
            </a:r>
            <a:r>
              <a:rPr lang="ko-KR" altLang="en-US" dirty="0"/>
              <a:t>접근은 이러한 반복 구조와 </a:t>
            </a:r>
            <a:r>
              <a:rPr lang="en-US" altLang="ko-KR" dirty="0"/>
              <a:t>cycle </a:t>
            </a:r>
            <a:r>
              <a:rPr lang="ko-KR" altLang="en-US" dirty="0"/>
              <a:t>간 변화를 더 잘 반영할 수 있어서</a:t>
            </a:r>
            <a:r>
              <a:rPr lang="en-US" altLang="ko-KR" dirty="0"/>
              <a:t>, </a:t>
            </a:r>
            <a:r>
              <a:rPr lang="ko-KR" altLang="en-US" dirty="0"/>
              <a:t>공정 특성에 더 적합한 예측 모델로 발전할 가능성이 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1ADF3-D9EB-4753-914D-CCE533B33CF7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390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80770F-D728-4439-5857-849780E876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548C55C-DBE0-2167-0934-2C818D198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73F5A8-9B56-B62B-F52A-75AA875F7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5B520F-3B45-F805-5444-94C9DF9F0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347B91-E84F-4036-D7C8-B589A55ED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287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0FA413-CA51-1F45-8DC7-1A069E1BA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DE04EB-3354-B874-EDAC-7F5C28554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5C6CD1-CCAC-6CF0-803D-A46284C6F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E4FA30-864F-3143-4C60-B49554B0F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79FF1B-5B18-BB30-86CE-0A61E1889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043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E097ED-8242-B8A7-11CF-BEF965289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0E531F-9982-414C-B087-99565BBB7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B68051-F30A-EBC4-FC0B-A4B16EDB4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FACE3F-26B9-64B7-5B5A-060CAE90B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2F3FC9-C4A4-4751-8FD9-6734BA264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9398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A5BDA4-50F9-C6DF-3878-F48568009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FF960A-5A7C-B8F6-BF2D-831814A7CC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B6D8664-E883-9B69-8CE7-51E474D511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99D0B2-A91B-8EB4-4D04-0F0D4E85A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BF03B2-805C-A022-5E6E-9FAA21D79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637862-6269-E72C-371E-8E21DF6B0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9519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FB0197-2B86-2E3E-3045-E44040D53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55DEDE-DA4E-EC1D-502C-DDEC78C33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E724A7-8325-2C1E-E460-E9AABC709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B8B83E-4206-FDEA-EF3E-C4906C9C61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400B246-02DF-911F-0297-1E864F4BD2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1A44302-559E-7EB0-180F-9E37DB3C9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AB37CB4-2228-F33B-98E7-93557C3D8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C94A893-54A4-E994-620B-0E2A60878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9425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BA3F72-129A-9B71-4536-E5CAACB1E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9746C75-2D79-F2DE-407F-D86456F43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9975E07-29B7-D7D0-47CA-C4798F99E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9789EF-7235-4314-B6E5-EBA4D2F33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2605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BBD7E58-B589-1D5B-13E0-F13D54080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413AF85-3B88-23A8-2875-8B8E2F198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C78908-2051-9F07-10D6-3486920F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41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B33A7E-D1F6-6693-95F3-429B2FF4A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28F3B3-645B-D011-7030-38A5A9ABC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E40FD68-0F33-B1F9-76FD-7127C0445B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43DD80-619C-47E3-6D7C-68021D7EB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6E2BBA-18DD-B277-DFD8-AF44C018D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541DD4-AE4F-2DF3-C3F2-B76B08D96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6703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0FD4C8-D966-6E30-02CC-BB85FF3F2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3A96DD-5675-14AC-87FC-C15AF785C4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A3F5E6-3D43-3A1B-E4AF-BE8F9E510D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7BDB55-9145-D13F-1FB6-E7B075038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D25595-9654-EA95-05EE-DF411A5A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8FE68E-BC32-3AA6-2899-38509C80C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0835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F8362E-5715-0267-C269-9A92C6CAD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EDCE1E0-D23D-515E-9B3D-A2191ED22C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BD4C5D-63CF-8FE4-6A77-B2A8E7627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FB6F6C-3749-0D2D-6FB5-DF4D6D91E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4F069F-EA39-C960-1E1A-5C36AD222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1228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93F588-EB27-9C58-3FA6-C81A5EA254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F3FBC81-C1B2-1B27-861E-A32A1C0048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C8A182-40B9-8569-F491-5602C73DD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81EA2C-5A40-A95D-2F23-30FE0A38A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452508-105F-0632-9445-C2B33F0B3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459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A249AA1-5582-6BD2-EF1A-654855D86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C57EE5-A3EE-86CB-BB68-C735821BD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4E9680-583E-8438-768B-99FB50D15D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A00FF2-D11E-4552-B7E5-9AF2C6534834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4BFDA2-4A40-F78C-8EB8-FBD967AE66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82D46-6B12-525E-5655-135455F76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3175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png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png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9000"/>
          </a:blip>
          <a:stretch>
            <a:fillRect/>
          </a:stretch>
        </p:blipFill>
        <p:spPr>
          <a:xfrm>
            <a:off x="2838450" y="-158750"/>
            <a:ext cx="9645650" cy="7416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1000"/>
          </a:blip>
          <a:stretch>
            <a:fillRect/>
          </a:stretch>
        </p:blipFill>
        <p:spPr>
          <a:xfrm>
            <a:off x="10483850" y="2298700"/>
            <a:ext cx="2139950" cy="479425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95300" y="1052558"/>
            <a:ext cx="11125200" cy="1784350"/>
          </a:xfrm>
          <a:prstGeom prst="rect">
            <a:avLst/>
          </a:prstGeom>
        </p:spPr>
        <p:txBody>
          <a:bodyPr lIns="0" tIns="114513" rIns="0" bIns="0" rtlCol="0" anchor="t"/>
          <a:lstStyle/>
          <a:p>
            <a:pPr lvl="0">
              <a:lnSpc>
                <a:spcPct val="95449"/>
              </a:lnSpc>
            </a:pPr>
            <a:r>
              <a:rPr lang="ko-KR" altLang="en-US" sz="5400" spc="50" dirty="0">
                <a:solidFill>
                  <a:srgbClr val="202A3E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Pretendard ExtraBold" panose="02000903000000020004" pitchFamily="50" charset="-127"/>
              </a:rPr>
              <a:t>시계열 </a:t>
            </a:r>
            <a:r>
              <a:rPr lang="en-US" altLang="ko-KR" sz="5400" spc="50" dirty="0">
                <a:solidFill>
                  <a:srgbClr val="202A3E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Pretendard ExtraBold" panose="02000903000000020004" pitchFamily="50" charset="-127"/>
              </a:rPr>
              <a:t>AI </a:t>
            </a:r>
            <a:r>
              <a:rPr lang="ko-KR" altLang="en-US" sz="5400" spc="50" dirty="0">
                <a:solidFill>
                  <a:srgbClr val="202A3E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Pretendard ExtraBold" panose="02000903000000020004" pitchFamily="50" charset="-127"/>
              </a:rPr>
              <a:t>기반 반도체 식각 공정 </a:t>
            </a:r>
            <a:endParaRPr lang="en-US" altLang="ko-KR" sz="5400" spc="50" dirty="0">
              <a:solidFill>
                <a:srgbClr val="202A3E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  <a:cs typeface="Pretendard ExtraBold" panose="02000903000000020004" pitchFamily="50" charset="-127"/>
            </a:endParaRPr>
          </a:p>
          <a:p>
            <a:pPr lvl="0">
              <a:lnSpc>
                <a:spcPct val="95449"/>
              </a:lnSpc>
            </a:pPr>
            <a:r>
              <a:rPr lang="ko-KR" altLang="en-US" sz="5400" spc="50" dirty="0">
                <a:solidFill>
                  <a:srgbClr val="202A3E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Pretendard ExtraBold" panose="02000903000000020004" pitchFamily="50" charset="-127"/>
              </a:rPr>
              <a:t>가상 계측</a:t>
            </a:r>
            <a:r>
              <a:rPr lang="en-US" altLang="ko-KR" sz="5400" spc="50" dirty="0">
                <a:solidFill>
                  <a:srgbClr val="202A3E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en-US" sz="5400" spc="50" dirty="0">
                <a:solidFill>
                  <a:srgbClr val="202A3E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Pretendard ExtraBold" panose="02000903000000020004" pitchFamily="50" charset="-127"/>
              </a:rPr>
              <a:t>모델</a:t>
            </a:r>
            <a:endParaRPr lang="en-US" sz="5400" spc="50" dirty="0">
              <a:solidFill>
                <a:srgbClr val="202A3E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  <a:cs typeface="Pretendard ExtraBold" panose="02000903000000020004" pitchFamily="50" charset="-127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alphaModFix amt="79000"/>
          </a:blip>
          <a:stretch>
            <a:fillRect/>
          </a:stretch>
        </p:blipFill>
        <p:spPr>
          <a:xfrm rot="8785357">
            <a:off x="9531350" y="2101850"/>
            <a:ext cx="1333500" cy="3568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52000"/>
          </a:blip>
          <a:stretch>
            <a:fillRect/>
          </a:stretch>
        </p:blipFill>
        <p:spPr>
          <a:xfrm rot="7657234">
            <a:off x="8102600" y="2616200"/>
            <a:ext cx="2000250" cy="3568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 rot="6669180">
            <a:off x="6369050" y="4051300"/>
            <a:ext cx="914400" cy="3390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>
            <a:alphaModFix amt="49000"/>
          </a:blip>
          <a:stretch>
            <a:fillRect/>
          </a:stretch>
        </p:blipFill>
        <p:spPr>
          <a:xfrm rot="14083532">
            <a:off x="9112250" y="1136650"/>
            <a:ext cx="2743200" cy="196215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>
            <a:alphaModFix amt="49000"/>
          </a:blip>
          <a:stretch>
            <a:fillRect/>
          </a:stretch>
        </p:blipFill>
        <p:spPr>
          <a:xfrm rot="4929301">
            <a:off x="5778500" y="5721350"/>
            <a:ext cx="2743200" cy="19621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495300" y="2927350"/>
            <a:ext cx="3695700" cy="571500"/>
          </a:xfrm>
          <a:prstGeom prst="rect">
            <a:avLst/>
          </a:prstGeom>
        </p:spPr>
        <p:txBody>
          <a:bodyPr lIns="0" tIns="22352" rIns="0" bIns="0" rtlCol="0" anchor="t"/>
          <a:lstStyle/>
          <a:p>
            <a:pPr lvl="0" algn="l">
              <a:lnSpc>
                <a:spcPct val="107070"/>
              </a:lnSpc>
            </a:pPr>
            <a:r>
              <a:rPr lang="ko-KR" altLang="en-US" sz="300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종합설계프로젝트 </a:t>
            </a:r>
            <a:r>
              <a:rPr lang="en-US" altLang="ko-KR" sz="300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6</a:t>
            </a:r>
            <a:r>
              <a:rPr lang="ko-KR" altLang="en-US" sz="300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조</a:t>
            </a:r>
            <a:endParaRPr lang="en-US" sz="3000" dirty="0">
              <a:solidFill>
                <a:srgbClr val="202A3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B8620-8EB8-31B3-6E3A-85FF90CD3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11414E6-7E22-65C7-A84A-6061E791464A}"/>
              </a:ext>
            </a:extLst>
          </p:cNvPr>
          <p:cNvSpPr txBox="1"/>
          <p:nvPr/>
        </p:nvSpPr>
        <p:spPr>
          <a:xfrm>
            <a:off x="514350" y="314637"/>
            <a:ext cx="2587665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Pipeline</a:t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3B21766E-55F7-2C36-70FD-4C886C8D753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713BBB68-1F1B-44F0-99B6-EA4F39653C0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C5477D1-F820-6ACC-9B9E-56430084B5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04950" y="1232605"/>
            <a:ext cx="9182100" cy="516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790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780CC-C326-8D79-3F33-72219DE51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02F53D3-41E7-2410-3F31-A41B6BD63443}"/>
              </a:ext>
            </a:extLst>
          </p:cNvPr>
          <p:cNvSpPr txBox="1"/>
          <p:nvPr/>
        </p:nvSpPr>
        <p:spPr>
          <a:xfrm>
            <a:off x="514350" y="314637"/>
            <a:ext cx="2587665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Pipeline</a:t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E4D09CD9-FD12-6B9E-778C-A556B64BDDC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2B8BC640-D965-0DB3-E698-434EE949203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41E9A29-332E-5B79-A2CE-1C6EE4F171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2246" y="987274"/>
            <a:ext cx="8487508" cy="5658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358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0C539-3BF9-F6EA-92C5-A35C5FC25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3911EE9-46CE-CE79-9595-2584950EB688}"/>
              </a:ext>
            </a:extLst>
          </p:cNvPr>
          <p:cNvSpPr txBox="1"/>
          <p:nvPr/>
        </p:nvSpPr>
        <p:spPr>
          <a:xfrm>
            <a:off x="514350" y="314637"/>
            <a:ext cx="2587665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Results</a:t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D7A7D00C-1599-C99D-37E4-96E1C70F7C1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77F6799A-9EA9-F412-7F01-ABD4D0C222F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F883C3AE-9075-65F7-D701-75824F987D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301618"/>
              </p:ext>
            </p:extLst>
          </p:nvPr>
        </p:nvGraphicFramePr>
        <p:xfrm>
          <a:off x="821158" y="1457656"/>
          <a:ext cx="10549683" cy="1543050"/>
        </p:xfrm>
        <a:graphic>
          <a:graphicData uri="http://schemas.openxmlformats.org/drawingml/2006/table">
            <a:tbl>
              <a:tblPr/>
              <a:tblGrid>
                <a:gridCol w="2733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5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5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53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Target</a:t>
                      </a: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7C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Within-wafer std</a:t>
                      </a: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Between-wafer std</a:t>
                      </a: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Spatial baseline R²</a:t>
                      </a: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Si_etch</a:t>
                      </a:r>
                      <a:endParaRPr lang="en-US" b="0" dirty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C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l-GR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3.61 μ</a:t>
                      </a:r>
                      <a:r>
                        <a:rPr 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 (99%)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l-GR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0.40 μ</a:t>
                      </a:r>
                      <a:r>
                        <a:rPr 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 (1%)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0.985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Oxide_etch</a:t>
                      </a:r>
                      <a:endParaRPr lang="en-US" b="0" dirty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C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l-GR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0.064 μ</a:t>
                      </a:r>
                      <a:r>
                        <a:rPr 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 (68%)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l-GR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0.044 μ</a:t>
                      </a:r>
                      <a:r>
                        <a:rPr lang="en-US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 (32%)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0.156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45DB962C-3C23-B1DF-A96B-9D1AD47181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4128" y="3196540"/>
            <a:ext cx="8142722" cy="3076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440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7C53A-438F-EE4F-E992-0DF36899B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76A1F52-198C-6DEE-DFD8-6FBB2FFBB610}"/>
              </a:ext>
            </a:extLst>
          </p:cNvPr>
          <p:cNvSpPr txBox="1"/>
          <p:nvPr/>
        </p:nvSpPr>
        <p:spPr>
          <a:xfrm>
            <a:off x="514350" y="314637"/>
            <a:ext cx="2587665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Results</a:t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37E16530-3462-410C-C707-FF6F32675A2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2720949F-D46D-12CE-E670-D558A65555F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FC5BA140-4362-ED57-DCBA-B66757AC57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099619"/>
              </p:ext>
            </p:extLst>
          </p:nvPr>
        </p:nvGraphicFramePr>
        <p:xfrm>
          <a:off x="821159" y="1885950"/>
          <a:ext cx="10549683" cy="3086100"/>
        </p:xfrm>
        <a:graphic>
          <a:graphicData uri="http://schemas.openxmlformats.org/drawingml/2006/table">
            <a:tbl>
              <a:tblPr/>
              <a:tblGrid>
                <a:gridCol w="2733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5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5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53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Model</a:t>
                      </a: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7C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 err="1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Oxide_etch</a:t>
                      </a:r>
                      <a:r>
                        <a:rPr lang="en-US" sz="18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 R²</a:t>
                      </a: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 err="1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Oxide_etch</a:t>
                      </a:r>
                      <a:r>
                        <a:rPr lang="en-US" sz="18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 RMSE</a:t>
                      </a: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 err="1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Si_etch</a:t>
                      </a:r>
                      <a:r>
                        <a:rPr lang="en-US" sz="18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 R²</a:t>
                      </a: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Spatial-mean baseline</a:t>
                      </a: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C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0.156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—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0.985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XGBoost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(5-fold avg)</a:t>
                      </a: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C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0.551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0.0514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0.991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DL OES-only</a:t>
                      </a: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C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0.346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0.0626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0.994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DL Proc-only</a:t>
                      </a: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C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0.641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0.0464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0.995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DL Multimodal ★</a:t>
                      </a:r>
                      <a:endParaRPr lang="en-US" sz="1800" dirty="0">
                        <a:solidFill>
                          <a:schemeClr val="bg1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C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b="1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0.734</a:t>
                      </a:r>
                      <a:endParaRPr lang="ko-KR" altLang="en-US" sz="18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b="1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0.0399</a:t>
                      </a:r>
                      <a:endParaRPr lang="ko-KR" altLang="en-US" sz="18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b="1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0.996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9304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06150C9-1EAC-F078-6FC4-BCB360B869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0423" y="141513"/>
            <a:ext cx="6620095" cy="657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121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018CC-512F-E02B-FF56-AD5D187E1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01718BB-6E4E-19E8-9DE0-4DFEBE94D4B2}"/>
              </a:ext>
            </a:extLst>
          </p:cNvPr>
          <p:cNvSpPr txBox="1"/>
          <p:nvPr/>
        </p:nvSpPr>
        <p:spPr>
          <a:xfrm>
            <a:off x="514350" y="314637"/>
            <a:ext cx="2587665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Results</a:t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6BE39067-C132-C947-870E-90E925EEAB5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3B6BBDF3-CD8C-3277-9C6D-AAF0FD04FD7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D5076D5-8C8F-26AC-5391-CE835B83E2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00" y="1177239"/>
            <a:ext cx="10236200" cy="4884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70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A224F-B684-6A54-5BF2-3909B40F7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C1B623E2-9D3A-BBCC-9E1D-9FE6D3D67C82}"/>
              </a:ext>
            </a:extLst>
          </p:cNvPr>
          <p:cNvSpPr txBox="1"/>
          <p:nvPr/>
        </p:nvSpPr>
        <p:spPr>
          <a:xfrm>
            <a:off x="514350" y="314637"/>
            <a:ext cx="2587665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Results</a:t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0FC1AF6A-BA4E-E2A4-9412-459DF462E92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83A112E4-79BD-8120-03E2-E0B6CAC31CB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3A3B61BB-E7B3-CFDB-E5A4-3273A23EB06A}"/>
              </a:ext>
            </a:extLst>
          </p:cNvPr>
          <p:cNvGrpSpPr/>
          <p:nvPr/>
        </p:nvGrpSpPr>
        <p:grpSpPr>
          <a:xfrm>
            <a:off x="3102015" y="650955"/>
            <a:ext cx="8056578" cy="5967396"/>
            <a:chOff x="3102015" y="650955"/>
            <a:chExt cx="8056578" cy="5967396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09F32294-9ACC-5088-C9B2-FF1DC0EA8817}"/>
                </a:ext>
              </a:extLst>
            </p:cNvPr>
            <p:cNvGrpSpPr/>
            <p:nvPr/>
          </p:nvGrpSpPr>
          <p:grpSpPr>
            <a:xfrm>
              <a:off x="3102015" y="650955"/>
              <a:ext cx="5150909" cy="5967396"/>
              <a:chOff x="5058273" y="650955"/>
              <a:chExt cx="5150909" cy="5967396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68AAD528-4EA8-1D8A-7ABA-55C9E840AC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058273" y="650955"/>
                <a:ext cx="5150909" cy="1951102"/>
              </a:xfrm>
              <a:prstGeom prst="rect">
                <a:avLst/>
              </a:prstGeom>
            </p:spPr>
          </p:pic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4DCAF5C2-B0DE-A80D-6C60-6FCAEEB545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058273" y="2659103"/>
                <a:ext cx="5150909" cy="1951101"/>
              </a:xfrm>
              <a:prstGeom prst="rect">
                <a:avLst/>
              </a:prstGeom>
            </p:spPr>
          </p:pic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A5354EC4-CBA7-8343-84D6-F138881E13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058273" y="4667250"/>
                <a:ext cx="5150909" cy="1951101"/>
              </a:xfrm>
              <a:prstGeom prst="rect">
                <a:avLst/>
              </a:prstGeom>
            </p:spPr>
          </p:pic>
        </p:grpSp>
        <p:sp>
          <p:nvSpPr>
            <p:cNvPr id="12" name="Text 0">
              <a:extLst>
                <a:ext uri="{FF2B5EF4-FFF2-40B4-BE49-F238E27FC236}">
                  <a16:creationId xmlns:a16="http://schemas.microsoft.com/office/drawing/2014/main" id="{8CBE1108-E49A-E00B-0FB0-01987157B41D}"/>
                </a:ext>
              </a:extLst>
            </p:cNvPr>
            <p:cNvSpPr/>
            <p:nvPr/>
          </p:nvSpPr>
          <p:spPr>
            <a:xfrm>
              <a:off x="8534488" y="1397906"/>
              <a:ext cx="262410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2400" dirty="0" err="1">
                  <a:solidFill>
                    <a:srgbClr val="1A2744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OES_only</a:t>
              </a:r>
              <a:endPara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3" name="Text 0">
              <a:extLst>
                <a:ext uri="{FF2B5EF4-FFF2-40B4-BE49-F238E27FC236}">
                  <a16:creationId xmlns:a16="http://schemas.microsoft.com/office/drawing/2014/main" id="{1B2884AF-6A5D-583E-8D03-AA628FE7C9BF}"/>
                </a:ext>
              </a:extLst>
            </p:cNvPr>
            <p:cNvSpPr/>
            <p:nvPr/>
          </p:nvSpPr>
          <p:spPr>
            <a:xfrm>
              <a:off x="8534488" y="5414200"/>
              <a:ext cx="262410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2400" dirty="0" err="1">
                  <a:solidFill>
                    <a:srgbClr val="1A2744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OES+process</a:t>
              </a:r>
              <a:endPara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4" name="Text 0">
              <a:extLst>
                <a:ext uri="{FF2B5EF4-FFF2-40B4-BE49-F238E27FC236}">
                  <a16:creationId xmlns:a16="http://schemas.microsoft.com/office/drawing/2014/main" id="{3EEF854A-75AE-6C96-F62B-D90A1C78F035}"/>
                </a:ext>
              </a:extLst>
            </p:cNvPr>
            <p:cNvSpPr/>
            <p:nvPr/>
          </p:nvSpPr>
          <p:spPr>
            <a:xfrm>
              <a:off x="8534488" y="3406053"/>
              <a:ext cx="262410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2400" dirty="0" err="1">
                  <a:solidFill>
                    <a:srgbClr val="1A2744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process_only</a:t>
              </a:r>
              <a:endPara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1575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19A-4252-992B-311C-842A295FF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1A2D959-AF9F-E14D-F46B-656A417EDD37}"/>
              </a:ext>
            </a:extLst>
          </p:cNvPr>
          <p:cNvSpPr txBox="1"/>
          <p:nvPr/>
        </p:nvSpPr>
        <p:spPr>
          <a:xfrm>
            <a:off x="514350" y="314637"/>
            <a:ext cx="7346950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altLang="ko-KR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Limitations &amp; Further Study</a:t>
            </a:r>
            <a:endParaRPr lang="en-US" sz="4000" spc="50" dirty="0">
              <a:solidFill>
                <a:srgbClr val="202A3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5E637D4E-F401-7400-5E72-73A1AFFB882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5386D4B4-3E23-0BE5-6DBF-5BF0C39A324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1A3B7EF-C57A-20E3-E96A-AF8657B79A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023231"/>
              </p:ext>
            </p:extLst>
          </p:nvPr>
        </p:nvGraphicFramePr>
        <p:xfrm>
          <a:off x="558799" y="1459832"/>
          <a:ext cx="11074401" cy="4636169"/>
        </p:xfrm>
        <a:graphic>
          <a:graphicData uri="http://schemas.openxmlformats.org/drawingml/2006/table">
            <a:tbl>
              <a:tblPr/>
              <a:tblGrid>
                <a:gridCol w="3691467">
                  <a:extLst>
                    <a:ext uri="{9D8B030D-6E8A-4147-A177-3AD203B41FA5}">
                      <a16:colId xmlns:a16="http://schemas.microsoft.com/office/drawing/2014/main" val="1787151173"/>
                    </a:ext>
                  </a:extLst>
                </a:gridCol>
                <a:gridCol w="3691467">
                  <a:extLst>
                    <a:ext uri="{9D8B030D-6E8A-4147-A177-3AD203B41FA5}">
                      <a16:colId xmlns:a16="http://schemas.microsoft.com/office/drawing/2014/main" val="3682823545"/>
                    </a:ext>
                  </a:extLst>
                </a:gridCol>
                <a:gridCol w="3691467">
                  <a:extLst>
                    <a:ext uri="{9D8B030D-6E8A-4147-A177-3AD203B41FA5}">
                      <a16:colId xmlns:a16="http://schemas.microsoft.com/office/drawing/2014/main" val="264433448"/>
                    </a:ext>
                  </a:extLst>
                </a:gridCol>
              </a:tblGrid>
              <a:tr h="5107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 b="1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현재 한계점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 b="1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주요 근거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 b="1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향후 연구 계획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333689"/>
                  </a:ext>
                </a:extLst>
              </a:tr>
              <a:tr h="8250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b="1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si_etch</a:t>
                      </a:r>
                      <a:r>
                        <a:rPr lang="en-US" altLang="ko-KR" b="1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ko-KR" altLang="en-US" b="1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성능 지표의 한계</a:t>
                      </a:r>
                      <a:endParaRPr lang="ko-KR" altLang="en-US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Spatial baseline</a:t>
                      </a:r>
                      <a:r>
                        <a:rPr lang="ko-KR" alt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만으로도 </a:t>
                      </a:r>
                      <a:r>
                        <a:rPr 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R² = 0.985 </a:t>
                      </a:r>
                      <a:r>
                        <a:rPr lang="ko-KR" alt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도달</a:t>
                      </a:r>
                      <a:r>
                        <a:rPr lang="en-US" altLang="ko-KR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DL </a:t>
                      </a:r>
                      <a:r>
                        <a:rPr lang="ko-KR" alt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모델도 </a:t>
                      </a:r>
                      <a:r>
                        <a:rPr 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R² = 0.996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si_etch</a:t>
                      </a:r>
                      <a:r>
                        <a:rPr lang="ko-KR" alt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보다는 </a:t>
                      </a:r>
                      <a:r>
                        <a:rPr lang="en-US" altLang="ko-KR" b="1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oxide_etch</a:t>
                      </a:r>
                      <a:r>
                        <a:rPr lang="en-US" altLang="ko-KR" b="1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ko-KR" altLang="en-US" b="1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중심 성능 개선</a:t>
                      </a:r>
                      <a:r>
                        <a:rPr lang="ko-KR" alt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에 집중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720669"/>
                  </a:ext>
                </a:extLst>
              </a:tr>
              <a:tr h="8250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b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OES </a:t>
                      </a:r>
                      <a:r>
                        <a:rPr lang="ko-KR" altLang="en-US" b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정보 활용도 부족</a:t>
                      </a:r>
                      <a:endParaRPr lang="ko-KR" altLang="en-US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DL OES-only R² = 0.346, </a:t>
                      </a:r>
                      <a:r>
                        <a:rPr lang="en-US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XGBoost</a:t>
                      </a:r>
                      <a:r>
                        <a:rPr 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0.551</a:t>
                      </a:r>
                      <a:r>
                        <a:rPr lang="ko-KR" alt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보다 낮음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중요도 분석 기반 </a:t>
                      </a:r>
                      <a:r>
                        <a:rPr lang="en-US" b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OES/process/cycle feature engineering</a:t>
                      </a:r>
                      <a:endParaRPr lang="en-US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331539"/>
                  </a:ext>
                </a:extLst>
              </a:tr>
              <a:tr h="8250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모델 복잡도 대비 데이터 규모 제한</a:t>
                      </a:r>
                      <a:endParaRPr lang="ko-KR" altLang="en-US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7,832 samples, fold</a:t>
                      </a:r>
                      <a:r>
                        <a:rPr lang="ko-KR" alt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별 </a:t>
                      </a:r>
                      <a:r>
                        <a:rPr 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train </a:t>
                      </a:r>
                      <a:r>
                        <a:rPr lang="ko-KR" alt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약 </a:t>
                      </a:r>
                      <a:r>
                        <a:rPr lang="en-US" altLang="ko-KR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6,200 </a:t>
                      </a:r>
                      <a:r>
                        <a:rPr 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samples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hyperparameter tuning</a:t>
                      </a:r>
                      <a:r>
                        <a:rPr 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dropout/regularization </a:t>
                      </a:r>
                      <a:r>
                        <a:rPr lang="ko-KR" alt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적용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986646"/>
                  </a:ext>
                </a:extLst>
              </a:tr>
              <a:tr h="8250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과적합</a:t>
                      </a:r>
                      <a:r>
                        <a:rPr lang="ko-KR" altLang="en-US" b="1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진단 부족</a:t>
                      </a:r>
                      <a:endParaRPr lang="ko-KR" altLang="en-US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Train-Val loss gap </a:t>
                      </a:r>
                      <a:r>
                        <a:rPr lang="ko-KR" altLang="en-US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분석 미수행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training/validation loss curve </a:t>
                      </a:r>
                      <a:r>
                        <a:rPr lang="ko-KR" alt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분석 및 </a:t>
                      </a:r>
                      <a:r>
                        <a:rPr 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early stopping </a:t>
                      </a:r>
                      <a:r>
                        <a:rPr lang="ko-KR" alt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적용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095157"/>
                  </a:ext>
                </a:extLst>
              </a:tr>
              <a:tr h="8250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b="1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Lot </a:t>
                      </a:r>
                      <a:r>
                        <a:rPr lang="ko-KR" altLang="en-US" b="1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단위 일반화 검증 부족</a:t>
                      </a:r>
                      <a:endParaRPr lang="ko-KR" altLang="en-US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현재는 </a:t>
                      </a:r>
                      <a:r>
                        <a:rPr lang="en-US" altLang="ko-KR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wafer </a:t>
                      </a:r>
                      <a:r>
                        <a:rPr lang="ko-KR" alt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단위 </a:t>
                      </a:r>
                      <a:r>
                        <a:rPr lang="en-US" altLang="ko-KR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GroupKFold</a:t>
                      </a:r>
                      <a:r>
                        <a:rPr lang="en-US" altLang="ko-KR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ko-KR" alt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중심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Lot-level validation</a:t>
                      </a:r>
                      <a:r>
                        <a:rPr lang="ko-KR" alt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으로 실제 </a:t>
                      </a:r>
                      <a:r>
                        <a:rPr 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production </a:t>
                      </a:r>
                      <a:r>
                        <a:rPr lang="ko-KR" alt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환경 검증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3090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2926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61FE0-30F5-009E-7885-916C19617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9499F7D-AC70-A9D6-5A92-63B0836B4BEA}"/>
              </a:ext>
            </a:extLst>
          </p:cNvPr>
          <p:cNvSpPr txBox="1"/>
          <p:nvPr/>
        </p:nvSpPr>
        <p:spPr>
          <a:xfrm>
            <a:off x="514350" y="314637"/>
            <a:ext cx="7346950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ko-KR" alt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딥러닝 아키텍처 개선방향</a:t>
            </a:r>
            <a:endParaRPr lang="en-US" sz="4000" spc="50" dirty="0">
              <a:solidFill>
                <a:srgbClr val="202A3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9BA61E92-4114-04DE-F237-34BA23A09A2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59F55B55-5708-947C-13F3-23B9F1C7F37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E0D6F39-3C13-3651-6FA6-16284E41C4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013712"/>
              </p:ext>
            </p:extLst>
          </p:nvPr>
        </p:nvGraphicFramePr>
        <p:xfrm>
          <a:off x="514350" y="1206542"/>
          <a:ext cx="11074401" cy="5531142"/>
        </p:xfrm>
        <a:graphic>
          <a:graphicData uri="http://schemas.openxmlformats.org/drawingml/2006/table">
            <a:tbl>
              <a:tblPr/>
              <a:tblGrid>
                <a:gridCol w="3691467">
                  <a:extLst>
                    <a:ext uri="{9D8B030D-6E8A-4147-A177-3AD203B41FA5}">
                      <a16:colId xmlns:a16="http://schemas.microsoft.com/office/drawing/2014/main" val="1787151173"/>
                    </a:ext>
                  </a:extLst>
                </a:gridCol>
                <a:gridCol w="3691467">
                  <a:extLst>
                    <a:ext uri="{9D8B030D-6E8A-4147-A177-3AD203B41FA5}">
                      <a16:colId xmlns:a16="http://schemas.microsoft.com/office/drawing/2014/main" val="3682823545"/>
                    </a:ext>
                  </a:extLst>
                </a:gridCol>
                <a:gridCol w="3691467">
                  <a:extLst>
                    <a:ext uri="{9D8B030D-6E8A-4147-A177-3AD203B41FA5}">
                      <a16:colId xmlns:a16="http://schemas.microsoft.com/office/drawing/2014/main" val="264433448"/>
                    </a:ext>
                  </a:extLst>
                </a:gridCol>
              </a:tblGrid>
              <a:tr h="4361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 b="1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현재 한계점</a:t>
                      </a:r>
                      <a:endParaRPr lang="ko-KR" altLang="en-US" sz="2000" b="1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 b="1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주요 근거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 b="1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향후 연구 계획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333689"/>
                  </a:ext>
                </a:extLst>
              </a:tr>
              <a:tr h="10064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레이블 데이터 부족</a:t>
                      </a:r>
                      <a:r>
                        <a:rPr lang="en-US" altLang="ko-KR" b="1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b="1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웨이퍼 </a:t>
                      </a:r>
                      <a:r>
                        <a:rPr lang="en-US" altLang="ko-KR" b="1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88</a:t>
                      </a:r>
                      <a:r>
                        <a:rPr lang="ko-KR" altLang="en-US" b="1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개</a:t>
                      </a:r>
                      <a:r>
                        <a:rPr lang="en-US" altLang="ko-KR" b="1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0" dirty="0"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하지만 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OES 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자체 데이터 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14,744 × 3,648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은 레이블 없이도 풍부하게 존재</a:t>
                      </a:r>
                      <a:endParaRPr lang="en-US" b="0" dirty="0">
                        <a:latin typeface="Pretendard Light" panose="020B0600000101010101" charset="-127"/>
                        <a:ea typeface="Pretendard Light" panose="020B0600000101010101" charset="-127"/>
                        <a:cs typeface="Pretendard Light" panose="020B0600000101010101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자기지도학습 사전훈련 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— Mask-and-Reconstruct  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또는 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Contrastive Learning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으로 인코더 사전훈련</a:t>
                      </a:r>
                      <a:endParaRPr lang="ko-KR" altLang="en-US" b="0" dirty="0">
                        <a:latin typeface="Pretendard Light" panose="020B0600000101010101" charset="-127"/>
                        <a:ea typeface="Pretendard Light" panose="020B0600000101010101" charset="-127"/>
                        <a:cs typeface="Pretendard Light" panose="020B0600000101010101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720669"/>
                  </a:ext>
                </a:extLst>
              </a:tr>
              <a:tr h="9476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예측 불확실성 정량화 부재</a:t>
                      </a: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현재 모델은 점 예측만 출력</a:t>
                      </a:r>
                      <a:r>
                        <a:rPr lang="en-US" altLang="ko-KR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,</a:t>
                      </a:r>
                      <a:r>
                        <a:rPr lang="ko-KR" altLang="en-US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 배포 시 신뢰구간 필요</a:t>
                      </a: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MC </a:t>
                      </a:r>
                      <a:r>
                        <a:rPr lang="en-US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Dropout/Conformal Prediction </a:t>
                      </a:r>
                    </a:p>
                    <a:p>
                      <a:pPr algn="ctr">
                        <a:buNone/>
                      </a:pPr>
                      <a:r>
                        <a:rPr lang="en-US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— </a:t>
                      </a:r>
                      <a:r>
                        <a:rPr lang="ko-KR" altLang="en-US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예측 </a:t>
                      </a:r>
                      <a:r>
                        <a:rPr lang="en-US" altLang="ko-KR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+ </a:t>
                      </a:r>
                      <a:r>
                        <a:rPr lang="ko-KR" altLang="en-US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신뢰구간 동시 출력</a:t>
                      </a: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331539"/>
                  </a:ext>
                </a:extLst>
              </a:tr>
              <a:tr h="17906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사이클 중요도 해석 불가</a:t>
                      </a: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 err="1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BiLSTM</a:t>
                      </a:r>
                      <a:r>
                        <a:rPr lang="en-US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 + Mean Pool </a:t>
                      </a:r>
                      <a:r>
                        <a:rPr lang="ko-KR" altLang="en-US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구조는 </a:t>
                      </a:r>
                      <a:r>
                        <a:rPr lang="en-US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gradient attribution</a:t>
                      </a:r>
                      <a:r>
                        <a:rPr lang="ko-KR" altLang="en-US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에 의존</a:t>
                      </a:r>
                      <a:r>
                        <a:rPr lang="en-US" altLang="ko-KR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, </a:t>
                      </a:r>
                      <a:r>
                        <a:rPr lang="ko-KR" altLang="en-US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해석 한계</a:t>
                      </a: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Transformer + Cycle Positional</a:t>
                      </a:r>
                      <a:r>
                        <a:rPr lang="ko-KR" altLang="en-US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 </a:t>
                      </a:r>
                      <a:r>
                        <a:rPr lang="en-US" altLang="ko-KR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Encoding</a:t>
                      </a:r>
                      <a:r>
                        <a:rPr lang="ko-KR" altLang="en-US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으로 </a:t>
                      </a:r>
                      <a:r>
                        <a:rPr lang="en-US" b="0" dirty="0" err="1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BiLSTM</a:t>
                      </a:r>
                      <a:r>
                        <a:rPr lang="en-US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 </a:t>
                      </a:r>
                      <a:r>
                        <a:rPr lang="ko-KR" altLang="en-US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대체 </a:t>
                      </a:r>
                      <a:r>
                        <a:rPr lang="en-US" altLang="ko-KR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— </a:t>
                      </a:r>
                      <a:r>
                        <a:rPr lang="en-US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Attention weight</a:t>
                      </a:r>
                      <a:r>
                        <a:rPr lang="ko-KR" altLang="en-US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가 사이클 중요도 직접 제공</a:t>
                      </a:r>
                      <a:br>
                        <a:rPr lang="en-US" altLang="ko-KR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</a:br>
                      <a:r>
                        <a:rPr lang="en-US" altLang="ko-KR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(</a:t>
                      </a:r>
                      <a:r>
                        <a:rPr lang="ko-KR" altLang="en-US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단</a:t>
                      </a:r>
                      <a:r>
                        <a:rPr lang="en-US" altLang="ko-KR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, </a:t>
                      </a:r>
                      <a:r>
                        <a:rPr lang="ko-KR" altLang="en-US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데이터셋이 작아서 </a:t>
                      </a:r>
                      <a:r>
                        <a:rPr lang="en-US" altLang="ko-KR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Transformer </a:t>
                      </a:r>
                      <a:r>
                        <a:rPr lang="ko-KR" altLang="en-US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학습이 어려울 수 있음 → 자기지도 사전학습과 연계 필요</a:t>
                      </a:r>
                      <a:r>
                        <a:rPr lang="en-US" altLang="ko-KR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)</a:t>
                      </a:r>
                      <a:endParaRPr lang="ko-KR" altLang="en-US" b="0" dirty="0">
                        <a:effectLst/>
                        <a:latin typeface="Pretendard Light" panose="020B0600000101010101" charset="-127"/>
                        <a:ea typeface="Pretendard Light" panose="020B0600000101010101" charset="-127"/>
                        <a:cs typeface="Pretendard Light" panose="020B0600000101010101" charset="-127"/>
                      </a:endParaRP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986646"/>
                  </a:ext>
                </a:extLst>
              </a:tr>
              <a:tr h="9476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물리적 제약 </a:t>
                      </a:r>
                      <a:r>
                        <a:rPr lang="ko-KR" altLang="en-US" b="1" dirty="0" err="1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미반영</a:t>
                      </a:r>
                      <a:endParaRPr lang="ko-KR" altLang="en-US" b="1" dirty="0">
                        <a:effectLst/>
                        <a:latin typeface="Pretendard Light" panose="020B0600000101010101" charset="-127"/>
                        <a:ea typeface="Pretendard Light" panose="020B0600000101010101" charset="-127"/>
                        <a:cs typeface="Pretendard Light" panose="020B0600000101010101" charset="-127"/>
                      </a:endParaRP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식각 깊이 단조증가 등 알려진 물리 법칙이 </a:t>
                      </a:r>
                      <a:r>
                        <a:rPr lang="en-US" altLang="ko-KR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Loss</a:t>
                      </a:r>
                      <a:r>
                        <a:rPr lang="ko-KR" altLang="en-US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에 반영 안 됨</a:t>
                      </a: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Physics-informed </a:t>
                      </a:r>
                      <a:r>
                        <a:rPr lang="ko-KR" altLang="en-US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제약 </a:t>
                      </a:r>
                      <a:r>
                        <a:rPr lang="en-US" altLang="ko-KR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— </a:t>
                      </a:r>
                      <a:r>
                        <a:rPr lang="ko-KR" altLang="en-US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단조증가 </a:t>
                      </a:r>
                      <a:r>
                        <a:rPr lang="en-US" altLang="ko-KR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/ </a:t>
                      </a:r>
                      <a:r>
                        <a:rPr lang="en-US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Smoothness regularization / F·CF </a:t>
                      </a:r>
                      <a:r>
                        <a:rPr lang="ko-KR" altLang="en-US" b="0" dirty="0">
                          <a:effectLst/>
                          <a:latin typeface="Pretendard Light" panose="020B0600000101010101" charset="-127"/>
                          <a:ea typeface="Pretendard Light" panose="020B0600000101010101" charset="-127"/>
                          <a:cs typeface="Pretendard Light" panose="020B0600000101010101" charset="-127"/>
                        </a:rPr>
                        <a:t>화학 관계</a:t>
                      </a: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095157"/>
                  </a:ext>
                </a:extLst>
              </a:tr>
              <a:tr h="4025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3090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7309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64B2-1052-9497-7C78-6CA136481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6CCAFEC0-F9B0-4EF4-D34D-6BDF5AE38A52}"/>
              </a:ext>
            </a:extLst>
          </p:cNvPr>
          <p:cNvSpPr txBox="1"/>
          <p:nvPr/>
        </p:nvSpPr>
        <p:spPr>
          <a:xfrm>
            <a:off x="514350" y="314637"/>
            <a:ext cx="7346950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ko-KR" alt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딥러닝 아키텍처 개선방향</a:t>
            </a:r>
            <a:endParaRPr lang="en-US" sz="4000" spc="50" dirty="0">
              <a:solidFill>
                <a:srgbClr val="202A3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01B98270-384A-F9AA-3142-6D5EF67AD39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832A364A-56D6-B205-9E9D-4F12A1940F1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8559180-C1AC-F3F5-7EA2-EFBD908461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1900" y="1069896"/>
            <a:ext cx="9728200" cy="547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188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13431-ECAF-1F1E-437E-DDF7301E5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1D6A39A-2D41-D055-045A-352ACF2C0353}"/>
              </a:ext>
            </a:extLst>
          </p:cNvPr>
          <p:cNvSpPr txBox="1"/>
          <p:nvPr/>
        </p:nvSpPr>
        <p:spPr>
          <a:xfrm>
            <a:off x="514350" y="314637"/>
            <a:ext cx="7346950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Application</a:t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71ABE9FA-00E8-0E0D-BCC3-E54465A9997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C55E8FE9-0773-9406-C2FE-9027497F560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AF4B21BE-082B-3ACB-94E2-C4137EEE17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329" y="3859005"/>
            <a:ext cx="5563554" cy="2454985"/>
          </a:xfrm>
          <a:prstGeom prst="rect">
            <a:avLst/>
          </a:prstGeom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53DC8016-F3E6-23B7-67D6-B7C029590D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8116" y="3859005"/>
            <a:ext cx="5563554" cy="2454985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9A390151-3DFA-EC2F-DB42-5186555CDD12}"/>
              </a:ext>
            </a:extLst>
          </p:cNvPr>
          <p:cNvGrpSpPr/>
          <p:nvPr/>
        </p:nvGrpSpPr>
        <p:grpSpPr>
          <a:xfrm>
            <a:off x="420329" y="1116849"/>
            <a:ext cx="5563554" cy="2454985"/>
            <a:chOff x="420329" y="1116849"/>
            <a:chExt cx="5563554" cy="2454985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28B3FABE-6EF7-0F36-1E7E-A62296F93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0329" y="1116849"/>
              <a:ext cx="5563554" cy="245498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643D2AB-E807-D416-4664-3B956FE6EF39}"/>
                </a:ext>
              </a:extLst>
            </p:cNvPr>
            <p:cNvSpPr txBox="1"/>
            <p:nvPr/>
          </p:nvSpPr>
          <p:spPr>
            <a:xfrm>
              <a:off x="467340" y="1744177"/>
              <a:ext cx="5469533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800" b="1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1. 공정 모니터링 / 이상 탐지</a:t>
              </a:r>
            </a:p>
            <a:p>
              <a:r>
                <a:rPr lang="ko-KR" altLang="en-US" sz="1800" dirty="0">
                  <a:latin typeface="Pretendard Light" panose="020B0600000101010101" charset="-127"/>
                  <a:ea typeface="Pretendard Light" panose="020B0600000101010101" charset="-127"/>
                  <a:cs typeface="Pretendard Light" panose="020B0600000101010101" charset="-127"/>
                </a:rPr>
                <a:t>실시간 식각 깊이 예측으로 </a:t>
              </a:r>
              <a:r>
                <a:rPr lang="ko-KR" altLang="en-US" sz="1800" dirty="0" err="1">
                  <a:latin typeface="Pretendard Light" panose="020B0600000101010101" charset="-127"/>
                  <a:ea typeface="Pretendard Light" panose="020B0600000101010101" charset="-127"/>
                  <a:cs typeface="Pretendard Light" panose="020B0600000101010101" charset="-127"/>
                </a:rPr>
                <a:t>후공정</a:t>
              </a:r>
              <a:r>
                <a:rPr lang="ko-KR" altLang="en-US" sz="1800" dirty="0">
                  <a:latin typeface="Pretendard Light" panose="020B0600000101010101" charset="-127"/>
                  <a:ea typeface="Pretendard Light" panose="020B0600000101010101" charset="-127"/>
                  <a:cs typeface="Pretendard Light" panose="020B0600000101010101" charset="-127"/>
                </a:rPr>
                <a:t> 전 불량 웨이퍼 조기 발견</a:t>
              </a:r>
            </a:p>
            <a:p>
              <a:r>
                <a:rPr lang="ko-KR" altLang="en-US" sz="1800" dirty="0">
                  <a:latin typeface="Pretendard Light" panose="020B0600000101010101" charset="-127"/>
                  <a:ea typeface="Pretendard Light" panose="020B0600000101010101" charset="-127"/>
                  <a:cs typeface="Pretendard Light" panose="020B0600000101010101" charset="-127"/>
                </a:rPr>
                <a:t>장비 </a:t>
              </a:r>
              <a:r>
                <a:rPr lang="ko-KR" altLang="en-US" sz="1800" dirty="0" err="1">
                  <a:latin typeface="Pretendard Light" panose="020B0600000101010101" charset="-127"/>
                  <a:ea typeface="Pretendard Light" panose="020B0600000101010101" charset="-127"/>
                  <a:cs typeface="Pretendard Light" panose="020B0600000101010101" charset="-127"/>
                </a:rPr>
                <a:t>드리프트</a:t>
              </a:r>
              <a:r>
                <a:rPr lang="ko-KR" altLang="en-US" sz="1800" dirty="0">
                  <a:latin typeface="Pretendard Light" panose="020B0600000101010101" charset="-127"/>
                  <a:ea typeface="Pretendard Light" panose="020B0600000101010101" charset="-127"/>
                  <a:cs typeface="Pretendard Light" panose="020B0600000101010101" charset="-127"/>
                </a:rPr>
                <a:t>(챔버 오염, 전극 마모) 자동 감지</a:t>
              </a:r>
            </a:p>
            <a:p>
              <a:r>
                <a:rPr lang="ko-KR" altLang="en-US" sz="1800" dirty="0">
                  <a:latin typeface="Pretendard Light" panose="020B0600000101010101" charset="-127"/>
                  <a:ea typeface="Pretendard Light" panose="020B0600000101010101" charset="-127"/>
                  <a:cs typeface="Pretendard Light" panose="020B0600000101010101" charset="-127"/>
                </a:rPr>
                <a:t>예측 신뢰구간 이탈 시 알람 → 작업자 개입 최소화</a:t>
              </a:r>
              <a:endParaRPr lang="en-US" altLang="ko-KR" sz="18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6172782-A85A-76BF-7E23-3D3192D31EDA}"/>
              </a:ext>
            </a:extLst>
          </p:cNvPr>
          <p:cNvGrpSpPr/>
          <p:nvPr/>
        </p:nvGrpSpPr>
        <p:grpSpPr>
          <a:xfrm>
            <a:off x="6208116" y="1116849"/>
            <a:ext cx="5563554" cy="2454985"/>
            <a:chOff x="6208116" y="1116849"/>
            <a:chExt cx="5563554" cy="245498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4018C36-77A5-83CA-7620-7427DF0DD8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08116" y="1116849"/>
              <a:ext cx="5563554" cy="2454985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4A9EB5F-D42C-5E2F-1CE8-BDF0B4E36624}"/>
                </a:ext>
              </a:extLst>
            </p:cNvPr>
            <p:cNvSpPr txBox="1"/>
            <p:nvPr/>
          </p:nvSpPr>
          <p:spPr>
            <a:xfrm>
              <a:off x="6208116" y="1605677"/>
              <a:ext cx="5563554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800" b="1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2. 가상 계측</a:t>
              </a:r>
            </a:p>
            <a:p>
              <a:r>
                <a:rPr lang="ko-KR" altLang="en-US" sz="1800" dirty="0">
                  <a:latin typeface="Pretendard Light" panose="020B0600000101010101" charset="-127"/>
                  <a:ea typeface="Pretendard Light" panose="020B0600000101010101" charset="-127"/>
                  <a:cs typeface="Pretendard Light" panose="020B0600000101010101" charset="-127"/>
                </a:rPr>
                <a:t>SEM 등 장비로 하는 물리 측정을 모델 예측으로 대체 </a:t>
              </a:r>
              <a:endParaRPr lang="en-US" altLang="ko-KR" sz="18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endParaRPr>
            </a:p>
            <a:p>
              <a:r>
                <a:rPr lang="en-US" altLang="ko-KR" dirty="0">
                  <a:latin typeface="Pretendard Light" panose="020B0600000101010101" charset="-127"/>
                  <a:ea typeface="Pretendard Light" panose="020B0600000101010101" charset="-127"/>
                  <a:cs typeface="Pretendard Light" panose="020B0600000101010101" charset="-127"/>
                </a:rPr>
                <a:t> </a:t>
              </a:r>
              <a:r>
                <a:rPr lang="ko-KR" altLang="en-US" sz="1800" dirty="0">
                  <a:latin typeface="Pretendard Light" panose="020B0600000101010101" charset="-127"/>
                  <a:ea typeface="Pretendard Light" panose="020B0600000101010101" charset="-127"/>
                  <a:cs typeface="Pretendard Light" panose="020B0600000101010101" charset="-127"/>
                </a:rPr>
                <a:t>→ 측정 </a:t>
              </a:r>
              <a:r>
                <a:rPr lang="ko-KR" altLang="en-US" sz="1800" dirty="0" err="1">
                  <a:latin typeface="Pretendard Light" panose="020B0600000101010101" charset="-127"/>
                  <a:ea typeface="Pretendard Light" panose="020B0600000101010101" charset="-127"/>
                  <a:cs typeface="Pretendard Light" panose="020B0600000101010101" charset="-127"/>
                </a:rPr>
                <a:t>비용·시간</a:t>
              </a:r>
              <a:r>
                <a:rPr lang="ko-KR" altLang="en-US" sz="1800" dirty="0">
                  <a:latin typeface="Pretendard Light" panose="020B0600000101010101" charset="-127"/>
                  <a:ea typeface="Pretendard Light" panose="020B0600000101010101" charset="-127"/>
                  <a:cs typeface="Pretendard Light" panose="020B0600000101010101" charset="-127"/>
                </a:rPr>
                <a:t> 절감</a:t>
              </a:r>
            </a:p>
            <a:p>
              <a:r>
                <a:rPr lang="ko-KR" altLang="en-US" sz="1800" dirty="0">
                  <a:latin typeface="Pretendard Light" panose="020B0600000101010101" charset="-127"/>
                  <a:ea typeface="Pretendard Light" panose="020B0600000101010101" charset="-127"/>
                  <a:cs typeface="Pretendard Light" panose="020B0600000101010101" charset="-127"/>
                </a:rPr>
                <a:t>전수 측정 불가한 양산 환경에서 모든 웨이퍼 품질 추정 가능</a:t>
              </a:r>
            </a:p>
            <a:p>
              <a:r>
                <a:rPr lang="ko-KR" altLang="en-US" sz="1800" dirty="0" err="1">
                  <a:latin typeface="Pretendard Light" panose="020B0600000101010101" charset="-127"/>
                  <a:ea typeface="Pretendard Light" panose="020B0600000101010101" charset="-127"/>
                  <a:cs typeface="Pretendard Light" panose="020B0600000101010101" charset="-127"/>
                </a:rPr>
                <a:t>Lot</a:t>
              </a:r>
              <a:r>
                <a:rPr lang="ko-KR" altLang="en-US" sz="1800" dirty="0">
                  <a:latin typeface="Pretendard Light" panose="020B0600000101010101" charset="-127"/>
                  <a:ea typeface="Pretendard Light" panose="020B0600000101010101" charset="-127"/>
                  <a:cs typeface="Pretendard Light" panose="020B0600000101010101" charset="-127"/>
                </a:rPr>
                <a:t> 단위 품질 관리 자동화</a:t>
              </a:r>
              <a:endParaRPr lang="en-US" altLang="ko-KR" sz="18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1566CA6E-C47C-ED63-40ED-A607FAFA061A}"/>
              </a:ext>
            </a:extLst>
          </p:cNvPr>
          <p:cNvSpPr txBox="1"/>
          <p:nvPr/>
        </p:nvSpPr>
        <p:spPr>
          <a:xfrm>
            <a:off x="514350" y="4209334"/>
            <a:ext cx="496504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3. 공정 레시피 최적화</a:t>
            </a:r>
          </a:p>
          <a:p>
            <a:r>
              <a:rPr lang="ko-KR" altLang="en-US" sz="18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목표 식각 깊이 입력 → 최적 공정 파라미터 </a:t>
            </a:r>
            <a:r>
              <a:rPr lang="ko-KR" altLang="en-US" sz="1800" dirty="0" err="1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역추론</a:t>
            </a:r>
            <a:endParaRPr lang="ko-KR" altLang="en-US" sz="1800" dirty="0">
              <a:latin typeface="Pretendard Light" panose="020B0600000101010101" charset="-127"/>
              <a:ea typeface="Pretendard Light" panose="020B0600000101010101" charset="-127"/>
              <a:cs typeface="Pretendard Light" panose="020B0600000101010101" charset="-127"/>
            </a:endParaRPr>
          </a:p>
          <a:p>
            <a:r>
              <a:rPr lang="ko-KR" altLang="en-US" sz="1800" dirty="0" err="1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Attention</a:t>
            </a:r>
            <a:r>
              <a:rPr lang="ko-KR" altLang="en-US" sz="18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 </a:t>
            </a:r>
            <a:r>
              <a:rPr lang="ko-KR" altLang="en-US" sz="1800" dirty="0" err="1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weight</a:t>
            </a:r>
            <a:r>
              <a:rPr lang="ko-KR" altLang="en-US" sz="18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 기반 핵심 사이클 구간 파악 </a:t>
            </a:r>
            <a:endParaRPr lang="en-US" altLang="ko-KR" sz="1800" dirty="0">
              <a:latin typeface="Pretendard Light" panose="020B0600000101010101" charset="-127"/>
              <a:ea typeface="Pretendard Light" panose="020B0600000101010101" charset="-127"/>
              <a:cs typeface="Pretendard Light" panose="020B0600000101010101" charset="-127"/>
            </a:endParaRPr>
          </a:p>
          <a:p>
            <a:r>
              <a:rPr lang="en-US" altLang="ko-KR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 </a:t>
            </a:r>
            <a:r>
              <a:rPr lang="ko-KR" altLang="en-US" sz="18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→ 레시피 설계 근거 제공</a:t>
            </a:r>
          </a:p>
          <a:p>
            <a:r>
              <a:rPr lang="ko-KR" altLang="en-US" sz="1800" dirty="0" err="1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Physics-informed</a:t>
            </a:r>
            <a:r>
              <a:rPr lang="ko-KR" altLang="en-US" sz="18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 제약으로 물리적으로 실현 가능한 </a:t>
            </a:r>
            <a:endParaRPr lang="en-US" altLang="ko-KR" sz="1800" dirty="0">
              <a:latin typeface="Pretendard Light" panose="020B0600000101010101" charset="-127"/>
              <a:ea typeface="Pretendard Light" panose="020B0600000101010101" charset="-127"/>
              <a:cs typeface="Pretendard Light" panose="020B0600000101010101" charset="-127"/>
            </a:endParaRPr>
          </a:p>
          <a:p>
            <a:r>
              <a:rPr lang="ko-KR" altLang="en-US" sz="18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파라미터만 제안</a:t>
            </a:r>
            <a:endParaRPr lang="en-US" altLang="ko-KR" sz="1800" dirty="0">
              <a:latin typeface="Pretendard Light" panose="020B0600000101010101" charset="-127"/>
              <a:ea typeface="Pretendard Light" panose="020B0600000101010101" charset="-127"/>
              <a:cs typeface="Pretendard Light" panose="020B0600000101010101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16FEA2-CA1D-B96C-245A-0ECE2EB92B8F}"/>
              </a:ext>
            </a:extLst>
          </p:cNvPr>
          <p:cNvSpPr txBox="1"/>
          <p:nvPr/>
        </p:nvSpPr>
        <p:spPr>
          <a:xfrm>
            <a:off x="6208116" y="4486332"/>
            <a:ext cx="54403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4. 장비 간 이식 (</a:t>
            </a:r>
            <a:r>
              <a:rPr lang="ko-KR" altLang="en-US" sz="18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Run-to-Run</a:t>
            </a:r>
            <a:r>
              <a:rPr lang="ko-KR" altLang="en-US" sz="18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8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Control</a:t>
            </a:r>
            <a:r>
              <a:rPr lang="ko-KR" altLang="en-US" sz="18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r>
              <a:rPr lang="ko-KR" altLang="en-US" sz="18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챔버 교체 후 </a:t>
            </a:r>
            <a:r>
              <a:rPr lang="ko-KR" altLang="en-US" sz="1800" dirty="0" err="1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재학습</a:t>
            </a:r>
            <a:r>
              <a:rPr lang="ko-KR" altLang="en-US" sz="18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 없이 새 장비에 모델 적용</a:t>
            </a:r>
          </a:p>
          <a:p>
            <a:r>
              <a:rPr lang="ko-KR" altLang="en-US" sz="18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자기지도 사전훈련 기반 도메인 적응으로 챔버 간 편차 보정</a:t>
            </a:r>
          </a:p>
          <a:p>
            <a:r>
              <a:rPr lang="ko-KR" altLang="en-US" sz="18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동일 레시피 대비 챔버별 성능 차이 자동 보정</a:t>
            </a:r>
          </a:p>
        </p:txBody>
      </p:sp>
    </p:spTree>
    <p:extLst>
      <p:ext uri="{BB962C8B-B14F-4D97-AF65-F5344CB8AC3E}">
        <p14:creationId xmlns:p14="http://schemas.microsoft.com/office/powerpoint/2010/main" val="4217006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 rot="20728903">
            <a:off x="495300" y="-1727200"/>
            <a:ext cx="11423650" cy="6464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 rot="1246973">
            <a:off x="495300" y="1797050"/>
            <a:ext cx="11423650" cy="6464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489200" y="2647950"/>
            <a:ext cx="7213600" cy="1778000"/>
          </a:xfrm>
          <a:prstGeom prst="rect">
            <a:avLst/>
          </a:prstGeom>
        </p:spPr>
        <p:txBody>
          <a:bodyPr lIns="0" tIns="165100" rIns="0" bIns="0" rtlCol="0" anchor="t"/>
          <a:lstStyle/>
          <a:p>
            <a:pPr lvl="0" algn="ctr">
              <a:lnSpc>
                <a:spcPct val="94619"/>
              </a:lnSpc>
            </a:pPr>
            <a:r>
              <a:rPr lang="en-US" sz="10000" dirty="0">
                <a:solidFill>
                  <a:srgbClr val="202A3E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Thank You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64B2-1052-9497-7C78-6CA136481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6CCAFEC0-F9B0-4EF4-D34D-6BDF5AE38A52}"/>
              </a:ext>
            </a:extLst>
          </p:cNvPr>
          <p:cNvSpPr txBox="1"/>
          <p:nvPr/>
        </p:nvSpPr>
        <p:spPr>
          <a:xfrm>
            <a:off x="514350" y="314637"/>
            <a:ext cx="7346950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ko-KR" alt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딥러닝 아키텍처 개선방향</a:t>
            </a:r>
            <a:endParaRPr lang="en-US" sz="4000" spc="50" dirty="0">
              <a:solidFill>
                <a:srgbClr val="202A3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01B98270-384A-F9AA-3142-6D5EF67AD39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832A364A-56D6-B205-9E9D-4F12A1940F1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8559180-C1AC-F3F5-7EA2-EFBD908461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1900" y="1069896"/>
            <a:ext cx="9728200" cy="547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366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514350"/>
            <a:ext cx="2587665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Motivation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DA313B-3E17-9D4C-A942-A6DCFEE71331}"/>
              </a:ext>
            </a:extLst>
          </p:cNvPr>
          <p:cNvSpPr txBox="1"/>
          <p:nvPr/>
        </p:nvSpPr>
        <p:spPr>
          <a:xfrm>
            <a:off x="884903" y="1517525"/>
            <a:ext cx="10422195" cy="1700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반도체 제조 공정에서 웨이퍼의 품질 관리는 식각 깊이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(etch depth), </a:t>
            </a:r>
            <a:r>
              <a:rPr lang="ko-KR" altLang="en-US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산화막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두께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(oxide thickness)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등의 물리적 측정에 의존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가상 계측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(Virtual Metrology, VM)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은 이러한 물리적 측정값을 예측하는 기술 → 전수 검사 가능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공정 제어의 실시간성 향상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026" name="Picture 2" descr="VM 시스템 구성도">
            <a:extLst>
              <a:ext uri="{FF2B5EF4-FFF2-40B4-BE49-F238E27FC236}">
                <a16:creationId xmlns:a16="http://schemas.microsoft.com/office/drawing/2014/main" id="{031CD703-8FCC-B5F5-F8A0-2520DBD1F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463" y="3548850"/>
            <a:ext cx="8601075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47595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41915-B615-22FE-2F5A-4E1C2A26D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>
            <a:extLst>
              <a:ext uri="{FF2B5EF4-FFF2-40B4-BE49-F238E27FC236}">
                <a16:creationId xmlns:a16="http://schemas.microsoft.com/office/drawing/2014/main" id="{CD4E7BE9-7134-AC58-91F5-C53DC4AD0D8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C1184E29-6F37-AE44-9F88-EB58D11C08A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7E22FFEF-AD30-69AB-F063-5FA7DE8C3468}"/>
              </a:ext>
            </a:extLst>
          </p:cNvPr>
          <p:cNvGrpSpPr/>
          <p:nvPr/>
        </p:nvGrpSpPr>
        <p:grpSpPr>
          <a:xfrm>
            <a:off x="521110" y="1188093"/>
            <a:ext cx="11149781" cy="5401256"/>
            <a:chOff x="658761" y="1188093"/>
            <a:chExt cx="11149781" cy="5401256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EBCF773-A988-AD12-E920-3DCBC05B3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8761" y="1188093"/>
              <a:ext cx="4119716" cy="5401256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08D8FB8-6DBB-F4E7-7194-CF46FC12EE56}"/>
                </a:ext>
              </a:extLst>
            </p:cNvPr>
            <p:cNvSpPr txBox="1"/>
            <p:nvPr/>
          </p:nvSpPr>
          <p:spPr>
            <a:xfrm>
              <a:off x="4873728" y="1330008"/>
              <a:ext cx="6934814" cy="37839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BOSCH 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공정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(Deep Reactive Ion Etching, DRIE):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SF6(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식각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)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와 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C4F8(</a:t>
              </a:r>
              <a:r>
                <a:rPr lang="ko-KR" altLang="en-US" dirty="0" err="1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패시베이션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) 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가스를 교대로 사용하는 사이클릭 공정</a:t>
              </a:r>
              <a:endPara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데이터셋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: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초의 점화 단계 후 **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100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회의 사이클**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(SF6 4.5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초 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+ C4F8 1.5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초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)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로 구성되며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, 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각 웨이퍼에 대해 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OES(Optical Emission Spectroscopy)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가 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3,648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개 파장 채널에서 연속 기록됨</a:t>
              </a:r>
              <a:endPara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기존 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VM 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연구에서는 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OES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를 통계적 요약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(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평균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, 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분산 등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)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으로 축소하여 사용 → </a:t>
              </a:r>
              <a:r>
                <a:rPr lang="ko-KR" altLang="en-US" b="1" u="sng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사이클 간 시간적 변화 패턴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이라는 핵심 정보 손실</a:t>
              </a:r>
            </a:p>
          </p:txBody>
        </p:sp>
      </p:grpSp>
      <p:sp>
        <p:nvSpPr>
          <p:cNvPr id="4" name="TextBox 2">
            <a:extLst>
              <a:ext uri="{FF2B5EF4-FFF2-40B4-BE49-F238E27FC236}">
                <a16:creationId xmlns:a16="http://schemas.microsoft.com/office/drawing/2014/main" id="{130D8BFA-32D3-B344-8672-57DAAFBC1E0D}"/>
              </a:ext>
            </a:extLst>
          </p:cNvPr>
          <p:cNvSpPr txBox="1"/>
          <p:nvPr/>
        </p:nvSpPr>
        <p:spPr>
          <a:xfrm>
            <a:off x="514350" y="514350"/>
            <a:ext cx="2587665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2645640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4B2CA-B423-9F11-E184-E40CF0E32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>
            <a:extLst>
              <a:ext uri="{FF2B5EF4-FFF2-40B4-BE49-F238E27FC236}">
                <a16:creationId xmlns:a16="http://schemas.microsoft.com/office/drawing/2014/main" id="{836D02F6-99BC-CAE8-46FF-A6FB63E743D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32B4A886-03C2-1A4A-798C-4433E2CEA99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E0A156-352E-C27A-13DD-281B8FE9BFFC}"/>
              </a:ext>
            </a:extLst>
          </p:cNvPr>
          <p:cNvSpPr txBox="1"/>
          <p:nvPr/>
        </p:nvSpPr>
        <p:spPr>
          <a:xfrm>
            <a:off x="884903" y="1517525"/>
            <a:ext cx="10422195" cy="2660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기존 접근법의 한계</a:t>
            </a:r>
            <a:endParaRPr lang="en-US" altLang="ko-KR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OES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통계 요약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+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전통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ML: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사이클 간 시간적 변화 정보 손실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원시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OES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직접 입력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차원이 너무 높아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(14,744 × 3,648)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학습 불가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일반적 시계열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DL: BOSCH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공정의 사이클 구조를 반영하지 못함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→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BOSCH </a:t>
            </a:r>
            <a:r>
              <a:rPr lang="ko-KR" altLang="en-US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공정의 물리적 사이클 구조를 반영한 딥러닝 기반 표현 학습 방법 필요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94182A52-E6A9-5667-9B8E-AED875CFDAA6}"/>
              </a:ext>
            </a:extLst>
          </p:cNvPr>
          <p:cNvSpPr txBox="1"/>
          <p:nvPr/>
        </p:nvSpPr>
        <p:spPr>
          <a:xfrm>
            <a:off x="514350" y="514350"/>
            <a:ext cx="2587665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2527746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D4200-1213-674A-240B-92267184C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7F729180-39D1-BCB1-8419-21DE2F7F2254}"/>
              </a:ext>
            </a:extLst>
          </p:cNvPr>
          <p:cNvSpPr txBox="1"/>
          <p:nvPr/>
        </p:nvSpPr>
        <p:spPr>
          <a:xfrm>
            <a:off x="514350" y="514350"/>
            <a:ext cx="6343650" cy="891540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Dataset</a:t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1DA838BF-450B-E027-CE80-E39504BB269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D6F8D9AA-B744-E161-53C9-92884C70A4B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sp>
        <p:nvSpPr>
          <p:cNvPr id="65" name="Text 1">
            <a:extLst>
              <a:ext uri="{FF2B5EF4-FFF2-40B4-BE49-F238E27FC236}">
                <a16:creationId xmlns:a16="http://schemas.microsoft.com/office/drawing/2014/main" id="{C72C8097-280E-506C-FB90-37705E206D8B}"/>
              </a:ext>
            </a:extLst>
          </p:cNvPr>
          <p:cNvSpPr/>
          <p:nvPr/>
        </p:nvSpPr>
        <p:spPr>
          <a:xfrm>
            <a:off x="699201" y="1458767"/>
            <a:ext cx="7300184" cy="10244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dirty="0">
                <a:solidFill>
                  <a:srgbClr val="1A2744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BOSCH Plasma Etch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4400" dirty="0">
                <a:solidFill>
                  <a:srgbClr val="1A2744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Multi-Model Dataset</a:t>
            </a:r>
            <a:endParaRPr lang="en-US" sz="44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66" name="Text 2">
            <a:extLst>
              <a:ext uri="{FF2B5EF4-FFF2-40B4-BE49-F238E27FC236}">
                <a16:creationId xmlns:a16="http://schemas.microsoft.com/office/drawing/2014/main" id="{31BEF95C-A628-D908-628F-20B1BFCFD71D}"/>
              </a:ext>
            </a:extLst>
          </p:cNvPr>
          <p:cNvSpPr/>
          <p:nvPr/>
        </p:nvSpPr>
        <p:spPr>
          <a:xfrm>
            <a:off x="730470" y="269052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Zenodo  |  DOI: 10.5281/zenodo.17122442  |  CC-BY 4.0</a:t>
            </a:r>
            <a:endParaRPr lang="en-US" sz="16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3BC1FC46-1F2E-7AF1-61F6-9E1CF88BA3E6}"/>
              </a:ext>
            </a:extLst>
          </p:cNvPr>
          <p:cNvGrpSpPr/>
          <p:nvPr/>
        </p:nvGrpSpPr>
        <p:grpSpPr>
          <a:xfrm>
            <a:off x="8055731" y="667223"/>
            <a:ext cx="3437068" cy="2437453"/>
            <a:chOff x="8379904" y="667223"/>
            <a:chExt cx="2931997" cy="2437453"/>
          </a:xfrm>
        </p:grpSpPr>
        <p:sp>
          <p:nvSpPr>
            <p:cNvPr id="68" name="Shape 18">
              <a:extLst>
                <a:ext uri="{FF2B5EF4-FFF2-40B4-BE49-F238E27FC236}">
                  <a16:creationId xmlns:a16="http://schemas.microsoft.com/office/drawing/2014/main" id="{E941A855-46CD-92CC-9B56-45C52796763E}"/>
                </a:ext>
              </a:extLst>
            </p:cNvPr>
            <p:cNvSpPr/>
            <p:nvPr/>
          </p:nvSpPr>
          <p:spPr>
            <a:xfrm>
              <a:off x="8379904" y="667223"/>
              <a:ext cx="2931997" cy="2437453"/>
            </a:xfrm>
            <a:prstGeom prst="rect">
              <a:avLst/>
            </a:prstGeom>
            <a:solidFill>
              <a:srgbClr val="F0F4FA"/>
            </a:solidFill>
            <a:ln/>
          </p:spPr>
          <p:txBody>
            <a:bodyPr/>
            <a:lstStyle/>
            <a:p>
              <a:endPara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69" name="Shape 19">
              <a:extLst>
                <a:ext uri="{FF2B5EF4-FFF2-40B4-BE49-F238E27FC236}">
                  <a16:creationId xmlns:a16="http://schemas.microsoft.com/office/drawing/2014/main" id="{0E797F39-F21E-C00D-EE48-870A140B433F}"/>
                </a:ext>
              </a:extLst>
            </p:cNvPr>
            <p:cNvSpPr/>
            <p:nvPr/>
          </p:nvSpPr>
          <p:spPr>
            <a:xfrm>
              <a:off x="8379904" y="667223"/>
              <a:ext cx="70368" cy="2437453"/>
            </a:xfrm>
            <a:prstGeom prst="rect">
              <a:avLst/>
            </a:prstGeom>
            <a:solidFill>
              <a:srgbClr val="1A2744"/>
            </a:solidFill>
            <a:ln/>
          </p:spPr>
          <p:txBody>
            <a:bodyPr/>
            <a:lstStyle/>
            <a:p>
              <a:endParaRPr lang="ko-KR" altLang="en-US" sz="24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0764E4AA-656C-80D9-6AC1-82ACDF3053D9}"/>
              </a:ext>
            </a:extLst>
          </p:cNvPr>
          <p:cNvGrpSpPr/>
          <p:nvPr/>
        </p:nvGrpSpPr>
        <p:grpSpPr>
          <a:xfrm>
            <a:off x="8318158" y="843549"/>
            <a:ext cx="2887137" cy="2084801"/>
            <a:chOff x="8673104" y="770944"/>
            <a:chExt cx="2462877" cy="2084801"/>
          </a:xfrm>
        </p:grpSpPr>
        <p:sp>
          <p:nvSpPr>
            <p:cNvPr id="70" name="Text 20">
              <a:extLst>
                <a:ext uri="{FF2B5EF4-FFF2-40B4-BE49-F238E27FC236}">
                  <a16:creationId xmlns:a16="http://schemas.microsoft.com/office/drawing/2014/main" id="{8AAD7B60-A9F7-7CA5-46D1-9119AE146183}"/>
                </a:ext>
              </a:extLst>
            </p:cNvPr>
            <p:cNvSpPr/>
            <p:nvPr/>
          </p:nvSpPr>
          <p:spPr>
            <a:xfrm>
              <a:off x="8673104" y="770944"/>
              <a:ext cx="2462877" cy="1866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563E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장비</a:t>
              </a:r>
              <a:endParaRPr lang="en-US" sz="105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1" name="Text 21">
              <a:extLst>
                <a:ext uri="{FF2B5EF4-FFF2-40B4-BE49-F238E27FC236}">
                  <a16:creationId xmlns:a16="http://schemas.microsoft.com/office/drawing/2014/main" id="{BDABCAB3-180C-B3C8-931A-529ECEE630D6}"/>
                </a:ext>
              </a:extLst>
            </p:cNvPr>
            <p:cNvSpPr/>
            <p:nvPr/>
          </p:nvSpPr>
          <p:spPr>
            <a:xfrm>
              <a:off x="8673104" y="993530"/>
              <a:ext cx="2462877" cy="363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SPTS Omega i2L</a:t>
              </a:r>
              <a:endParaRPr 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DSi Rapier (ICP-RIE)</a:t>
              </a:r>
              <a:endParaRPr 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2" name="Text 22">
              <a:extLst>
                <a:ext uri="{FF2B5EF4-FFF2-40B4-BE49-F238E27FC236}">
                  <a16:creationId xmlns:a16="http://schemas.microsoft.com/office/drawing/2014/main" id="{0D163435-18C0-60AF-53AD-C631A7FCF952}"/>
                </a:ext>
              </a:extLst>
            </p:cNvPr>
            <p:cNvSpPr/>
            <p:nvPr/>
          </p:nvSpPr>
          <p:spPr>
            <a:xfrm>
              <a:off x="8673104" y="1392442"/>
              <a:ext cx="2462877" cy="1866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563E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웨이퍼</a:t>
              </a:r>
              <a:endParaRPr lang="en-US" sz="105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3" name="Text 23">
              <a:extLst>
                <a:ext uri="{FF2B5EF4-FFF2-40B4-BE49-F238E27FC236}">
                  <a16:creationId xmlns:a16="http://schemas.microsoft.com/office/drawing/2014/main" id="{457D3CE0-2B76-6087-5F29-BA9B80EBF0A5}"/>
                </a:ext>
              </a:extLst>
            </p:cNvPr>
            <p:cNvSpPr/>
            <p:nvPr/>
          </p:nvSpPr>
          <p:spPr>
            <a:xfrm>
              <a:off x="8673104" y="1615028"/>
              <a:ext cx="2462877" cy="1740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200mm Si &lt;100&gt;</a:t>
              </a:r>
              <a:endParaRPr 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4" name="Text 24">
              <a:extLst>
                <a:ext uri="{FF2B5EF4-FFF2-40B4-BE49-F238E27FC236}">
                  <a16:creationId xmlns:a16="http://schemas.microsoft.com/office/drawing/2014/main" id="{D0C08D06-D7C4-864D-CE7C-617493509A66}"/>
                </a:ext>
              </a:extLst>
            </p:cNvPr>
            <p:cNvSpPr/>
            <p:nvPr/>
          </p:nvSpPr>
          <p:spPr>
            <a:xfrm>
              <a:off x="8673104" y="1824962"/>
              <a:ext cx="2462877" cy="1866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563E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공정</a:t>
              </a:r>
              <a:endParaRPr lang="en-US" sz="105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5" name="Text 25">
              <a:extLst>
                <a:ext uri="{FF2B5EF4-FFF2-40B4-BE49-F238E27FC236}">
                  <a16:creationId xmlns:a16="http://schemas.microsoft.com/office/drawing/2014/main" id="{1349BBE9-473B-C052-DC55-F620DF43693B}"/>
                </a:ext>
              </a:extLst>
            </p:cNvPr>
            <p:cNvSpPr/>
            <p:nvPr/>
          </p:nvSpPr>
          <p:spPr>
            <a:xfrm>
              <a:off x="8673104" y="2047548"/>
              <a:ext cx="2462877" cy="363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BOSCH (SF₆/C₄F₈)</a:t>
              </a:r>
              <a:endParaRPr 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100 cycles</a:t>
              </a:r>
              <a:endParaRPr 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6" name="Text 26">
              <a:extLst>
                <a:ext uri="{FF2B5EF4-FFF2-40B4-BE49-F238E27FC236}">
                  <a16:creationId xmlns:a16="http://schemas.microsoft.com/office/drawing/2014/main" id="{52FF06A8-E5B6-CF8E-218F-236243B41FA6}"/>
                </a:ext>
              </a:extLst>
            </p:cNvPr>
            <p:cNvSpPr/>
            <p:nvPr/>
          </p:nvSpPr>
          <p:spPr>
            <a:xfrm>
              <a:off x="8673104" y="2446460"/>
              <a:ext cx="2462877" cy="1866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563E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규모</a:t>
              </a:r>
              <a:endParaRPr lang="en-US" sz="105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7" name="Text 27">
              <a:extLst>
                <a:ext uri="{FF2B5EF4-FFF2-40B4-BE49-F238E27FC236}">
                  <a16:creationId xmlns:a16="http://schemas.microsoft.com/office/drawing/2014/main" id="{CD08E975-F09F-8D32-913A-1FF6C160E867}"/>
                </a:ext>
              </a:extLst>
            </p:cNvPr>
            <p:cNvSpPr/>
            <p:nvPr/>
          </p:nvSpPr>
          <p:spPr>
            <a:xfrm>
              <a:off x="8673104" y="2669046"/>
              <a:ext cx="2462877" cy="1866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10 lots × 10 wafers ≈ 100</a:t>
              </a:r>
              <a:endParaRPr 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sp>
        <p:nvSpPr>
          <p:cNvPr id="78" name="Shape 3">
            <a:extLst>
              <a:ext uri="{FF2B5EF4-FFF2-40B4-BE49-F238E27FC236}">
                <a16:creationId xmlns:a16="http://schemas.microsoft.com/office/drawing/2014/main" id="{CFDD2194-C231-3909-FEDB-D9FB73471181}"/>
              </a:ext>
            </a:extLst>
          </p:cNvPr>
          <p:cNvSpPr/>
          <p:nvPr/>
        </p:nvSpPr>
        <p:spPr>
          <a:xfrm>
            <a:off x="699201" y="3417003"/>
            <a:ext cx="3437068" cy="1989881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ko-KR" altLang="en-US" sz="240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9" name="Shape 4">
            <a:extLst>
              <a:ext uri="{FF2B5EF4-FFF2-40B4-BE49-F238E27FC236}">
                <a16:creationId xmlns:a16="http://schemas.microsoft.com/office/drawing/2014/main" id="{65E3C821-A017-E6F7-CA26-DEF2901AE444}"/>
              </a:ext>
            </a:extLst>
          </p:cNvPr>
          <p:cNvSpPr/>
          <p:nvPr/>
        </p:nvSpPr>
        <p:spPr>
          <a:xfrm>
            <a:off x="699201" y="3417003"/>
            <a:ext cx="72359" cy="1989881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0" name="Text 5">
            <a:extLst>
              <a:ext uri="{FF2B5EF4-FFF2-40B4-BE49-F238E27FC236}">
                <a16:creationId xmlns:a16="http://schemas.microsoft.com/office/drawing/2014/main" id="{D1936756-08B4-1132-AECF-38970A388C9E}"/>
              </a:ext>
            </a:extLst>
          </p:cNvPr>
          <p:cNvSpPr/>
          <p:nvPr/>
        </p:nvSpPr>
        <p:spPr>
          <a:xfrm>
            <a:off x="1000698" y="3477302"/>
            <a:ext cx="2894373" cy="663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2744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3,648</a:t>
            </a:r>
            <a:endParaRPr lang="en-US" sz="40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81" name="Text 6">
            <a:extLst>
              <a:ext uri="{FF2B5EF4-FFF2-40B4-BE49-F238E27FC236}">
                <a16:creationId xmlns:a16="http://schemas.microsoft.com/office/drawing/2014/main" id="{37BF3E72-10F1-52D3-575F-1B3E380A0939}"/>
              </a:ext>
            </a:extLst>
          </p:cNvPr>
          <p:cNvSpPr/>
          <p:nvPr/>
        </p:nvSpPr>
        <p:spPr>
          <a:xfrm>
            <a:off x="1000698" y="4080297"/>
            <a:ext cx="2894373" cy="36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채널</a:t>
            </a:r>
            <a:endParaRPr lang="en-US" sz="1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2" name="Text 7">
            <a:extLst>
              <a:ext uri="{FF2B5EF4-FFF2-40B4-BE49-F238E27FC236}">
                <a16:creationId xmlns:a16="http://schemas.microsoft.com/office/drawing/2014/main" id="{5C5E5F83-CC98-9D8F-4B52-1E63463C8E47}"/>
              </a:ext>
            </a:extLst>
          </p:cNvPr>
          <p:cNvSpPr/>
          <p:nvPr/>
        </p:nvSpPr>
        <p:spPr>
          <a:xfrm>
            <a:off x="1000698" y="4442093"/>
            <a:ext cx="2894373" cy="84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광학 방출 스펙트럼</a:t>
            </a:r>
            <a:endParaRPr lang="en-US" sz="11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185 ~ 884 nm, 25Hz</a:t>
            </a:r>
            <a:endParaRPr lang="en-US" sz="11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3" name="Shape 8">
            <a:extLst>
              <a:ext uri="{FF2B5EF4-FFF2-40B4-BE49-F238E27FC236}">
                <a16:creationId xmlns:a16="http://schemas.microsoft.com/office/drawing/2014/main" id="{9C1534E9-8309-EEE2-81B6-5DB34F7DA198}"/>
              </a:ext>
            </a:extLst>
          </p:cNvPr>
          <p:cNvSpPr/>
          <p:nvPr/>
        </p:nvSpPr>
        <p:spPr>
          <a:xfrm>
            <a:off x="4377466" y="3417003"/>
            <a:ext cx="3437068" cy="1989881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ko-KR" altLang="en-US" sz="240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4" name="Shape 9">
            <a:extLst>
              <a:ext uri="{FF2B5EF4-FFF2-40B4-BE49-F238E27FC236}">
                <a16:creationId xmlns:a16="http://schemas.microsoft.com/office/drawing/2014/main" id="{A4E43B2D-FC58-E5CD-C24B-E4A937F86F67}"/>
              </a:ext>
            </a:extLst>
          </p:cNvPr>
          <p:cNvSpPr/>
          <p:nvPr/>
        </p:nvSpPr>
        <p:spPr>
          <a:xfrm>
            <a:off x="4377466" y="3417003"/>
            <a:ext cx="72359" cy="1989881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5" name="Text 10">
            <a:extLst>
              <a:ext uri="{FF2B5EF4-FFF2-40B4-BE49-F238E27FC236}">
                <a16:creationId xmlns:a16="http://schemas.microsoft.com/office/drawing/2014/main" id="{F93B92DE-9CE5-5C55-0E00-B0567468B1A4}"/>
              </a:ext>
            </a:extLst>
          </p:cNvPr>
          <p:cNvSpPr/>
          <p:nvPr/>
        </p:nvSpPr>
        <p:spPr>
          <a:xfrm>
            <a:off x="4678963" y="3477302"/>
            <a:ext cx="2894373" cy="663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2744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31</a:t>
            </a:r>
            <a:endParaRPr lang="en-US" sz="40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86" name="Text 11">
            <a:extLst>
              <a:ext uri="{FF2B5EF4-FFF2-40B4-BE49-F238E27FC236}">
                <a16:creationId xmlns:a16="http://schemas.microsoft.com/office/drawing/2014/main" id="{26D88EE4-047F-E80F-E246-A564E345C4B4}"/>
              </a:ext>
            </a:extLst>
          </p:cNvPr>
          <p:cNvSpPr/>
          <p:nvPr/>
        </p:nvSpPr>
        <p:spPr>
          <a:xfrm>
            <a:off x="4678963" y="4080297"/>
            <a:ext cx="2894373" cy="36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파라미터</a:t>
            </a:r>
            <a:endParaRPr lang="en-US" sz="1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7" name="Text 12">
            <a:extLst>
              <a:ext uri="{FF2B5EF4-FFF2-40B4-BE49-F238E27FC236}">
                <a16:creationId xmlns:a16="http://schemas.microsoft.com/office/drawing/2014/main" id="{C72A56BB-A6EE-9B1D-5A15-A5C03C877C13}"/>
              </a:ext>
            </a:extLst>
          </p:cNvPr>
          <p:cNvSpPr/>
          <p:nvPr/>
        </p:nvSpPr>
        <p:spPr>
          <a:xfrm>
            <a:off x="4678963" y="4442093"/>
            <a:ext cx="2894373" cy="84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공정 센서 데이터</a:t>
            </a:r>
            <a:endParaRPr lang="en-US" sz="11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RF Power, 가스, 압력 등</a:t>
            </a:r>
            <a:endParaRPr lang="en-US" sz="11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8" name="Shape 13">
            <a:extLst>
              <a:ext uri="{FF2B5EF4-FFF2-40B4-BE49-F238E27FC236}">
                <a16:creationId xmlns:a16="http://schemas.microsoft.com/office/drawing/2014/main" id="{DFC3C4A4-6A05-12CB-76E2-043AC5D185C6}"/>
              </a:ext>
            </a:extLst>
          </p:cNvPr>
          <p:cNvSpPr/>
          <p:nvPr/>
        </p:nvSpPr>
        <p:spPr>
          <a:xfrm>
            <a:off x="8055731" y="3417003"/>
            <a:ext cx="3437068" cy="1989881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ko-KR" altLang="en-US" sz="240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9" name="Shape 14">
            <a:extLst>
              <a:ext uri="{FF2B5EF4-FFF2-40B4-BE49-F238E27FC236}">
                <a16:creationId xmlns:a16="http://schemas.microsoft.com/office/drawing/2014/main" id="{7DFC0076-BEFB-F6C3-F951-69F081F59BA5}"/>
              </a:ext>
            </a:extLst>
          </p:cNvPr>
          <p:cNvSpPr/>
          <p:nvPr/>
        </p:nvSpPr>
        <p:spPr>
          <a:xfrm>
            <a:off x="8055731" y="3417003"/>
            <a:ext cx="72359" cy="1989881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0" name="Text 15">
            <a:extLst>
              <a:ext uri="{FF2B5EF4-FFF2-40B4-BE49-F238E27FC236}">
                <a16:creationId xmlns:a16="http://schemas.microsoft.com/office/drawing/2014/main" id="{7F28A1A9-2DE4-4478-8FBB-C2D81C0591D6}"/>
              </a:ext>
            </a:extLst>
          </p:cNvPr>
          <p:cNvSpPr/>
          <p:nvPr/>
        </p:nvSpPr>
        <p:spPr>
          <a:xfrm>
            <a:off x="8357229" y="3477302"/>
            <a:ext cx="2894373" cy="663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2744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9/89</a:t>
            </a:r>
            <a:endParaRPr lang="en-US" sz="40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91" name="Text 16">
            <a:extLst>
              <a:ext uri="{FF2B5EF4-FFF2-40B4-BE49-F238E27FC236}">
                <a16:creationId xmlns:a16="http://schemas.microsoft.com/office/drawing/2014/main" id="{FC71E5D2-DC46-8786-2F6E-DB4E3D1DE24A}"/>
              </a:ext>
            </a:extLst>
          </p:cNvPr>
          <p:cNvSpPr/>
          <p:nvPr/>
        </p:nvSpPr>
        <p:spPr>
          <a:xfrm>
            <a:off x="8357229" y="4080297"/>
            <a:ext cx="2894373" cy="36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포인트</a:t>
            </a:r>
            <a:endParaRPr lang="en-US" sz="1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2" name="Text 17">
            <a:extLst>
              <a:ext uri="{FF2B5EF4-FFF2-40B4-BE49-F238E27FC236}">
                <a16:creationId xmlns:a16="http://schemas.microsoft.com/office/drawing/2014/main" id="{A6869D74-527B-EC64-19DC-54102A174189}"/>
              </a:ext>
            </a:extLst>
          </p:cNvPr>
          <p:cNvSpPr/>
          <p:nvPr/>
        </p:nvSpPr>
        <p:spPr>
          <a:xfrm>
            <a:off x="8357229" y="4442093"/>
            <a:ext cx="2894373" cy="84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웨이퍼 계측값</a:t>
            </a:r>
            <a:endParaRPr lang="en-US" sz="11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Etch Depth, Oxide 두께</a:t>
            </a:r>
            <a:endParaRPr lang="en-US" sz="11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3" name="Shape 28">
            <a:extLst>
              <a:ext uri="{FF2B5EF4-FFF2-40B4-BE49-F238E27FC236}">
                <a16:creationId xmlns:a16="http://schemas.microsoft.com/office/drawing/2014/main" id="{873F5134-2193-0C6F-B08D-D0D9EA0AAFDC}"/>
              </a:ext>
            </a:extLst>
          </p:cNvPr>
          <p:cNvSpPr/>
          <p:nvPr/>
        </p:nvSpPr>
        <p:spPr>
          <a:xfrm>
            <a:off x="699201" y="5648082"/>
            <a:ext cx="10793598" cy="542695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ko-KR" altLang="en-US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4" name="Text 29">
            <a:extLst>
              <a:ext uri="{FF2B5EF4-FFF2-40B4-BE49-F238E27FC236}">
                <a16:creationId xmlns:a16="http://schemas.microsoft.com/office/drawing/2014/main" id="{E8808E3B-37F1-C87C-05D1-A63C057B6D81}"/>
              </a:ext>
            </a:extLst>
          </p:cNvPr>
          <p:cNvSpPr/>
          <p:nvPr/>
        </p:nvSpPr>
        <p:spPr>
          <a:xfrm>
            <a:off x="940399" y="5684262"/>
            <a:ext cx="10130304" cy="458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OES + 공정 파라미터(X)로 Etch Depth(Y)를 예측하는 가상 계측(VM) 모델의 학습 데이터</a:t>
            </a:r>
            <a:endParaRPr lang="en-US" sz="1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91592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2D290-2FB5-9956-3765-45A20FCF0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>
            <a:extLst>
              <a:ext uri="{FF2B5EF4-FFF2-40B4-BE49-F238E27FC236}">
                <a16:creationId xmlns:a16="http://schemas.microsoft.com/office/drawing/2014/main" id="{FE9FA752-34BE-49F7-298A-9D5C598F900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2A7B2AA4-25AC-2FE6-E75F-E3B3F28063C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sp>
        <p:nvSpPr>
          <p:cNvPr id="118" name="TextBox 2">
            <a:extLst>
              <a:ext uri="{FF2B5EF4-FFF2-40B4-BE49-F238E27FC236}">
                <a16:creationId xmlns:a16="http://schemas.microsoft.com/office/drawing/2014/main" id="{7DAE976A-A970-B428-EF78-CFEF8078B514}"/>
              </a:ext>
            </a:extLst>
          </p:cNvPr>
          <p:cNvSpPr txBox="1"/>
          <p:nvPr/>
        </p:nvSpPr>
        <p:spPr>
          <a:xfrm>
            <a:off x="514350" y="514350"/>
            <a:ext cx="6343650" cy="631544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Dataset</a:t>
            </a:r>
          </a:p>
        </p:txBody>
      </p:sp>
      <p:sp>
        <p:nvSpPr>
          <p:cNvPr id="119" name="Text 0">
            <a:extLst>
              <a:ext uri="{FF2B5EF4-FFF2-40B4-BE49-F238E27FC236}">
                <a16:creationId xmlns:a16="http://schemas.microsoft.com/office/drawing/2014/main" id="{0CCABD9F-A6C3-25A8-1542-24A3F1542506}"/>
              </a:ext>
            </a:extLst>
          </p:cNvPr>
          <p:cNvSpPr/>
          <p:nvPr/>
        </p:nvSpPr>
        <p:spPr>
          <a:xfrm>
            <a:off x="814859" y="1323925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274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공정 파라미터 31개 — 장비 구조와 매핑</a:t>
            </a:r>
            <a:endParaRPr lang="en-US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0" name="Text 1">
            <a:extLst>
              <a:ext uri="{FF2B5EF4-FFF2-40B4-BE49-F238E27FC236}">
                <a16:creationId xmlns:a16="http://schemas.microsoft.com/office/drawing/2014/main" id="{03684288-5B39-8658-0462-84E81EAE2B23}"/>
              </a:ext>
            </a:extLst>
          </p:cNvPr>
          <p:cNvSpPr/>
          <p:nvPr/>
        </p:nvSpPr>
        <p:spPr>
          <a:xfrm>
            <a:off x="814859" y="1781125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각 센서가 ICP-RIE 장비의 </a:t>
            </a:r>
            <a:r>
              <a:rPr lang="en-US" sz="1400" dirty="0" err="1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어느</a:t>
            </a:r>
            <a:r>
              <a:rPr lang="en-US" sz="1400" dirty="0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부분을</a:t>
            </a:r>
            <a:r>
              <a:rPr lang="en-US" sz="1400" dirty="0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모니터링</a:t>
            </a:r>
            <a:r>
              <a:rPr lang="en-US" altLang="ko-KR" sz="1400" dirty="0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하는지</a:t>
            </a:r>
            <a:endParaRPr lang="en-US" sz="1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61" name="그림 160">
            <a:extLst>
              <a:ext uri="{FF2B5EF4-FFF2-40B4-BE49-F238E27FC236}">
                <a16:creationId xmlns:a16="http://schemas.microsoft.com/office/drawing/2014/main" id="{E298A38D-8158-D7EA-01E5-3526521950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057" y="2077145"/>
            <a:ext cx="10057887" cy="370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0882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A6C42-1A12-C903-5581-6BD58BCA9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>
            <a:extLst>
              <a:ext uri="{FF2B5EF4-FFF2-40B4-BE49-F238E27FC236}">
                <a16:creationId xmlns:a16="http://schemas.microsoft.com/office/drawing/2014/main" id="{23AD093C-1908-2048-CF62-1C2D5797450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D778C96C-7DCB-1C32-D440-3C0A96E7BEF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sp>
        <p:nvSpPr>
          <p:cNvPr id="45" name="TextBox 2">
            <a:extLst>
              <a:ext uri="{FF2B5EF4-FFF2-40B4-BE49-F238E27FC236}">
                <a16:creationId xmlns:a16="http://schemas.microsoft.com/office/drawing/2014/main" id="{65AE0E54-91AE-893D-0489-C5809F6BEB82}"/>
              </a:ext>
            </a:extLst>
          </p:cNvPr>
          <p:cNvSpPr txBox="1"/>
          <p:nvPr/>
        </p:nvSpPr>
        <p:spPr>
          <a:xfrm>
            <a:off x="514350" y="514350"/>
            <a:ext cx="6343650" cy="631544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Dataset</a:t>
            </a:r>
          </a:p>
        </p:txBody>
      </p:sp>
      <p:sp>
        <p:nvSpPr>
          <p:cNvPr id="46" name="Text 0">
            <a:extLst>
              <a:ext uri="{FF2B5EF4-FFF2-40B4-BE49-F238E27FC236}">
                <a16:creationId xmlns:a16="http://schemas.microsoft.com/office/drawing/2014/main" id="{45602636-7D7A-CB53-E760-0E8E09DE401B}"/>
              </a:ext>
            </a:extLst>
          </p:cNvPr>
          <p:cNvSpPr/>
          <p:nvPr/>
        </p:nvSpPr>
        <p:spPr>
          <a:xfrm>
            <a:off x="814859" y="1323925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dirty="0" err="1">
                <a:solidFill>
                  <a:srgbClr val="1A274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타겟</a:t>
            </a:r>
            <a:r>
              <a:rPr lang="en-US" altLang="ko-KR" sz="2400" dirty="0">
                <a:solidFill>
                  <a:srgbClr val="1A274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2400" dirty="0" err="1">
                <a:solidFill>
                  <a:srgbClr val="1A274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변수</a:t>
            </a:r>
            <a:r>
              <a:rPr lang="en-US" altLang="ko-KR" sz="2400" dirty="0">
                <a:solidFill>
                  <a:srgbClr val="1A274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(Y) 및 </a:t>
            </a:r>
            <a:r>
              <a:rPr lang="en-US" altLang="ko-KR" sz="2400" dirty="0" err="1">
                <a:solidFill>
                  <a:srgbClr val="1A274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데이터</a:t>
            </a:r>
            <a:r>
              <a:rPr lang="en-US" altLang="ko-KR" sz="2400" dirty="0">
                <a:solidFill>
                  <a:srgbClr val="1A274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2400" dirty="0" err="1">
                <a:solidFill>
                  <a:srgbClr val="1A274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파이프라인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CCFDA115-F354-C074-FE9F-2C97A671B006}"/>
              </a:ext>
            </a:extLst>
          </p:cNvPr>
          <p:cNvSpPr/>
          <p:nvPr/>
        </p:nvSpPr>
        <p:spPr>
          <a:xfrm>
            <a:off x="814859" y="1781125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dirty="0" err="1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무엇을</a:t>
            </a:r>
            <a:r>
              <a:rPr lang="en-US" altLang="ko-KR" sz="1400" dirty="0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1400" dirty="0" err="1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예측하고</a:t>
            </a:r>
            <a:r>
              <a:rPr lang="en-US" altLang="ko-KR" sz="1400" dirty="0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altLang="ko-KR" sz="1400" dirty="0" err="1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어떻게</a:t>
            </a:r>
            <a:r>
              <a:rPr lang="en-US" altLang="ko-KR" sz="1400" dirty="0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1400" dirty="0" err="1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모델에</a:t>
            </a:r>
            <a:r>
              <a:rPr lang="en-US" altLang="ko-KR" sz="1400" dirty="0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1400" dirty="0" err="1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들어가는가</a:t>
            </a:r>
            <a:endParaRPr lang="en-US" altLang="ko-KR" sz="1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29" name="그림 128">
            <a:extLst>
              <a:ext uri="{FF2B5EF4-FFF2-40B4-BE49-F238E27FC236}">
                <a16:creationId xmlns:a16="http://schemas.microsoft.com/office/drawing/2014/main" id="{F6A7FAF9-2122-3731-6D8C-EDE45E2FD0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3200" y="2249510"/>
            <a:ext cx="9245600" cy="383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597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56560-B365-3C0F-462F-C3F2ED48F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5087F75-F8E1-CBE6-F072-AC2830CF5D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84"/>
          <a:stretch>
            <a:fillRect/>
          </a:stretch>
        </p:blipFill>
        <p:spPr>
          <a:xfrm>
            <a:off x="7211371" y="194101"/>
            <a:ext cx="4681516" cy="64697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E44D20-17A2-937C-705E-D26BF90209FE}"/>
              </a:ext>
            </a:extLst>
          </p:cNvPr>
          <p:cNvSpPr txBox="1"/>
          <p:nvPr/>
        </p:nvSpPr>
        <p:spPr>
          <a:xfrm>
            <a:off x="791760" y="3217459"/>
            <a:ext cx="582873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i="0" dirty="0">
                <a:effectLst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BOSCH 100-</a:t>
            </a:r>
            <a:r>
              <a:rPr lang="ko-KR" altLang="en-US" sz="2000" b="1" i="0" dirty="0">
                <a:effectLst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사이클 구조를 명시적으로 반영한 </a:t>
            </a:r>
            <a:endParaRPr lang="en-US" altLang="ko-KR" sz="2000" b="1" i="0" dirty="0">
              <a:effectLst/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algn="ctr"/>
            <a:endParaRPr lang="en-US" altLang="ko-KR" sz="2000" b="1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algn="ctr"/>
            <a:r>
              <a:rPr lang="ko-KR" altLang="en-US" sz="2000" b="1" i="0" dirty="0">
                <a:effectLst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계층적 표현 학습 모델</a:t>
            </a:r>
            <a:endParaRPr lang="ko-KR" altLang="en-US" sz="2000" b="1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145044-1E35-43F5-42D1-28B6BF22604D}"/>
              </a:ext>
            </a:extLst>
          </p:cNvPr>
          <p:cNvSpPr txBox="1"/>
          <p:nvPr/>
        </p:nvSpPr>
        <p:spPr>
          <a:xfrm>
            <a:off x="514350" y="514350"/>
            <a:ext cx="6343650" cy="596695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Modeling</a:t>
            </a:r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946DC9F1-44C9-9122-E8D5-5C4E30CEBDE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7" name="Picture 11">
            <a:extLst>
              <a:ext uri="{FF2B5EF4-FFF2-40B4-BE49-F238E27FC236}">
                <a16:creationId xmlns:a16="http://schemas.microsoft.com/office/drawing/2014/main" id="{AA442C42-0EEF-0579-90AC-4C641563DF3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458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64F0BE-E930-405B-A7EE-F2B962BA32C1}"/>
              </a:ext>
            </a:extLst>
          </p:cNvPr>
          <p:cNvSpPr txBox="1"/>
          <p:nvPr/>
        </p:nvSpPr>
        <p:spPr>
          <a:xfrm>
            <a:off x="1019791" y="3068850"/>
            <a:ext cx="6604000" cy="1309654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marL="228600" indent="-2286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OES</a:t>
            </a: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3,648 파장 채널 시계열</a:t>
            </a:r>
          </a:p>
          <a:p>
            <a:pPr marL="228600" indent="-2286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Process Params</a:t>
            </a: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44개 센서 변수</a:t>
            </a:r>
          </a:p>
          <a:p>
            <a:pPr algn="l">
              <a:lnSpc>
                <a:spcPts val="2800"/>
              </a:lnSpc>
              <a:spcBef>
                <a:spcPts val="1400"/>
              </a:spcBef>
              <a:buNone/>
            </a:pPr>
            <a:r>
              <a:rPr lang="ko-KR" altLang="en-US" sz="20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→ 서로 다른 물리량을 </a:t>
            </a:r>
            <a:r>
              <a:rPr lang="ko-KR" altLang="en-US" sz="2000" b="1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함께 입력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1382C3DA-6D41-3129-C1CA-696E1BA08845}"/>
              </a:ext>
            </a:extLst>
          </p:cNvPr>
          <p:cNvGrpSpPr/>
          <p:nvPr/>
        </p:nvGrpSpPr>
        <p:grpSpPr>
          <a:xfrm>
            <a:off x="-1133475" y="514350"/>
            <a:ext cx="6501888" cy="7851775"/>
            <a:chOff x="-1133475" y="514350"/>
            <a:chExt cx="6501888" cy="7851775"/>
          </a:xfrm>
        </p:grpSpPr>
        <p:sp>
          <p:nvSpPr>
            <p:cNvPr id="4" name="TextBox 2">
              <a:extLst>
                <a:ext uri="{FF2B5EF4-FFF2-40B4-BE49-F238E27FC236}">
                  <a16:creationId xmlns:a16="http://schemas.microsoft.com/office/drawing/2014/main" id="{C50BF51E-7C67-40BA-18B0-756FDA09A099}"/>
                </a:ext>
              </a:extLst>
            </p:cNvPr>
            <p:cNvSpPr txBox="1"/>
            <p:nvPr/>
          </p:nvSpPr>
          <p:spPr>
            <a:xfrm>
              <a:off x="514350" y="514350"/>
              <a:ext cx="4854063" cy="596695"/>
            </a:xfrm>
            <a:prstGeom prst="rect">
              <a:avLst/>
            </a:prstGeom>
          </p:spPr>
          <p:txBody>
            <a:bodyPr lIns="0" tIns="52070" rIns="0" bIns="0" rtlCol="0" anchor="t"/>
            <a:lstStyle/>
            <a:p>
              <a:pPr lvl="0">
                <a:lnSpc>
                  <a:spcPct val="103749"/>
                </a:lnSpc>
              </a:pPr>
              <a:r>
                <a:rPr lang="en-US" altLang="ko-KR" sz="4000" dirty="0">
                  <a:solidFill>
                    <a:srgbClr val="156082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Modeling - Stage 1</a:t>
              </a:r>
              <a:r>
                <a:rPr lang="en-US" altLang="ko-KR" sz="4000" dirty="0">
                  <a:solidFill>
                    <a:srgbClr val="202A3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 : Input (Multi-Modal)</a:t>
              </a:r>
              <a:endPara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pic>
          <p:nvPicPr>
            <p:cNvPr id="6" name="Picture 10">
              <a:extLst>
                <a:ext uri="{FF2B5EF4-FFF2-40B4-BE49-F238E27FC236}">
                  <a16:creationId xmlns:a16="http://schemas.microsoft.com/office/drawing/2014/main" id="{1C1B76A3-07C4-394D-090A-5D11B1D64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7" name="Picture 11">
              <a:extLst>
                <a:ext uri="{FF2B5EF4-FFF2-40B4-BE49-F238E27FC236}">
                  <a16:creationId xmlns:a16="http://schemas.microsoft.com/office/drawing/2014/main" id="{0E8CCAC0-ADF4-AD78-C328-46C9EB9C8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845BC95B-7A5C-EF5E-5FB1-BA04ABCFCF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84"/>
          <a:stretch>
            <a:fillRect/>
          </a:stretch>
        </p:blipFill>
        <p:spPr>
          <a:xfrm>
            <a:off x="7211371" y="194101"/>
            <a:ext cx="4681516" cy="646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0324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2E656D-2715-45FE-B7C2-A16DF08B40D1}"/>
              </a:ext>
            </a:extLst>
          </p:cNvPr>
          <p:cNvSpPr txBox="1"/>
          <p:nvPr/>
        </p:nvSpPr>
        <p:spPr>
          <a:xfrm>
            <a:off x="1016001" y="2812142"/>
            <a:ext cx="6604000" cy="1668727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marL="228600" indent="-2286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100 </a:t>
            </a: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사이클 각각을 독립적으로 인코딩</a:t>
            </a:r>
          </a:p>
          <a:p>
            <a:pPr marL="228600" indent="-2286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OES → PCA + 1D-CNN / Process → MLP</a:t>
            </a:r>
          </a:p>
          <a:p>
            <a:pPr marL="228600" indent="-2286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Weight Sharing</a:t>
            </a: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모든 사이클에 동일 encoder 적용</a:t>
            </a:r>
          </a:p>
          <a:p>
            <a:pPr algn="l">
              <a:lnSpc>
                <a:spcPts val="2800"/>
              </a:lnSpc>
              <a:spcBef>
                <a:spcPts val="1400"/>
              </a:spcBef>
              <a:buNone/>
            </a:pPr>
            <a:r>
              <a:rPr lang="ko-KR" altLang="en-US" sz="20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→ 사이클 단위 </a:t>
            </a:r>
            <a:r>
              <a:rPr lang="ko-KR" altLang="en-US" sz="2000" b="1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국소 패턴</a:t>
            </a:r>
            <a:r>
              <a:rPr lang="ko-KR" altLang="en-US" sz="20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포착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BB5DB49-CDC9-115B-1020-B27520D9270A}"/>
              </a:ext>
            </a:extLst>
          </p:cNvPr>
          <p:cNvGrpSpPr/>
          <p:nvPr/>
        </p:nvGrpSpPr>
        <p:grpSpPr>
          <a:xfrm>
            <a:off x="-1133475" y="514350"/>
            <a:ext cx="6777191" cy="7851775"/>
            <a:chOff x="-1133475" y="514350"/>
            <a:chExt cx="6777191" cy="7851775"/>
          </a:xfrm>
        </p:grpSpPr>
        <p:sp>
          <p:nvSpPr>
            <p:cNvPr id="6" name="TextBox 2">
              <a:extLst>
                <a:ext uri="{FF2B5EF4-FFF2-40B4-BE49-F238E27FC236}">
                  <a16:creationId xmlns:a16="http://schemas.microsoft.com/office/drawing/2014/main" id="{0CC5142A-A851-D775-A02F-D80515370DE2}"/>
                </a:ext>
              </a:extLst>
            </p:cNvPr>
            <p:cNvSpPr txBox="1"/>
            <p:nvPr/>
          </p:nvSpPr>
          <p:spPr>
            <a:xfrm>
              <a:off x="514350" y="514350"/>
              <a:ext cx="5129366" cy="596695"/>
            </a:xfrm>
            <a:prstGeom prst="rect">
              <a:avLst/>
            </a:prstGeom>
          </p:spPr>
          <p:txBody>
            <a:bodyPr lIns="0" tIns="52070" rIns="0" bIns="0" rtlCol="0" anchor="t"/>
            <a:lstStyle/>
            <a:p>
              <a:pPr lvl="0">
                <a:lnSpc>
                  <a:spcPct val="103749"/>
                </a:lnSpc>
              </a:pPr>
              <a:r>
                <a:rPr lang="en-US" altLang="ko-KR" sz="4000" b="1" dirty="0">
                  <a:solidFill>
                    <a:srgbClr val="156082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Modeling - Stage 2</a:t>
              </a:r>
              <a:r>
                <a:rPr lang="ko-KR" altLang="en-US" sz="4000" b="1" dirty="0">
                  <a:solidFill>
                    <a:srgbClr val="202A3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：</a:t>
              </a:r>
              <a:r>
                <a:rPr lang="en-US" altLang="ko-KR" sz="4000" dirty="0">
                  <a:solidFill>
                    <a:srgbClr val="202A3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 Per-Cycle Encoding</a:t>
              </a:r>
              <a:endPara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pic>
          <p:nvPicPr>
            <p:cNvPr id="7" name="Picture 10">
              <a:extLst>
                <a:ext uri="{FF2B5EF4-FFF2-40B4-BE49-F238E27FC236}">
                  <a16:creationId xmlns:a16="http://schemas.microsoft.com/office/drawing/2014/main" id="{377FACB0-4BF8-4CE3-3463-1839FD6077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8" name="Picture 11">
              <a:extLst>
                <a:ext uri="{FF2B5EF4-FFF2-40B4-BE49-F238E27FC236}">
                  <a16:creationId xmlns:a16="http://schemas.microsoft.com/office/drawing/2014/main" id="{B558577D-C03B-BAB7-F3A6-BD607F6ABD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658AE15F-119A-0F78-B00C-08631378D9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84"/>
          <a:stretch>
            <a:fillRect/>
          </a:stretch>
        </p:blipFill>
        <p:spPr>
          <a:xfrm>
            <a:off x="7211371" y="194101"/>
            <a:ext cx="4681516" cy="646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7531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820772-E1BA-434F-B40C-CE07AC8DEC27}"/>
              </a:ext>
            </a:extLst>
          </p:cNvPr>
          <p:cNvSpPr txBox="1"/>
          <p:nvPr/>
        </p:nvSpPr>
        <p:spPr>
          <a:xfrm>
            <a:off x="649514" y="2980871"/>
            <a:ext cx="6604000" cy="1311449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marL="228600" indent="-2286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OES </a:t>
            </a: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임베딩 ⊕ Process 임베딩 → Concat + FC</a:t>
            </a:r>
          </a:p>
          <a:p>
            <a:pPr marL="228600" indent="-2286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Late Fusion </a:t>
            </a:r>
            <a:r>
              <a:rPr lang="ko-KR" altLang="en-US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대비 장점</a:t>
            </a: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사이클 내 센서 간 상호작용 학습</a:t>
            </a:r>
          </a:p>
          <a:p>
            <a:pPr algn="l">
              <a:lnSpc>
                <a:spcPts val="2800"/>
              </a:lnSpc>
              <a:spcBef>
                <a:spcPts val="1400"/>
              </a:spcBef>
              <a:buNone/>
            </a:pPr>
            <a:r>
              <a:rPr lang="ko-KR" altLang="en-US" sz="20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→ 사이클별 통합 임베딩 </a:t>
            </a:r>
            <a:r>
              <a:rPr lang="en-US" altLang="ko-KR" sz="2000" b="1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e₁, e₂, ..., e₁₀₀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55D0747-5DE9-8545-66E2-4DAC93AB18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84"/>
          <a:stretch>
            <a:fillRect/>
          </a:stretch>
        </p:blipFill>
        <p:spPr>
          <a:xfrm>
            <a:off x="7211371" y="194101"/>
            <a:ext cx="4681516" cy="6469797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434768A5-2402-117C-CBF5-07DB2E31B141}"/>
              </a:ext>
            </a:extLst>
          </p:cNvPr>
          <p:cNvGrpSpPr/>
          <p:nvPr/>
        </p:nvGrpSpPr>
        <p:grpSpPr>
          <a:xfrm>
            <a:off x="-1133475" y="514350"/>
            <a:ext cx="6777191" cy="7851775"/>
            <a:chOff x="-1133475" y="514350"/>
            <a:chExt cx="6777191" cy="7851775"/>
          </a:xfrm>
        </p:grpSpPr>
        <p:sp>
          <p:nvSpPr>
            <p:cNvPr id="7" name="TextBox 2">
              <a:extLst>
                <a:ext uri="{FF2B5EF4-FFF2-40B4-BE49-F238E27FC236}">
                  <a16:creationId xmlns:a16="http://schemas.microsoft.com/office/drawing/2014/main" id="{7FF620F6-8B20-7663-A3B7-9EBE8F569C18}"/>
                </a:ext>
              </a:extLst>
            </p:cNvPr>
            <p:cNvSpPr txBox="1"/>
            <p:nvPr/>
          </p:nvSpPr>
          <p:spPr>
            <a:xfrm>
              <a:off x="514350" y="514350"/>
              <a:ext cx="5129366" cy="596695"/>
            </a:xfrm>
            <a:prstGeom prst="rect">
              <a:avLst/>
            </a:prstGeom>
          </p:spPr>
          <p:txBody>
            <a:bodyPr lIns="0" tIns="52070" rIns="0" bIns="0" rtlCol="0" anchor="t"/>
            <a:lstStyle/>
            <a:p>
              <a:pPr lvl="0">
                <a:lnSpc>
                  <a:spcPct val="103749"/>
                </a:lnSpc>
              </a:pPr>
              <a:r>
                <a:rPr lang="en-US" altLang="ko-KR" sz="4000" b="1" dirty="0">
                  <a:solidFill>
                    <a:srgbClr val="156082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Modeling - Stage 3</a:t>
              </a:r>
              <a:r>
                <a:rPr lang="ko-KR" altLang="en-US" sz="4000" b="1" dirty="0">
                  <a:solidFill>
                    <a:srgbClr val="202A3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：</a:t>
              </a:r>
              <a:r>
                <a:rPr lang="en-US" altLang="ko-KR" sz="4000" dirty="0">
                  <a:solidFill>
                    <a:srgbClr val="202A3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 Early Fusion</a:t>
              </a:r>
              <a:endPara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pic>
          <p:nvPicPr>
            <p:cNvPr id="8" name="Picture 10">
              <a:extLst>
                <a:ext uri="{FF2B5EF4-FFF2-40B4-BE49-F238E27FC236}">
                  <a16:creationId xmlns:a16="http://schemas.microsoft.com/office/drawing/2014/main" id="{E0F457C6-5D4F-97D1-5E28-E0EC9B0606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9" name="Picture 11">
              <a:extLst>
                <a:ext uri="{FF2B5EF4-FFF2-40B4-BE49-F238E27FC236}">
                  <a16:creationId xmlns:a16="http://schemas.microsoft.com/office/drawing/2014/main" id="{BEB71018-C977-4F8B-F592-648C440695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040924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F95FEF-789F-4796-BC7F-4F95C31BDE02}"/>
              </a:ext>
            </a:extLst>
          </p:cNvPr>
          <p:cNvSpPr txBox="1"/>
          <p:nvPr/>
        </p:nvSpPr>
        <p:spPr>
          <a:xfrm>
            <a:off x="671285" y="2422313"/>
            <a:ext cx="6604000" cy="2349361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marL="228600" indent="-2286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Bi-LSTM / Transformer</a:t>
            </a: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로 </a:t>
            </a:r>
            <a:r>
              <a:rPr lang="ko-KR" altLang="en-US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사이클 시퀀스</a:t>
            </a: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학습</a:t>
            </a:r>
          </a:p>
          <a:p>
            <a:pPr marL="228600" indent="-2286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물리적 근거:</a:t>
            </a:r>
          </a:p>
          <a:p>
            <a:pPr marL="457200" indent="-228600" algn="l">
              <a:lnSpc>
                <a:spcPts val="2600"/>
              </a:lnSpc>
              <a:buFont typeface="Arial" panose="020B0604020202020204" pitchFamily="34" charset="0"/>
              <a:buChar char="–"/>
            </a:pPr>
            <a:r>
              <a:rPr lang="en-US" altLang="ko-KR" dirty="0">
                <a:solidFill>
                  <a:srgbClr val="555555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ARDE (Aspect Ratio Dependent Etching)</a:t>
            </a:r>
          </a:p>
          <a:p>
            <a:pPr marL="457200" indent="-228600" algn="l">
              <a:lnSpc>
                <a:spcPts val="2600"/>
              </a:lnSpc>
              <a:buFont typeface="Arial" panose="020B0604020202020204" pitchFamily="34" charset="0"/>
              <a:buChar char="–"/>
            </a:pPr>
            <a:r>
              <a:rPr lang="en-US" altLang="ko-KR" dirty="0">
                <a:solidFill>
                  <a:srgbClr val="555555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Chamber conditioning</a:t>
            </a:r>
          </a:p>
          <a:p>
            <a:pPr marL="457200" indent="-228600" algn="l">
              <a:lnSpc>
                <a:spcPts val="2600"/>
              </a:lnSpc>
              <a:buFont typeface="Arial" panose="020B0604020202020204" pitchFamily="34" charset="0"/>
              <a:buChar char="–"/>
            </a:pPr>
            <a:r>
              <a:rPr lang="en-US" altLang="ko-KR" dirty="0">
                <a:solidFill>
                  <a:srgbClr val="555555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Thermal drift</a:t>
            </a:r>
          </a:p>
          <a:p>
            <a:pPr algn="l">
              <a:lnSpc>
                <a:spcPts val="2800"/>
              </a:lnSpc>
              <a:spcBef>
                <a:spcPts val="1400"/>
              </a:spcBef>
              <a:buNone/>
            </a:pPr>
            <a:r>
              <a:rPr lang="ko-KR" altLang="en-US" sz="20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→ 공정 drift 표현하는 </a:t>
            </a:r>
            <a:r>
              <a:rPr lang="en-US" altLang="ko-KR" sz="2000" b="1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Wafer Representation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251BC3F-B9B3-C6F6-E0BB-47F64C4C99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84"/>
          <a:stretch>
            <a:fillRect/>
          </a:stretch>
        </p:blipFill>
        <p:spPr>
          <a:xfrm>
            <a:off x="7211371" y="194101"/>
            <a:ext cx="4681516" cy="6469797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BA806F22-B0FB-69D3-17C0-60074EBFA1DE}"/>
              </a:ext>
            </a:extLst>
          </p:cNvPr>
          <p:cNvGrpSpPr/>
          <p:nvPr/>
        </p:nvGrpSpPr>
        <p:grpSpPr>
          <a:xfrm>
            <a:off x="-1133475" y="514350"/>
            <a:ext cx="6777191" cy="7851775"/>
            <a:chOff x="-1133475" y="514350"/>
            <a:chExt cx="6777191" cy="7851775"/>
          </a:xfrm>
        </p:grpSpPr>
        <p:sp>
          <p:nvSpPr>
            <p:cNvPr id="9" name="TextBox 2">
              <a:extLst>
                <a:ext uri="{FF2B5EF4-FFF2-40B4-BE49-F238E27FC236}">
                  <a16:creationId xmlns:a16="http://schemas.microsoft.com/office/drawing/2014/main" id="{6B395FEE-7180-C9FB-5246-437AFCDC3AAC}"/>
                </a:ext>
              </a:extLst>
            </p:cNvPr>
            <p:cNvSpPr txBox="1"/>
            <p:nvPr/>
          </p:nvSpPr>
          <p:spPr>
            <a:xfrm>
              <a:off x="514350" y="514350"/>
              <a:ext cx="5129366" cy="596695"/>
            </a:xfrm>
            <a:prstGeom prst="rect">
              <a:avLst/>
            </a:prstGeom>
          </p:spPr>
          <p:txBody>
            <a:bodyPr lIns="0" tIns="52070" rIns="0" bIns="0" rtlCol="0" anchor="t"/>
            <a:lstStyle/>
            <a:p>
              <a:pPr lvl="0">
                <a:lnSpc>
                  <a:spcPct val="103749"/>
                </a:lnSpc>
              </a:pPr>
              <a:r>
                <a:rPr lang="en-US" altLang="ko-KR" sz="4000" b="1" dirty="0">
                  <a:solidFill>
                    <a:srgbClr val="156082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Modeling - Stage 4</a:t>
              </a:r>
              <a:r>
                <a:rPr lang="ko-KR" altLang="en-US" sz="4000" b="1" dirty="0">
                  <a:solidFill>
                    <a:srgbClr val="202A3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：</a:t>
              </a:r>
              <a:r>
                <a:rPr lang="en-US" altLang="ko-KR" sz="4000" dirty="0">
                  <a:solidFill>
                    <a:srgbClr val="202A3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 Temporal Modeling</a:t>
              </a:r>
              <a:endPara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pic>
          <p:nvPicPr>
            <p:cNvPr id="10" name="Picture 10">
              <a:extLst>
                <a:ext uri="{FF2B5EF4-FFF2-40B4-BE49-F238E27FC236}">
                  <a16:creationId xmlns:a16="http://schemas.microsoft.com/office/drawing/2014/main" id="{F549484E-82E9-211E-7490-47CF3811A4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11" name="Picture 11">
              <a:extLst>
                <a:ext uri="{FF2B5EF4-FFF2-40B4-BE49-F238E27FC236}">
                  <a16:creationId xmlns:a16="http://schemas.microsoft.com/office/drawing/2014/main" id="{601F25A4-6E95-55F0-BEE6-A2509389D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084284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67B535-0110-424A-9B59-583DE0E4C091}"/>
              </a:ext>
            </a:extLst>
          </p:cNvPr>
          <p:cNvSpPr txBox="1"/>
          <p:nvPr/>
        </p:nvSpPr>
        <p:spPr>
          <a:xfrm>
            <a:off x="870858" y="2870716"/>
            <a:ext cx="6253899" cy="132158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marL="228600" indent="-2286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Wafer Representation + (X, Y) </a:t>
            </a: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좌표</a:t>
            </a:r>
          </a:p>
          <a:p>
            <a:pPr marL="228600" indent="-2286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Regression Head (MLP) → </a:t>
            </a:r>
            <a:r>
              <a:rPr lang="en-US" altLang="ko-KR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si_etch / oxide_etch</a:t>
            </a:r>
          </a:p>
          <a:p>
            <a:pPr algn="l">
              <a:lnSpc>
                <a:spcPts val="2800"/>
              </a:lnSpc>
              <a:spcBef>
                <a:spcPts val="1400"/>
              </a:spcBef>
              <a:buNone/>
            </a:pPr>
            <a:r>
              <a:rPr lang="ko-KR" altLang="en-US" sz="20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→ 웨이퍼 내 </a:t>
            </a:r>
            <a:r>
              <a:rPr lang="ko-KR" altLang="en-US" sz="2000" b="1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공간 불균일성</a:t>
            </a:r>
            <a:r>
              <a:rPr lang="ko-KR" altLang="en-US" sz="20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예측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67BCCA-2091-D27C-DB39-2A5B38D4DC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84"/>
          <a:stretch>
            <a:fillRect/>
          </a:stretch>
        </p:blipFill>
        <p:spPr>
          <a:xfrm>
            <a:off x="7211371" y="194101"/>
            <a:ext cx="4681516" cy="6469797"/>
          </a:xfrm>
          <a:prstGeom prst="rect">
            <a:avLst/>
          </a:prstGeom>
        </p:spPr>
      </p:pic>
      <p:sp>
        <p:nvSpPr>
          <p:cNvPr id="9" name="TextBox 2">
            <a:extLst>
              <a:ext uri="{FF2B5EF4-FFF2-40B4-BE49-F238E27FC236}">
                <a16:creationId xmlns:a16="http://schemas.microsoft.com/office/drawing/2014/main" id="{38283BD3-769B-D58B-F1A4-B35A3D047355}"/>
              </a:ext>
            </a:extLst>
          </p:cNvPr>
          <p:cNvSpPr txBox="1"/>
          <p:nvPr/>
        </p:nvSpPr>
        <p:spPr>
          <a:xfrm>
            <a:off x="514350" y="514350"/>
            <a:ext cx="5129366" cy="596695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>
              <a:lnSpc>
                <a:spcPct val="103749"/>
              </a:lnSpc>
            </a:pPr>
            <a:r>
              <a:rPr lang="en-US" altLang="ko-KR" sz="4000" b="1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Modeling - Stage 5</a:t>
            </a:r>
            <a:r>
              <a:rPr lang="ko-KR" altLang="en-US" sz="4000" b="1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：</a:t>
            </a:r>
            <a:r>
              <a:rPr lang="en-US" altLang="ko-KR" sz="400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 Spatial Prediction</a:t>
            </a:r>
            <a:endParaRPr lang="en-US" sz="4000" spc="50" dirty="0">
              <a:solidFill>
                <a:srgbClr val="202A3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0FB2B1A-4675-F4FF-815A-7758B3A0A8BD}"/>
              </a:ext>
            </a:extLst>
          </p:cNvPr>
          <p:cNvGrpSpPr/>
          <p:nvPr/>
        </p:nvGrpSpPr>
        <p:grpSpPr>
          <a:xfrm>
            <a:off x="-1133475" y="3406775"/>
            <a:ext cx="5289550" cy="4959350"/>
            <a:chOff x="-1133475" y="3406775"/>
            <a:chExt cx="5289550" cy="4959350"/>
          </a:xfrm>
        </p:grpSpPr>
        <p:pic>
          <p:nvPicPr>
            <p:cNvPr id="10" name="Picture 10">
              <a:extLst>
                <a:ext uri="{FF2B5EF4-FFF2-40B4-BE49-F238E27FC236}">
                  <a16:creationId xmlns:a16="http://schemas.microsoft.com/office/drawing/2014/main" id="{FED21945-E8C0-4C40-E44B-ADFADAA7C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11" name="Picture 11">
              <a:extLst>
                <a:ext uri="{FF2B5EF4-FFF2-40B4-BE49-F238E27FC236}">
                  <a16:creationId xmlns:a16="http://schemas.microsoft.com/office/drawing/2014/main" id="{94341D41-99DB-CC04-B8F9-6F5E15B4A2B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285892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C5DD8-0BDB-1DEE-A455-06C70BC94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B5267CAB-12DE-B7D1-8809-7F495949C85E}"/>
              </a:ext>
            </a:extLst>
          </p:cNvPr>
          <p:cNvGrpSpPr/>
          <p:nvPr/>
        </p:nvGrpSpPr>
        <p:grpSpPr>
          <a:xfrm>
            <a:off x="3094187" y="736600"/>
            <a:ext cx="6003627" cy="5702995"/>
            <a:chOff x="2987307" y="736600"/>
            <a:chExt cx="6003627" cy="570299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13A6800B-467F-D195-2F5C-EBE9187D2A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371" r="8923"/>
            <a:stretch>
              <a:fillRect/>
            </a:stretch>
          </p:blipFill>
          <p:spPr>
            <a:xfrm>
              <a:off x="2987307" y="736600"/>
              <a:ext cx="6003627" cy="5129312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34D5C20-189B-493E-B357-66BADF6E08A1}"/>
                </a:ext>
              </a:extLst>
            </p:cNvPr>
            <p:cNvSpPr txBox="1"/>
            <p:nvPr/>
          </p:nvSpPr>
          <p:spPr>
            <a:xfrm>
              <a:off x="3378533" y="6070263"/>
              <a:ext cx="5221174" cy="369332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ko-KR" altLang="en-US" b="1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두 모델의 학습 관점 차이를 활용한 상보적 앙상블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B507830-FB26-ACC9-3B1E-55F27A20BE1A}"/>
              </a:ext>
            </a:extLst>
          </p:cNvPr>
          <p:cNvSpPr txBox="1"/>
          <p:nvPr/>
        </p:nvSpPr>
        <p:spPr>
          <a:xfrm>
            <a:off x="514350" y="514350"/>
            <a:ext cx="6343650" cy="596695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Pipeline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6A74C81-13B7-425B-6098-EBC82436ACB5}"/>
              </a:ext>
            </a:extLst>
          </p:cNvPr>
          <p:cNvGrpSpPr/>
          <p:nvPr/>
        </p:nvGrpSpPr>
        <p:grpSpPr>
          <a:xfrm>
            <a:off x="-1133475" y="3406775"/>
            <a:ext cx="5289550" cy="4959350"/>
            <a:chOff x="-1133475" y="3406775"/>
            <a:chExt cx="5289550" cy="4959350"/>
          </a:xfrm>
        </p:grpSpPr>
        <p:pic>
          <p:nvPicPr>
            <p:cNvPr id="10" name="Picture 10">
              <a:extLst>
                <a:ext uri="{FF2B5EF4-FFF2-40B4-BE49-F238E27FC236}">
                  <a16:creationId xmlns:a16="http://schemas.microsoft.com/office/drawing/2014/main" id="{6F96C87A-78D4-9747-E168-6F044F62F2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11" name="Picture 11">
              <a:extLst>
                <a:ext uri="{FF2B5EF4-FFF2-40B4-BE49-F238E27FC236}">
                  <a16:creationId xmlns:a16="http://schemas.microsoft.com/office/drawing/2014/main" id="{A60BBE1D-D746-C0CD-22A0-4F07489B7B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768972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67C201-9260-4121-B93A-7DAEF8DFB55E}"/>
              </a:ext>
            </a:extLst>
          </p:cNvPr>
          <p:cNvSpPr txBox="1"/>
          <p:nvPr/>
        </p:nvSpPr>
        <p:spPr>
          <a:xfrm>
            <a:off x="655335" y="2694359"/>
            <a:ext cx="6604000" cy="1938992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입력</a:t>
            </a:r>
            <a:r>
              <a:rPr lang="en-US" altLang="ko-KR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OES </a:t>
            </a:r>
            <a:r>
              <a:rPr lang="ko-KR" altLang="en-US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통계 요약</a:t>
            </a: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(평균 / 분산 / 피크)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모델</a:t>
            </a:r>
            <a:r>
              <a:rPr lang="en-US" altLang="ko-KR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</a:t>
            </a:r>
            <a:r>
              <a:rPr lang="en-US" altLang="ko-KR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XGBoost</a:t>
            </a:r>
            <a:r>
              <a:rPr lang="en-US" altLang="ko-KR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+ (X, Y) </a:t>
            </a: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좌표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강점</a:t>
            </a:r>
            <a:r>
              <a:rPr lang="en-US" altLang="ko-KR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</a:t>
            </a: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특징 간 </a:t>
            </a:r>
            <a:r>
              <a:rPr lang="ko-KR" altLang="en-US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비선형 상호작용</a:t>
            </a: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학습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해석</a:t>
            </a:r>
            <a:r>
              <a:rPr lang="en-US" altLang="ko-KR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</a:t>
            </a:r>
            <a:r>
              <a:rPr lang="en-US" altLang="ko-KR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SHAP</a:t>
            </a: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분석으로 변수 기여도 파악</a:t>
            </a:r>
            <a:endParaRPr lang="en-US" altLang="ko-KR" sz="2000" dirty="0">
              <a:solidFill>
                <a:srgbClr val="333333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marL="228600" indent="-228600" algn="l">
              <a:buFont typeface="Arial" panose="020B0604020202020204" pitchFamily="34" charset="0"/>
              <a:buChar char="•"/>
            </a:pPr>
            <a:endParaRPr lang="ko-KR" altLang="en-US" sz="2000" dirty="0">
              <a:solidFill>
                <a:srgbClr val="333333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algn="l">
              <a:buNone/>
            </a:pPr>
            <a:r>
              <a:rPr lang="ko-KR" altLang="en-US" sz="20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→ 정적 </a:t>
            </a:r>
            <a:r>
              <a:rPr lang="en-US" altLang="ko-KR" sz="20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Feature</a:t>
            </a:r>
            <a:r>
              <a:rPr lang="ko-KR" altLang="en-US" sz="20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관계에 강점</a:t>
            </a:r>
            <a:endParaRPr lang="ko-KR" altLang="en-US" sz="2000" b="1" dirty="0">
              <a:solidFill>
                <a:srgbClr val="156082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4" name="Copied Picture 4">
            <a:extLst>
              <a:ext uri="{FF2B5EF4-FFF2-40B4-BE49-F238E27FC236}">
                <a16:creationId xmlns:a16="http://schemas.microsoft.com/office/drawing/2014/main" id="{13A6800B-467F-D195-2F5C-EBE9187D2A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1" r="8923"/>
          <a:stretch>
            <a:fillRect/>
          </a:stretch>
        </p:blipFill>
        <p:spPr>
          <a:xfrm>
            <a:off x="6441743" y="787211"/>
            <a:ext cx="5429724" cy="546100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9B653EFE-8E62-345E-5785-EFDDEECC0134}"/>
              </a:ext>
            </a:extLst>
          </p:cNvPr>
          <p:cNvGrpSpPr/>
          <p:nvPr/>
        </p:nvGrpSpPr>
        <p:grpSpPr>
          <a:xfrm>
            <a:off x="-1133475" y="514350"/>
            <a:ext cx="6777191" cy="7851775"/>
            <a:chOff x="-1133475" y="514350"/>
            <a:chExt cx="6777191" cy="7851775"/>
          </a:xfrm>
        </p:grpSpPr>
        <p:sp>
          <p:nvSpPr>
            <p:cNvPr id="6" name="TextBox 2">
              <a:extLst>
                <a:ext uri="{FF2B5EF4-FFF2-40B4-BE49-F238E27FC236}">
                  <a16:creationId xmlns:a16="http://schemas.microsoft.com/office/drawing/2014/main" id="{7EB0C47E-8F1F-1D06-1F0D-4FF531044851}"/>
                </a:ext>
              </a:extLst>
            </p:cNvPr>
            <p:cNvSpPr txBox="1"/>
            <p:nvPr/>
          </p:nvSpPr>
          <p:spPr>
            <a:xfrm>
              <a:off x="514350" y="514350"/>
              <a:ext cx="5129366" cy="596695"/>
            </a:xfrm>
            <a:prstGeom prst="rect">
              <a:avLst/>
            </a:prstGeom>
          </p:spPr>
          <p:txBody>
            <a:bodyPr lIns="0" tIns="52070" rIns="0" bIns="0" rtlCol="0" anchor="t"/>
            <a:lstStyle/>
            <a:p>
              <a:pPr lvl="0">
                <a:lnSpc>
                  <a:spcPct val="103749"/>
                </a:lnSpc>
              </a:pPr>
              <a:r>
                <a:rPr lang="en-US" altLang="ko-KR" sz="4000" dirty="0">
                  <a:solidFill>
                    <a:srgbClr val="156082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ML Branch</a:t>
              </a:r>
              <a:r>
                <a:rPr lang="en-US" altLang="ko-KR" sz="4000" dirty="0">
                  <a:solidFill>
                    <a:srgbClr val="202A3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 :</a:t>
              </a:r>
            </a:p>
            <a:p>
              <a:pPr lvl="0">
                <a:lnSpc>
                  <a:spcPct val="103749"/>
                </a:lnSpc>
              </a:pPr>
              <a:r>
                <a:rPr lang="en-US" altLang="ko-KR" sz="4000" dirty="0">
                  <a:solidFill>
                    <a:srgbClr val="202A3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Baseline (</a:t>
              </a:r>
              <a:r>
                <a:rPr lang="en-US" altLang="ko-KR" sz="4000" dirty="0" err="1">
                  <a:solidFill>
                    <a:srgbClr val="202A3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XGBoost</a:t>
              </a:r>
              <a:r>
                <a:rPr lang="en-US" altLang="ko-KR" sz="4000" dirty="0">
                  <a:solidFill>
                    <a:srgbClr val="202A3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)</a:t>
              </a:r>
              <a:endPara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pic>
          <p:nvPicPr>
            <p:cNvPr id="7" name="Picture 10">
              <a:extLst>
                <a:ext uri="{FF2B5EF4-FFF2-40B4-BE49-F238E27FC236}">
                  <a16:creationId xmlns:a16="http://schemas.microsoft.com/office/drawing/2014/main" id="{9670A199-A706-64C8-09D9-85B717FA83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8" name="Picture 11">
              <a:extLst>
                <a:ext uri="{FF2B5EF4-FFF2-40B4-BE49-F238E27FC236}">
                  <a16:creationId xmlns:a16="http://schemas.microsoft.com/office/drawing/2014/main" id="{229DF7D0-23B7-B80C-C319-DD3C8E0B67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663629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DDF541-C753-4DFE-87A3-EC4D0193FC31}"/>
              </a:ext>
            </a:extLst>
          </p:cNvPr>
          <p:cNvSpPr txBox="1"/>
          <p:nvPr/>
        </p:nvSpPr>
        <p:spPr>
          <a:xfrm>
            <a:off x="682171" y="2737089"/>
            <a:ext cx="5768086" cy="1938992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입력</a:t>
            </a:r>
            <a:r>
              <a:rPr lang="en-US" altLang="ko-KR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OES + Process </a:t>
            </a:r>
            <a:r>
              <a:rPr lang="ko-KR" altLang="en-US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시계열 그대로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모델</a:t>
            </a:r>
            <a:r>
              <a:rPr lang="en-US" altLang="ko-KR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</a:t>
            </a:r>
            <a:r>
              <a:rPr lang="en-US" altLang="ko-KR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Cycle-Aware CNN + LSTM / Transformer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강점</a:t>
            </a:r>
            <a:r>
              <a:rPr lang="en-US" altLang="ko-KR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</a:t>
            </a: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사이클 간 </a:t>
            </a:r>
            <a:r>
              <a:rPr lang="ko-KR" altLang="en-US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시간적 변화 패턴</a:t>
            </a: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학습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해석</a:t>
            </a:r>
            <a:r>
              <a:rPr lang="en-US" altLang="ko-KR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</a:t>
            </a:r>
            <a:r>
              <a:rPr lang="en-US" altLang="ko-KR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Attention</a:t>
            </a: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시각화로 핵심 사이클 추적</a:t>
            </a:r>
            <a:endParaRPr lang="en-US" altLang="ko-KR" sz="2000" dirty="0">
              <a:solidFill>
                <a:srgbClr val="333333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marL="228600" indent="-228600" algn="l">
              <a:buFont typeface="Arial" panose="020B0604020202020204" pitchFamily="34" charset="0"/>
              <a:buChar char="•"/>
            </a:pPr>
            <a:endParaRPr lang="ko-KR" altLang="en-US" sz="2000" dirty="0">
              <a:solidFill>
                <a:srgbClr val="333333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algn="l">
              <a:buNone/>
            </a:pPr>
            <a:r>
              <a:rPr lang="ko-KR" altLang="en-US" sz="20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→ 동적 </a:t>
            </a:r>
            <a:r>
              <a:rPr lang="en-US" altLang="ko-KR" sz="20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Sequence</a:t>
            </a:r>
            <a:r>
              <a:rPr lang="ko-KR" altLang="en-US" sz="20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패턴을 포착하는 </a:t>
            </a:r>
            <a:r>
              <a:rPr lang="ko-KR" altLang="en-US" sz="2000" b="1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모델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50378B0-529E-4A1A-F8EE-B3C26C5722B3}"/>
              </a:ext>
            </a:extLst>
          </p:cNvPr>
          <p:cNvGrpSpPr/>
          <p:nvPr/>
        </p:nvGrpSpPr>
        <p:grpSpPr>
          <a:xfrm>
            <a:off x="-1133475" y="514350"/>
            <a:ext cx="7455617" cy="7851775"/>
            <a:chOff x="-1133475" y="514350"/>
            <a:chExt cx="7455617" cy="7851775"/>
          </a:xfrm>
        </p:grpSpPr>
        <p:sp>
          <p:nvSpPr>
            <p:cNvPr id="6" name="TextBox 2">
              <a:extLst>
                <a:ext uri="{FF2B5EF4-FFF2-40B4-BE49-F238E27FC236}">
                  <a16:creationId xmlns:a16="http://schemas.microsoft.com/office/drawing/2014/main" id="{982B4A7E-10A9-3417-90C2-38A1269FAB42}"/>
                </a:ext>
              </a:extLst>
            </p:cNvPr>
            <p:cNvSpPr txBox="1"/>
            <p:nvPr/>
          </p:nvSpPr>
          <p:spPr>
            <a:xfrm>
              <a:off x="514349" y="514350"/>
              <a:ext cx="5807793" cy="596695"/>
            </a:xfrm>
            <a:prstGeom prst="rect">
              <a:avLst/>
            </a:prstGeom>
          </p:spPr>
          <p:txBody>
            <a:bodyPr lIns="0" tIns="52070" rIns="0" bIns="0" rtlCol="0" anchor="t"/>
            <a:lstStyle/>
            <a:p>
              <a:pPr lvl="0">
                <a:lnSpc>
                  <a:spcPct val="103749"/>
                </a:lnSpc>
              </a:pPr>
              <a:r>
                <a:rPr lang="en-US" altLang="ko-KR" sz="4000" dirty="0">
                  <a:solidFill>
                    <a:srgbClr val="156082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DL Branch</a:t>
              </a:r>
              <a:r>
                <a:rPr lang="en-US" altLang="ko-KR" sz="4000" dirty="0">
                  <a:solidFill>
                    <a:srgbClr val="202A3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 : </a:t>
              </a:r>
            </a:p>
            <a:p>
              <a:pPr lvl="0">
                <a:lnSpc>
                  <a:spcPct val="103749"/>
                </a:lnSpc>
              </a:pPr>
              <a:r>
                <a:rPr lang="en-US" altLang="ko-KR" sz="4000" dirty="0">
                  <a:solidFill>
                    <a:srgbClr val="202A3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Proposed (Cycle-Aware)</a:t>
              </a:r>
              <a:endPara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pic>
          <p:nvPicPr>
            <p:cNvPr id="7" name="Picture 10">
              <a:extLst>
                <a:ext uri="{FF2B5EF4-FFF2-40B4-BE49-F238E27FC236}">
                  <a16:creationId xmlns:a16="http://schemas.microsoft.com/office/drawing/2014/main" id="{4FA12F3E-76DF-C0B8-4129-937F5B7F6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8" name="Picture 11">
              <a:extLst>
                <a:ext uri="{FF2B5EF4-FFF2-40B4-BE49-F238E27FC236}">
                  <a16:creationId xmlns:a16="http://schemas.microsoft.com/office/drawing/2014/main" id="{F0800994-590E-AE8E-5643-407CE6695B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  <p:pic>
        <p:nvPicPr>
          <p:cNvPr id="9" name="Copied Picture 4">
            <a:extLst>
              <a:ext uri="{FF2B5EF4-FFF2-40B4-BE49-F238E27FC236}">
                <a16:creationId xmlns:a16="http://schemas.microsoft.com/office/drawing/2014/main" id="{B07A5CC0-0918-9636-2EC7-3315C769B3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1" r="8923"/>
          <a:stretch>
            <a:fillRect/>
          </a:stretch>
        </p:blipFill>
        <p:spPr>
          <a:xfrm>
            <a:off x="6441743" y="787211"/>
            <a:ext cx="5429724" cy="546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5727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3375B8-6BEE-43B0-B069-16134DA6FA21}"/>
              </a:ext>
            </a:extLst>
          </p:cNvPr>
          <p:cNvSpPr txBox="1"/>
          <p:nvPr/>
        </p:nvSpPr>
        <p:spPr>
          <a:xfrm>
            <a:off x="624583" y="2447813"/>
            <a:ext cx="6604000" cy="2462213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ML</a:t>
            </a:r>
            <a:r>
              <a:rPr lang="en-US" altLang="ko-KR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</a:t>
            </a: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정적 피처 관계에 강함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DL</a:t>
            </a:r>
            <a:r>
              <a:rPr lang="en-US" altLang="ko-KR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</a:t>
            </a: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동적 시퀀스 패턴에 강함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→ </a:t>
            </a:r>
            <a:r>
              <a:rPr lang="ko-KR" altLang="en-US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실수하는 지점이 서로 다름</a:t>
            </a: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→ 상보적 결합</a:t>
            </a:r>
          </a:p>
          <a:p>
            <a:pPr algn="l">
              <a:buNone/>
            </a:pPr>
            <a:r>
              <a:rPr lang="ko-KR" altLang="en-US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최종 예측:</a:t>
            </a:r>
          </a:p>
          <a:p>
            <a:pPr algn="l">
              <a:buNone/>
            </a:pPr>
            <a:r>
              <a:rPr lang="en-US" altLang="ko-KR" dirty="0">
                <a:solidFill>
                  <a:srgbClr val="666666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1. pred = </a:t>
            </a:r>
            <a:r>
              <a:rPr lang="en-US" altLang="ko-KR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α</a:t>
            </a:r>
            <a:r>
              <a:rPr lang="en-US" altLang="ko-KR" dirty="0">
                <a:solidFill>
                  <a:srgbClr val="666666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· pred_ML + (1-</a:t>
            </a:r>
            <a:r>
              <a:rPr lang="en-US" altLang="ko-KR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α</a:t>
            </a:r>
            <a:r>
              <a:rPr lang="en-US" altLang="ko-KR" dirty="0">
                <a:solidFill>
                  <a:srgbClr val="666666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) · </a:t>
            </a:r>
            <a:r>
              <a:rPr lang="en-US" altLang="ko-KR" dirty="0" err="1">
                <a:solidFill>
                  <a:srgbClr val="666666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pred_DL</a:t>
            </a:r>
            <a:endParaRPr lang="en-US" altLang="ko-KR" dirty="0">
              <a:solidFill>
                <a:srgbClr val="666666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algn="l">
              <a:buNone/>
            </a:pPr>
            <a:r>
              <a:rPr lang="en-US" altLang="ko-KR" dirty="0">
                <a:solidFill>
                  <a:srgbClr val="666666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2. Meta learner</a:t>
            </a:r>
            <a:r>
              <a:rPr lang="ko-KR" altLang="en-US" dirty="0">
                <a:solidFill>
                  <a:srgbClr val="666666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로 </a:t>
            </a:r>
            <a:r>
              <a:rPr lang="ko-KR" altLang="en-US" dirty="0" err="1">
                <a:solidFill>
                  <a:srgbClr val="666666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스태킹</a:t>
            </a:r>
            <a:r>
              <a:rPr lang="ko-KR" altLang="en-US" dirty="0">
                <a:solidFill>
                  <a:srgbClr val="666666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endParaRPr lang="en-US" altLang="ko-KR" dirty="0">
              <a:solidFill>
                <a:srgbClr val="666666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algn="l">
              <a:buNone/>
            </a:pPr>
            <a:endParaRPr lang="en-US" altLang="ko-KR" dirty="0">
              <a:solidFill>
                <a:srgbClr val="666666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algn="l">
              <a:buNone/>
            </a:pPr>
            <a:r>
              <a:rPr lang="ko-KR" altLang="en-US" sz="20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→ 서로 다른 관점의 예측을 </a:t>
            </a:r>
            <a:r>
              <a:rPr lang="ko-KR" altLang="en-US" sz="2000" b="1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결합</a:t>
            </a:r>
            <a:r>
              <a:rPr lang="ko-KR" altLang="en-US" sz="20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하여 정확도 향상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3BCA308-6FC9-92A5-D2CF-86397EAB1930}"/>
              </a:ext>
            </a:extLst>
          </p:cNvPr>
          <p:cNvGrpSpPr/>
          <p:nvPr/>
        </p:nvGrpSpPr>
        <p:grpSpPr>
          <a:xfrm>
            <a:off x="-1133475" y="514350"/>
            <a:ext cx="6777191" cy="7851775"/>
            <a:chOff x="-1133475" y="514350"/>
            <a:chExt cx="6777191" cy="7851775"/>
          </a:xfrm>
        </p:grpSpPr>
        <p:sp>
          <p:nvSpPr>
            <p:cNvPr id="6" name="TextBox 2">
              <a:extLst>
                <a:ext uri="{FF2B5EF4-FFF2-40B4-BE49-F238E27FC236}">
                  <a16:creationId xmlns:a16="http://schemas.microsoft.com/office/drawing/2014/main" id="{D0956C64-E9D0-94F1-7EAD-8C8A13511DB2}"/>
                </a:ext>
              </a:extLst>
            </p:cNvPr>
            <p:cNvSpPr txBox="1"/>
            <p:nvPr/>
          </p:nvSpPr>
          <p:spPr>
            <a:xfrm>
              <a:off x="514350" y="514350"/>
              <a:ext cx="5129366" cy="596695"/>
            </a:xfrm>
            <a:prstGeom prst="rect">
              <a:avLst/>
            </a:prstGeom>
          </p:spPr>
          <p:txBody>
            <a:bodyPr lIns="0" tIns="52070" rIns="0" bIns="0" rtlCol="0" anchor="t"/>
            <a:lstStyle/>
            <a:p>
              <a:pPr lvl="0">
                <a:lnSpc>
                  <a:spcPct val="103749"/>
                </a:lnSpc>
              </a:pPr>
              <a:r>
                <a:rPr lang="en-US" altLang="ko-KR" sz="4000" b="1" dirty="0">
                  <a:solidFill>
                    <a:srgbClr val="156082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Why</a:t>
              </a:r>
              <a:r>
                <a:rPr lang="ko-KR" altLang="en-US" sz="4000" b="1" dirty="0">
                  <a:solidFill>
                    <a:srgbClr val="156082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 </a:t>
              </a:r>
              <a:r>
                <a:rPr lang="en-US" altLang="ko-KR" sz="4000" b="1" dirty="0">
                  <a:solidFill>
                    <a:srgbClr val="156082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Ensemble? </a:t>
              </a:r>
              <a:r>
                <a:rPr lang="en-US" altLang="ko-KR" sz="4000" b="1" dirty="0"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:</a:t>
              </a:r>
            </a:p>
            <a:p>
              <a:pPr lvl="0">
                <a:lnSpc>
                  <a:spcPct val="103749"/>
                </a:lnSpc>
              </a:pPr>
              <a:r>
                <a:rPr lang="ko-KR" altLang="en-US" sz="4000" b="1" dirty="0">
                  <a:solidFill>
                    <a:srgbClr val="202A3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상보적 결합</a:t>
              </a:r>
              <a:endPara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pic>
          <p:nvPicPr>
            <p:cNvPr id="7" name="Picture 10">
              <a:extLst>
                <a:ext uri="{FF2B5EF4-FFF2-40B4-BE49-F238E27FC236}">
                  <a16:creationId xmlns:a16="http://schemas.microsoft.com/office/drawing/2014/main" id="{5C0F2C69-ABE9-5B50-4062-6C28C43220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8" name="Picture 11">
              <a:extLst>
                <a:ext uri="{FF2B5EF4-FFF2-40B4-BE49-F238E27FC236}">
                  <a16:creationId xmlns:a16="http://schemas.microsoft.com/office/drawing/2014/main" id="{FB1BB9EA-A6B8-5549-998B-665B2C0EC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  <p:pic>
        <p:nvPicPr>
          <p:cNvPr id="9" name="Copied Picture 4">
            <a:extLst>
              <a:ext uri="{FF2B5EF4-FFF2-40B4-BE49-F238E27FC236}">
                <a16:creationId xmlns:a16="http://schemas.microsoft.com/office/drawing/2014/main" id="{AC302A60-EE08-F416-1BE4-C4926E7653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1" r="8923"/>
          <a:stretch>
            <a:fillRect/>
          </a:stretch>
        </p:blipFill>
        <p:spPr>
          <a:xfrm>
            <a:off x="6441743" y="787211"/>
            <a:ext cx="5429724" cy="546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200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5FA5D-3090-7E0B-0A53-A2DA10FFC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B36C9DF-9B0D-8C2E-ED48-6A8E9656A33A}"/>
              </a:ext>
            </a:extLst>
          </p:cNvPr>
          <p:cNvSpPr txBox="1"/>
          <p:nvPr/>
        </p:nvSpPr>
        <p:spPr>
          <a:xfrm>
            <a:off x="514350" y="514350"/>
            <a:ext cx="4146140" cy="665521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Expected Impact</a:t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9A536331-8D17-72BE-EB3F-B22959394F4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C7F0D7D1-5C92-36D4-F296-79686BE9A56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A8889FCD-F161-774E-0160-0375C7761EB5}"/>
              </a:ext>
            </a:extLst>
          </p:cNvPr>
          <p:cNvGrpSpPr/>
          <p:nvPr/>
        </p:nvGrpSpPr>
        <p:grpSpPr>
          <a:xfrm>
            <a:off x="694086" y="1743170"/>
            <a:ext cx="10803829" cy="3798873"/>
            <a:chOff x="694086" y="1586760"/>
            <a:chExt cx="10803829" cy="3798873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34359D35-27BC-1719-AF84-6AD202516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07015" y="1586760"/>
              <a:ext cx="5190900" cy="3798873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DEEC56B-FEDC-17BE-6FC7-C1F51E95A2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4086" y="1586760"/>
              <a:ext cx="5190900" cy="3798873"/>
            </a:xfrm>
            <a:prstGeom prst="rect">
              <a:avLst/>
            </a:prstGeom>
          </p:spPr>
        </p:pic>
        <p:sp>
          <p:nvSpPr>
            <p:cNvPr id="5" name="TextBox 2">
              <a:extLst>
                <a:ext uri="{FF2B5EF4-FFF2-40B4-BE49-F238E27FC236}">
                  <a16:creationId xmlns:a16="http://schemas.microsoft.com/office/drawing/2014/main" id="{704174BD-96F6-5884-8BC2-A101D0FC8EA5}"/>
                </a:ext>
              </a:extLst>
            </p:cNvPr>
            <p:cNvSpPr txBox="1"/>
            <p:nvPr/>
          </p:nvSpPr>
          <p:spPr>
            <a:xfrm>
              <a:off x="1038364" y="2229181"/>
              <a:ext cx="4502344" cy="665521"/>
            </a:xfrm>
            <a:prstGeom prst="rect">
              <a:avLst/>
            </a:prstGeom>
          </p:spPr>
          <p:txBody>
            <a:bodyPr lIns="0" tIns="52070" rIns="0" bIns="0" rtlCol="0" anchor="t"/>
            <a:lstStyle/>
            <a:p>
              <a:pPr lvl="0" algn="ctr">
                <a:lnSpc>
                  <a:spcPct val="103749"/>
                </a:lnSpc>
              </a:pPr>
              <a:r>
                <a:rPr lang="en-US" sz="3200" spc="50" dirty="0">
                  <a:solidFill>
                    <a:srgbClr val="202A3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VM(Virtual Metrology)</a:t>
              </a:r>
            </a:p>
          </p:txBody>
        </p:sp>
        <p:sp>
          <p:nvSpPr>
            <p:cNvPr id="8" name="TextBox 2">
              <a:extLst>
                <a:ext uri="{FF2B5EF4-FFF2-40B4-BE49-F238E27FC236}">
                  <a16:creationId xmlns:a16="http://schemas.microsoft.com/office/drawing/2014/main" id="{AE96A2E8-2EBB-BDDA-3FE0-C7A259B9EA97}"/>
                </a:ext>
              </a:extLst>
            </p:cNvPr>
            <p:cNvSpPr txBox="1"/>
            <p:nvPr/>
          </p:nvSpPr>
          <p:spPr>
            <a:xfrm>
              <a:off x="6599459" y="2229181"/>
              <a:ext cx="4606012" cy="665521"/>
            </a:xfrm>
            <a:prstGeom prst="rect">
              <a:avLst/>
            </a:prstGeom>
          </p:spPr>
          <p:txBody>
            <a:bodyPr lIns="0" tIns="52070" rIns="0" bIns="0" rtlCol="0" anchor="t"/>
            <a:lstStyle/>
            <a:p>
              <a:pPr lvl="0" algn="ctr">
                <a:lnSpc>
                  <a:spcPct val="103749"/>
                </a:lnSpc>
              </a:pPr>
              <a:r>
                <a:rPr lang="en-US" sz="3200" spc="50" dirty="0">
                  <a:solidFill>
                    <a:srgbClr val="202A3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Cycle-Aware of BOSCH</a:t>
              </a:r>
            </a:p>
          </p:txBody>
        </p:sp>
        <p:sp>
          <p:nvSpPr>
            <p:cNvPr id="9" name="TextBox 2">
              <a:extLst>
                <a:ext uri="{FF2B5EF4-FFF2-40B4-BE49-F238E27FC236}">
                  <a16:creationId xmlns:a16="http://schemas.microsoft.com/office/drawing/2014/main" id="{69789ECC-BE35-C29F-9135-0DED4DA95C8D}"/>
                </a:ext>
              </a:extLst>
            </p:cNvPr>
            <p:cNvSpPr txBox="1"/>
            <p:nvPr/>
          </p:nvSpPr>
          <p:spPr>
            <a:xfrm>
              <a:off x="944082" y="3387857"/>
              <a:ext cx="4690908" cy="1273945"/>
            </a:xfrm>
            <a:prstGeom prst="rect">
              <a:avLst/>
            </a:prstGeom>
          </p:spPr>
          <p:txBody>
            <a:bodyPr lIns="0" tIns="52070" rIns="0" bIns="0" rtlCol="0" anchor="t"/>
            <a:lstStyle/>
            <a:p>
              <a:pPr lvl="0">
                <a:lnSpc>
                  <a:spcPct val="103749"/>
                </a:lnSpc>
              </a:pPr>
              <a:r>
                <a:rPr lang="en-US" altLang="ko-KR" sz="2400" spc="50" dirty="0">
                  <a:solidFill>
                    <a:srgbClr val="202A3E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- </a:t>
              </a:r>
              <a:r>
                <a:rPr lang="ko-KR" altLang="en-US" sz="2400" spc="50" dirty="0">
                  <a:solidFill>
                    <a:srgbClr val="202A3E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측정 시간 </a:t>
              </a:r>
              <a:r>
                <a:rPr lang="en-US" altLang="ko-KR" sz="2400" spc="50" dirty="0">
                  <a:solidFill>
                    <a:srgbClr val="202A3E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/ </a:t>
              </a:r>
              <a:r>
                <a:rPr lang="ko-KR" altLang="en-US" sz="2400" spc="50" dirty="0">
                  <a:solidFill>
                    <a:srgbClr val="202A3E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비용절감</a:t>
              </a:r>
              <a:endParaRPr lang="en-US" altLang="ko-KR" sz="2400" spc="50" dirty="0">
                <a:solidFill>
                  <a:srgbClr val="202A3E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lvl="0">
                <a:lnSpc>
                  <a:spcPct val="103749"/>
                </a:lnSpc>
              </a:pPr>
              <a:r>
                <a:rPr lang="en-US" altLang="ko-KR" sz="2400" spc="50" dirty="0">
                  <a:solidFill>
                    <a:srgbClr val="202A3E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- </a:t>
              </a:r>
              <a:r>
                <a:rPr lang="ko-KR" altLang="en-US" sz="2400" spc="50" dirty="0">
                  <a:solidFill>
                    <a:srgbClr val="202A3E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전수 검사 가능성 확대</a:t>
              </a:r>
              <a:endParaRPr lang="en-US" altLang="ko-KR" sz="2400" spc="50" dirty="0">
                <a:solidFill>
                  <a:srgbClr val="202A3E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lvl="0">
                <a:lnSpc>
                  <a:spcPct val="103749"/>
                </a:lnSpc>
              </a:pPr>
              <a:r>
                <a:rPr lang="en-US" altLang="ko-KR" sz="2400" spc="50" dirty="0">
                  <a:solidFill>
                    <a:srgbClr val="202A3E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- </a:t>
              </a:r>
              <a:r>
                <a:rPr lang="ko-KR" altLang="en-US" sz="2400" spc="50" dirty="0">
                  <a:solidFill>
                    <a:srgbClr val="202A3E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공정 모니터링 및 제어 실시간성 향상</a:t>
              </a:r>
              <a:endParaRPr lang="en-US" sz="2400" spc="50" dirty="0">
                <a:solidFill>
                  <a:srgbClr val="202A3E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2" name="TextBox 2">
              <a:extLst>
                <a:ext uri="{FF2B5EF4-FFF2-40B4-BE49-F238E27FC236}">
                  <a16:creationId xmlns:a16="http://schemas.microsoft.com/office/drawing/2014/main" id="{73227161-AF88-F62A-3F0D-A386E7F1851A}"/>
                </a:ext>
              </a:extLst>
            </p:cNvPr>
            <p:cNvSpPr txBox="1"/>
            <p:nvPr/>
          </p:nvSpPr>
          <p:spPr>
            <a:xfrm>
              <a:off x="6557011" y="3387857"/>
              <a:ext cx="4690908" cy="1273945"/>
            </a:xfrm>
            <a:prstGeom prst="rect">
              <a:avLst/>
            </a:prstGeom>
          </p:spPr>
          <p:txBody>
            <a:bodyPr lIns="0" tIns="52070" rIns="0" bIns="0" rtlCol="0" anchor="t"/>
            <a:lstStyle/>
            <a:p>
              <a:pPr lvl="0">
                <a:lnSpc>
                  <a:spcPct val="103749"/>
                </a:lnSpc>
              </a:pPr>
              <a:r>
                <a:rPr lang="en-US" altLang="ko-KR" sz="2400" spc="50" dirty="0">
                  <a:solidFill>
                    <a:srgbClr val="202A3E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- BOSCH </a:t>
              </a:r>
              <a:r>
                <a:rPr lang="ko-KR" altLang="en-US" sz="2400" spc="50" dirty="0">
                  <a:solidFill>
                    <a:srgbClr val="202A3E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공정의 </a:t>
              </a:r>
              <a:r>
                <a:rPr lang="en-US" altLang="ko-KR" sz="2400" spc="50" dirty="0">
                  <a:solidFill>
                    <a:srgbClr val="202A3E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Cycle</a:t>
              </a:r>
              <a:r>
                <a:rPr lang="ko-KR" altLang="en-US" sz="2400" spc="50" dirty="0">
                  <a:solidFill>
                    <a:srgbClr val="202A3E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구조를 반영한 표현 학습</a:t>
              </a:r>
              <a:endParaRPr lang="en-US" altLang="ko-KR" sz="2400" spc="50" dirty="0">
                <a:solidFill>
                  <a:srgbClr val="202A3E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lvl="0">
                <a:lnSpc>
                  <a:spcPct val="103749"/>
                </a:lnSpc>
              </a:pPr>
              <a:r>
                <a:rPr lang="en-US" altLang="ko-KR" sz="2400" spc="50" dirty="0">
                  <a:solidFill>
                    <a:srgbClr val="202A3E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- </a:t>
              </a:r>
              <a:r>
                <a:rPr lang="ko-KR" altLang="en-US" sz="2400" spc="50" dirty="0">
                  <a:solidFill>
                    <a:srgbClr val="202A3E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더 정교한 예측 가능성</a:t>
              </a:r>
              <a:endParaRPr lang="en-US" altLang="ko-KR" sz="2400" spc="50" dirty="0">
                <a:solidFill>
                  <a:srgbClr val="202A3E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37421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 rot="20728903">
            <a:off x="495300" y="-1727200"/>
            <a:ext cx="11423650" cy="6464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 rot="1246973">
            <a:off x="495300" y="1797050"/>
            <a:ext cx="11423650" cy="6464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489200" y="2647950"/>
            <a:ext cx="7213600" cy="1778000"/>
          </a:xfrm>
          <a:prstGeom prst="rect">
            <a:avLst/>
          </a:prstGeom>
        </p:spPr>
        <p:txBody>
          <a:bodyPr lIns="0" tIns="165100" rIns="0" bIns="0" rtlCol="0" anchor="t"/>
          <a:lstStyle/>
          <a:p>
            <a:pPr lvl="0" algn="ctr">
              <a:lnSpc>
                <a:spcPct val="94619"/>
              </a:lnSpc>
            </a:pPr>
            <a:r>
              <a:rPr lang="en-US" sz="10000" dirty="0">
                <a:solidFill>
                  <a:srgbClr val="202A3E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F787AD634E8974FAABB582240919361" ma:contentTypeVersion="5" ma:contentTypeDescription="새 문서를 만듭니다." ma:contentTypeScope="" ma:versionID="1fa8b2931dd5ad3d6ba865f7069cfefe">
  <xsd:schema xmlns:xsd="http://www.w3.org/2001/XMLSchema" xmlns:xs="http://www.w3.org/2001/XMLSchema" xmlns:p="http://schemas.microsoft.com/office/2006/metadata/properties" xmlns:ns3="c3eb8d4a-7777-481c-ac78-29a95a185d1c" targetNamespace="http://schemas.microsoft.com/office/2006/metadata/properties" ma:root="true" ma:fieldsID="f44929429e3522498aed53a9090a96ba" ns3:_="">
    <xsd:import namespace="c3eb8d4a-7777-481c-ac78-29a95a185d1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eb8d4a-7777-481c-ac78-29a95a185d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7B072FC-6A9A-4992-90A1-A618702A7127}">
  <ds:schemaRefs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purl.org/dc/terms/"/>
    <ds:schemaRef ds:uri="c3eb8d4a-7777-481c-ac78-29a95a185d1c"/>
    <ds:schemaRef ds:uri="http://www.w3.org/XML/1998/namespace"/>
    <ds:schemaRef ds:uri="http://schemas.microsoft.com/office/2006/documentManagement/typ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0787CD8-1CA6-4A7E-9E33-CF87F87B4A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3eb8d4a-7777-481c-ac78-29a95a185d1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68D86DD-8A5A-42B5-B777-EE1A170D4A5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2604</TotalTime>
  <Words>4946</Words>
  <Application>Microsoft Office PowerPoint</Application>
  <PresentationFormat>와이드스크린</PresentationFormat>
  <Paragraphs>346</Paragraphs>
  <Slides>32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41" baseType="lpstr">
      <vt:lpstr>Arial</vt:lpstr>
      <vt:lpstr>맑은 고딕</vt:lpstr>
      <vt:lpstr>Pretendard Black</vt:lpstr>
      <vt:lpstr>Pretendard ExtraBold</vt:lpstr>
      <vt:lpstr>Pretendard Light</vt:lpstr>
      <vt:lpstr>Noto Sans KR ExtraBold</vt:lpstr>
      <vt:lpstr>Pretendard Medium</vt:lpstr>
      <vt:lpstr>Pretendard SemiBold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박성하</dc:creator>
  <cp:lastModifiedBy>이준서</cp:lastModifiedBy>
  <cp:revision>19</cp:revision>
  <dcterms:created xsi:type="dcterms:W3CDTF">2026-04-14T07:50:13Z</dcterms:created>
  <dcterms:modified xsi:type="dcterms:W3CDTF">2026-05-08T04:33:06Z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0x010100CF787AD634E8974FAABB582240919361</vt:lpwstr>
  </property>
</Properties>
</file>