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362" r:id="rId2"/>
    <p:sldId id="282" r:id="rId3"/>
    <p:sldId id="339" r:id="rId4"/>
    <p:sldId id="279" r:id="rId5"/>
    <p:sldId id="287" r:id="rId6"/>
    <p:sldId id="295" r:id="rId7"/>
    <p:sldId id="341" r:id="rId8"/>
    <p:sldId id="288" r:id="rId9"/>
    <p:sldId id="262" r:id="rId10"/>
    <p:sldId id="294" r:id="rId11"/>
    <p:sldId id="342" r:id="rId12"/>
    <p:sldId id="345" r:id="rId13"/>
    <p:sldId id="344" r:id="rId14"/>
    <p:sldId id="343" r:id="rId15"/>
    <p:sldId id="257" r:id="rId16"/>
    <p:sldId id="346" r:id="rId17"/>
    <p:sldId id="347" r:id="rId18"/>
    <p:sldId id="348" r:id="rId19"/>
    <p:sldId id="350" r:id="rId20"/>
    <p:sldId id="349" r:id="rId21"/>
    <p:sldId id="351" r:id="rId22"/>
    <p:sldId id="352" r:id="rId23"/>
    <p:sldId id="353" r:id="rId24"/>
    <p:sldId id="354" r:id="rId25"/>
    <p:sldId id="358" r:id="rId26"/>
    <p:sldId id="355" r:id="rId27"/>
    <p:sldId id="356" r:id="rId28"/>
    <p:sldId id="357" r:id="rId29"/>
    <p:sldId id="359" r:id="rId30"/>
    <p:sldId id="336" r:id="rId31"/>
    <p:sldId id="367" r:id="rId32"/>
    <p:sldId id="360" r:id="rId33"/>
    <p:sldId id="340" r:id="rId34"/>
    <p:sldId id="364" r:id="rId35"/>
    <p:sldId id="365" r:id="rId36"/>
    <p:sldId id="363" r:id="rId37"/>
    <p:sldId id="278" r:id="rId38"/>
    <p:sldId id="368" r:id="rId39"/>
  </p:sldIdLst>
  <p:sldSz cx="12192000" cy="6858000"/>
  <p:notesSz cx="6858000" cy="9144000"/>
  <p:embeddedFontLst>
    <p:embeddedFont>
      <p:font typeface="Pretendard Black" panose="020B0600000101010101" charset="-127"/>
      <p:bold r:id="rId41"/>
    </p:embeddedFont>
    <p:embeddedFont>
      <p:font typeface="Pretendard ExtraBold" panose="020B0600000101010101" charset="-127"/>
      <p:bold r:id="rId42"/>
    </p:embeddedFont>
    <p:embeddedFont>
      <p:font typeface="Pretendard Light" panose="020B0600000101010101" charset="-127"/>
      <p:regular r:id="rId43"/>
    </p:embeddedFont>
    <p:embeddedFont>
      <p:font typeface="Pretendard Medium" panose="020B0600000101010101" charset="-127"/>
      <p:regular r:id="rId44"/>
    </p:embeddedFont>
    <p:embeddedFont>
      <p:font typeface="Pretendard SemiBold" panose="020B0600000101010101" charset="-127"/>
      <p:bold r:id="rId45"/>
    </p:embeddedFont>
    <p:embeddedFont>
      <p:font typeface="맑은 고딕" panose="020B0503020000020004" pitchFamily="50" charset="-127"/>
      <p:regular r:id="rId46"/>
      <p:bold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8803" autoAdjust="0"/>
  </p:normalViewPr>
  <p:slideViewPr>
    <p:cSldViewPr snapToGrid="0">
      <p:cViewPr varScale="1">
        <p:scale>
          <a:sx n="83" d="100"/>
          <a:sy n="83" d="100"/>
        </p:scale>
        <p:origin x="91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B55F4-A6FF-42DF-ABA7-A03E940C9C5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4285C-6431-4B5D-85A4-FDC338944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60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반도체 제조 공정에서 웨이퍼의 품질은 식각 깊이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등의 물리적인 측정값에 따라 달라집니다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이를 실제로 측정하려면 비용과 시간이 많이 소요되고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웨이퍼에 대해 수행하기 어렵다는 문제가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공정 중에 수집되는 센서 데이터로부터 이러한 물리적 측정값을 예측하는 기술로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전수 검사를 가능하게 하고 공정 제어의 실시간성을 높일 수 있다는 장점이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00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3102-3E0D-5D92-3BDE-31765BBF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8F72A1-EB47-C499-E2C7-EE2A1DB9C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D0942F-6B04-CDD2-4660-CF7EFC768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반도체 식각 공정의 </a:t>
            </a:r>
            <a:r>
              <a:rPr lang="en-US" altLang="ko-KR" dirty="0"/>
              <a:t>VM </a:t>
            </a:r>
            <a:r>
              <a:rPr lang="ko-KR" altLang="en-US" dirty="0"/>
              <a:t>연구에서는 </a:t>
            </a:r>
            <a:r>
              <a:rPr lang="en-US" altLang="ko-KR" dirty="0"/>
              <a:t>OES </a:t>
            </a:r>
            <a:r>
              <a:rPr lang="ko-KR" altLang="en-US" dirty="0"/>
              <a:t>데이터를 이용하여 식각 후 </a:t>
            </a:r>
            <a:r>
              <a:rPr lang="en-US" altLang="ko-KR" dirty="0"/>
              <a:t>critical dimension(CD), etch rate </a:t>
            </a:r>
            <a:r>
              <a:rPr lang="ko-KR" altLang="en-US" dirty="0"/>
              <a:t>등을 예측하는 연구가 활발히 진행되어 왔습니다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OES</a:t>
            </a:r>
            <a:r>
              <a:rPr lang="ko-KR" altLang="en-US" dirty="0"/>
              <a:t>의 주요 </a:t>
            </a:r>
            <a:r>
              <a:rPr lang="en-US" altLang="ko-KR" dirty="0"/>
              <a:t>wavelength</a:t>
            </a:r>
            <a:r>
              <a:rPr lang="ko-KR" altLang="en-US" dirty="0"/>
              <a:t>를 선택한 뒤 평균</a:t>
            </a:r>
            <a:r>
              <a:rPr lang="en-US" altLang="ko-KR" dirty="0"/>
              <a:t>, </a:t>
            </a:r>
            <a:r>
              <a:rPr lang="ko-KR" altLang="en-US" dirty="0"/>
              <a:t>최대값</a:t>
            </a:r>
            <a:r>
              <a:rPr lang="en-US" altLang="ko-KR" dirty="0"/>
              <a:t>, </a:t>
            </a:r>
            <a:r>
              <a:rPr lang="ko-KR" altLang="en-US" dirty="0"/>
              <a:t>분산 등의 통계 기반 </a:t>
            </a:r>
            <a:r>
              <a:rPr lang="en-US" altLang="ko-KR" dirty="0"/>
              <a:t>feature</a:t>
            </a:r>
            <a:r>
              <a:rPr lang="ko-KR" altLang="en-US" dirty="0"/>
              <a:t>를 추출하여 </a:t>
            </a:r>
            <a:r>
              <a:rPr lang="en-US" altLang="ko-KR" dirty="0"/>
              <a:t>PLS</a:t>
            </a:r>
            <a:r>
              <a:rPr lang="ko-KR" altLang="en-US" dirty="0"/>
              <a:t>나 </a:t>
            </a:r>
            <a:r>
              <a:rPr lang="en-US" altLang="ko-KR" dirty="0"/>
              <a:t>SVR </a:t>
            </a:r>
            <a:r>
              <a:rPr lang="ko-KR" altLang="en-US" dirty="0"/>
              <a:t>같은 </a:t>
            </a:r>
            <a:r>
              <a:rPr lang="ko-KR" altLang="en-US" dirty="0" err="1"/>
              <a:t>머신러닝</a:t>
            </a:r>
            <a:r>
              <a:rPr lang="ko-KR" altLang="en-US" dirty="0"/>
              <a:t> 모델에 입력하는 방식이 주로 사용되었습니다</a:t>
            </a:r>
            <a:r>
              <a:rPr lang="en-US" altLang="ko-KR" dirty="0"/>
              <a:t>. </a:t>
            </a:r>
            <a:r>
              <a:rPr lang="ko-KR" altLang="en-US" dirty="0"/>
              <a:t>예를 들면 </a:t>
            </a:r>
            <a:r>
              <a:rPr lang="en-US" altLang="ko-KR" dirty="0"/>
              <a:t>PCA</a:t>
            </a:r>
            <a:r>
              <a:rPr lang="ko-KR" altLang="en-US" dirty="0"/>
              <a:t>를 이용해 주요 </a:t>
            </a:r>
            <a:r>
              <a:rPr lang="en-US" altLang="ko-KR" dirty="0"/>
              <a:t>wavelength</a:t>
            </a:r>
            <a:r>
              <a:rPr lang="ko-KR" altLang="en-US" dirty="0"/>
              <a:t>를 선택하고</a:t>
            </a:r>
            <a:r>
              <a:rPr lang="en-US" altLang="ko-KR" dirty="0"/>
              <a:t>, integration band </a:t>
            </a:r>
            <a:r>
              <a:rPr lang="ko-KR" altLang="en-US" dirty="0"/>
              <a:t>및 </a:t>
            </a:r>
            <a:r>
              <a:rPr lang="en-US" altLang="ko-KR" dirty="0"/>
              <a:t>statistics-based / dynamics-inspired feature</a:t>
            </a:r>
            <a:r>
              <a:rPr lang="ko-KR" altLang="en-US" dirty="0"/>
              <a:t>를 추출하여 </a:t>
            </a:r>
            <a:r>
              <a:rPr lang="en-US" altLang="ko-KR" dirty="0"/>
              <a:t>VM </a:t>
            </a:r>
            <a:r>
              <a:rPr lang="ko-KR" altLang="en-US" dirty="0"/>
              <a:t>모델을 구축하여 기존 </a:t>
            </a:r>
            <a:r>
              <a:rPr lang="en-US" altLang="ko-KR" dirty="0"/>
              <a:t>handcrafted feature </a:t>
            </a:r>
            <a:r>
              <a:rPr lang="ko-KR" altLang="en-US" dirty="0"/>
              <a:t>기반 방식보다 더 높은 예측 성능을 달성한 연구 결과도 있습니다</a:t>
            </a:r>
            <a:r>
              <a:rPr lang="en-US" altLang="ko-KR" dirty="0"/>
              <a:t>. </a:t>
            </a:r>
            <a:r>
              <a:rPr lang="ko-KR" altLang="en-US" dirty="0"/>
              <a:t>하지만 기존 방식은 여전히 </a:t>
            </a:r>
            <a:r>
              <a:rPr lang="en-US" altLang="ko-KR" dirty="0"/>
              <a:t>OES</a:t>
            </a:r>
            <a:r>
              <a:rPr lang="ko-KR" altLang="en-US" dirty="0"/>
              <a:t>의 고차원 </a:t>
            </a:r>
            <a:r>
              <a:rPr lang="en-US" altLang="ko-KR" dirty="0"/>
              <a:t>temporal signal</a:t>
            </a:r>
            <a:r>
              <a:rPr lang="ko-KR" altLang="en-US" dirty="0"/>
              <a:t>을 </a:t>
            </a:r>
            <a:r>
              <a:rPr lang="en-US" altLang="ko-KR" dirty="0"/>
              <a:t>feature engineering </a:t>
            </a:r>
            <a:r>
              <a:rPr lang="ko-KR" altLang="en-US" dirty="0"/>
              <a:t>과정에서 축약하여 사용하기 때문에</a:t>
            </a:r>
            <a:r>
              <a:rPr lang="en-US" altLang="ko-KR" dirty="0"/>
              <a:t>, BOSCH </a:t>
            </a:r>
            <a:r>
              <a:rPr lang="ko-KR" altLang="en-US" dirty="0"/>
              <a:t>공정의 </a:t>
            </a:r>
            <a:r>
              <a:rPr lang="en-US" altLang="ko-KR" dirty="0"/>
              <a:t>cycle-to-cycle dynamics</a:t>
            </a:r>
            <a:r>
              <a:rPr lang="ko-KR" altLang="en-US" dirty="0"/>
              <a:t>나 </a:t>
            </a:r>
            <a:r>
              <a:rPr lang="en-US" altLang="ko-KR" dirty="0"/>
              <a:t>temporal variation</a:t>
            </a:r>
            <a:r>
              <a:rPr lang="ko-KR" altLang="en-US" dirty="0"/>
              <a:t>과 같은 중요한 정보가 일부 손실된다는 한계가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이후에는 </a:t>
            </a:r>
            <a:r>
              <a:rPr lang="en-US" altLang="ko-KR" dirty="0"/>
              <a:t>OES </a:t>
            </a:r>
            <a:r>
              <a:rPr lang="ko-KR" altLang="en-US" dirty="0"/>
              <a:t>데이터가 시간</a:t>
            </a:r>
            <a:r>
              <a:rPr lang="en-US" altLang="ko-KR" dirty="0"/>
              <a:t>(time)</a:t>
            </a:r>
            <a:r>
              <a:rPr lang="ko-KR" altLang="en-US" dirty="0"/>
              <a:t>과 </a:t>
            </a:r>
            <a:r>
              <a:rPr lang="en-US" altLang="ko-KR" dirty="0"/>
              <a:t>wavelength </a:t>
            </a:r>
            <a:r>
              <a:rPr lang="ko-KR" altLang="en-US" dirty="0"/>
              <a:t>축을 동시에 가지는 </a:t>
            </a:r>
            <a:r>
              <a:rPr lang="en-US" altLang="ko-KR" dirty="0"/>
              <a:t>2</a:t>
            </a:r>
            <a:r>
              <a:rPr lang="ko-KR" altLang="en-US" dirty="0"/>
              <a:t>차원 시계열 데이터라는 점에 주목하여</a:t>
            </a:r>
            <a:r>
              <a:rPr lang="en-US" altLang="ko-KR" dirty="0"/>
              <a:t>, CNN </a:t>
            </a:r>
            <a:r>
              <a:rPr lang="ko-KR" altLang="en-US" dirty="0"/>
              <a:t>및 </a:t>
            </a:r>
            <a:r>
              <a:rPr lang="en-US" altLang="ko-KR" dirty="0"/>
              <a:t>Autoencoder </a:t>
            </a:r>
            <a:r>
              <a:rPr lang="ko-KR" altLang="en-US" dirty="0"/>
              <a:t>기반의 </a:t>
            </a:r>
            <a:r>
              <a:rPr lang="en-US" altLang="ko-KR" dirty="0"/>
              <a:t>Deep Learning VM </a:t>
            </a:r>
            <a:r>
              <a:rPr lang="ko-KR" altLang="en-US" dirty="0"/>
              <a:t>연구가 등장하였습니다</a:t>
            </a:r>
            <a:r>
              <a:rPr lang="en-US" altLang="ko-KR" dirty="0"/>
              <a:t>. </a:t>
            </a:r>
            <a:r>
              <a:rPr lang="ko-KR" altLang="en-US" dirty="0"/>
              <a:t>대표적으로 </a:t>
            </a:r>
            <a:r>
              <a:rPr lang="en-US" altLang="ko-KR" dirty="0" err="1"/>
              <a:t>DeepVM</a:t>
            </a:r>
            <a:r>
              <a:rPr lang="en-US" altLang="ko-KR" dirty="0"/>
              <a:t> </a:t>
            </a:r>
            <a:r>
              <a:rPr lang="ko-KR" altLang="en-US" dirty="0"/>
              <a:t>연구에서는 </a:t>
            </a:r>
            <a:r>
              <a:rPr lang="en-US" altLang="ko-KR" dirty="0"/>
              <a:t>convolutional autoencoder</a:t>
            </a:r>
            <a:r>
              <a:rPr lang="ko-KR" altLang="en-US" dirty="0"/>
              <a:t>를 이용해 </a:t>
            </a:r>
            <a:r>
              <a:rPr lang="en-US" altLang="ko-KR" dirty="0"/>
              <a:t>OES</a:t>
            </a:r>
            <a:r>
              <a:rPr lang="ko-KR" altLang="en-US" dirty="0"/>
              <a:t>의 </a:t>
            </a:r>
            <a:r>
              <a:rPr lang="en-US" altLang="ko-KR" dirty="0"/>
              <a:t>temporal–spectral structure</a:t>
            </a:r>
            <a:r>
              <a:rPr lang="ko-KR" altLang="en-US" dirty="0"/>
              <a:t>를 자동으로 </a:t>
            </a:r>
            <a:r>
              <a:rPr lang="en-US" altLang="ko-KR" dirty="0"/>
              <a:t>feature extraction</a:t>
            </a:r>
            <a:r>
              <a:rPr lang="ko-KR" altLang="en-US" dirty="0"/>
              <a:t>하여 기존 통계 기반 방법보다 더 높은 예측 성능을 달성하였습니다</a:t>
            </a:r>
            <a:r>
              <a:rPr lang="en-US" altLang="ko-KR" dirty="0"/>
              <a:t>. </a:t>
            </a:r>
            <a:r>
              <a:rPr lang="ko-KR" altLang="en-US" dirty="0"/>
              <a:t>그러나 이 방식도 주로 전체 </a:t>
            </a:r>
            <a:r>
              <a:rPr lang="en-US" altLang="ko-KR" dirty="0"/>
              <a:t>OES </a:t>
            </a:r>
            <a:r>
              <a:rPr lang="ko-KR" altLang="en-US" dirty="0"/>
              <a:t>신호를 압축된 </a:t>
            </a:r>
            <a:r>
              <a:rPr lang="en-US" altLang="ko-KR" dirty="0"/>
              <a:t>representation</a:t>
            </a:r>
            <a:r>
              <a:rPr lang="ko-KR" altLang="en-US" dirty="0"/>
              <a:t>으로 변환하여 사용하였기 때문에</a:t>
            </a:r>
            <a:r>
              <a:rPr lang="en-US" altLang="ko-KR" dirty="0"/>
              <a:t>, BOSCH </a:t>
            </a:r>
            <a:r>
              <a:rPr lang="ko-KR" altLang="en-US" dirty="0"/>
              <a:t>공정의 </a:t>
            </a:r>
            <a:r>
              <a:rPr lang="en-US" altLang="ko-KR" dirty="0"/>
              <a:t>cycle-to-cycle dynamics</a:t>
            </a:r>
            <a:r>
              <a:rPr lang="ko-KR" altLang="en-US" dirty="0"/>
              <a:t>나 </a:t>
            </a:r>
            <a:r>
              <a:rPr lang="en-US" altLang="ko-KR" dirty="0"/>
              <a:t>temporal </a:t>
            </a:r>
            <a:r>
              <a:rPr lang="en-US" altLang="ko-KR" dirty="0" err="1"/>
              <a:t>variatio</a:t>
            </a:r>
            <a:r>
              <a:rPr lang="ko-KR" altLang="en-US" dirty="0"/>
              <a:t>과 같은 세부적인 사이클 구조 정보가 여전히 충분히 반영되지 못한다는 한계가 존재합니다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이런 사이클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BEC94-753C-ED12-59BC-8ACAFB583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31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2148-EDAB-19A7-0183-E6E2C426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6CBA3-6739-E554-1A3A-2FBDDC316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A32357-C938-D204-3126-CC1283912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Dataset </a:t>
            </a:r>
            <a:r>
              <a:rPr lang="ko-KR" altLang="en-US" dirty="0"/>
              <a:t>파트에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저희가 쓰는 데이터는 독일 연구소에서 실제 플라즈마 식각 장비를 돌리면서 수집한 데이터입니다</a:t>
            </a:r>
            <a:r>
              <a:rPr lang="en-US" altLang="ko-KR" dirty="0"/>
              <a:t>. </a:t>
            </a:r>
            <a:r>
              <a:rPr lang="ko-KR" altLang="en-US" dirty="0"/>
              <a:t>장비는 </a:t>
            </a:r>
            <a:r>
              <a:rPr lang="en-US" altLang="ko-KR" dirty="0"/>
              <a:t>ICP-RIE </a:t>
            </a:r>
            <a:r>
              <a:rPr lang="ko-KR" altLang="en-US" dirty="0"/>
              <a:t>방식이고</a:t>
            </a:r>
            <a:r>
              <a:rPr lang="en-US" altLang="ko-KR" dirty="0"/>
              <a:t>, 200mm </a:t>
            </a:r>
            <a:r>
              <a:rPr lang="ko-KR" altLang="en-US" dirty="0"/>
              <a:t>실리콘 웨이퍼에 </a:t>
            </a:r>
            <a:r>
              <a:rPr lang="en-US" altLang="ko-KR" dirty="0"/>
              <a:t>SF₆</a:t>
            </a:r>
            <a:r>
              <a:rPr lang="ko-KR" altLang="en-US" dirty="0"/>
              <a:t>와 </a:t>
            </a:r>
            <a:r>
              <a:rPr lang="en-US" altLang="ko-KR" dirty="0"/>
              <a:t>C₄F₈</a:t>
            </a:r>
            <a:r>
              <a:rPr lang="ko-KR" altLang="en-US" dirty="0"/>
              <a:t>를 교대로 사용하는 </a:t>
            </a:r>
            <a:r>
              <a:rPr lang="en-US" altLang="ko-KR" dirty="0"/>
              <a:t>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적용했습니다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r>
              <a:rPr lang="ko-KR" altLang="en-US" dirty="0" err="1"/>
              <a:t>로트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개 웨이퍼 규모이고</a:t>
            </a:r>
            <a:r>
              <a:rPr lang="en-US" altLang="ko-KR" dirty="0"/>
              <a:t>, </a:t>
            </a:r>
            <a:r>
              <a:rPr lang="en-US" altLang="ko-KR" dirty="0" err="1"/>
              <a:t>Zenodo</a:t>
            </a:r>
            <a:r>
              <a:rPr lang="ko-KR" altLang="en-US" dirty="0"/>
              <a:t>에 오픈 데이터로 공개되어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데이터의 가장 큰 강점은 세 종류의 데이터가 동시에 수집되었다는 점입니다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플라즈마 안에 어떤 화학종이 있는지 빛으로 측정한 </a:t>
            </a:r>
            <a:r>
              <a:rPr lang="en-US" altLang="ko-KR" dirty="0"/>
              <a:t>OES </a:t>
            </a:r>
            <a:r>
              <a:rPr lang="ko-KR" altLang="en-US" dirty="0"/>
              <a:t>데이터 </a:t>
            </a:r>
            <a:r>
              <a:rPr lang="en-US" altLang="ko-KR" dirty="0"/>
              <a:t>3,648</a:t>
            </a:r>
            <a:r>
              <a:rPr lang="ko-KR" altLang="en-US" dirty="0"/>
              <a:t>채널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장비의 센서가 기록한 공정 파라미터 </a:t>
            </a:r>
            <a:r>
              <a:rPr lang="en-US" altLang="ko-KR" dirty="0"/>
              <a:t>31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식각이 끝난 후 실제로 재본 식각 깊이가 웨이퍼 </a:t>
            </a:r>
            <a:r>
              <a:rPr lang="ko-KR" altLang="en-US" dirty="0" err="1"/>
              <a:t>계측값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개 또는 </a:t>
            </a:r>
            <a:r>
              <a:rPr lang="en-US" altLang="ko-KR" dirty="0"/>
              <a:t>89</a:t>
            </a:r>
            <a:r>
              <a:rPr lang="ko-KR" altLang="en-US" dirty="0"/>
              <a:t>개 포인트로 </a:t>
            </a:r>
            <a:r>
              <a:rPr lang="ko-KR" altLang="en-US" dirty="0" err="1"/>
              <a:t>기록되어있습니다</a:t>
            </a:r>
            <a:r>
              <a:rPr lang="en-US" altLang="ko-KR" dirty="0"/>
              <a:t>. </a:t>
            </a:r>
            <a:r>
              <a:rPr lang="ko-KR" altLang="en-US" dirty="0"/>
              <a:t>앞의 둘이 모델의 입력이고</a:t>
            </a:r>
            <a:r>
              <a:rPr lang="en-US" altLang="ko-KR" dirty="0"/>
              <a:t>, </a:t>
            </a:r>
            <a:r>
              <a:rPr lang="ko-KR" altLang="en-US" dirty="0"/>
              <a:t>마지막이 저희가 예측하려는 </a:t>
            </a:r>
            <a:r>
              <a:rPr lang="ko-KR" altLang="en-US" dirty="0" err="1"/>
              <a:t>정답값입니다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282BC-556C-B8A8-5093-E802B80F1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369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저희가 예측하려는 것은 실리콘이 얼마나 깊이 </a:t>
            </a:r>
            <a:r>
              <a:rPr lang="ko-KR" altLang="en-US" dirty="0" err="1"/>
              <a:t>파였는지입니다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 그림을 보시면</a:t>
            </a:r>
            <a:r>
              <a:rPr lang="en-US" altLang="ko-KR" dirty="0"/>
              <a:t>, </a:t>
            </a:r>
            <a:r>
              <a:rPr lang="ko-KR" altLang="en-US" dirty="0"/>
              <a:t>식각 전에는 </a:t>
            </a:r>
            <a:r>
              <a:rPr lang="en-US" altLang="ko-KR" dirty="0" err="1"/>
              <a:t>SiO</a:t>
            </a:r>
            <a:r>
              <a:rPr lang="en-US" altLang="ko-KR" dirty="0"/>
              <a:t>₂ </a:t>
            </a:r>
            <a:r>
              <a:rPr lang="ko-KR" altLang="en-US" dirty="0"/>
              <a:t>마스크가 위에 덮여 있고 그 아래 실리콘이 평평합니다</a:t>
            </a:r>
            <a:r>
              <a:rPr lang="en-US" altLang="ko-KR" dirty="0"/>
              <a:t>. 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거치면 마스크가 열린 부분으로 약 </a:t>
            </a:r>
            <a:r>
              <a:rPr lang="en-US" altLang="ko-KR" dirty="0"/>
              <a:t>40</a:t>
            </a:r>
            <a:r>
              <a:rPr lang="ko-KR" altLang="en-US" dirty="0"/>
              <a:t>마이크로미터 깊이의 구멍이 파이게 됩니다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40</a:t>
            </a:r>
            <a:r>
              <a:rPr lang="ko-KR" altLang="en-US" dirty="0"/>
              <a:t>마이크로미터라는 값이 저희 타겟</a:t>
            </a:r>
            <a:r>
              <a:rPr lang="en-US" altLang="ko-KR" dirty="0"/>
              <a:t>, </a:t>
            </a:r>
            <a:r>
              <a:rPr lang="ko-KR" altLang="en-US" dirty="0"/>
              <a:t>즉 모델이 맞춰야 할 정답입니다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마스크도 일부 소모되어 </a:t>
            </a:r>
            <a:r>
              <a:rPr lang="en-US" altLang="ko-KR" dirty="0"/>
              <a:t>0.45</a:t>
            </a:r>
            <a:r>
              <a:rPr lang="ko-KR" altLang="en-US" dirty="0"/>
              <a:t>마이크로미터로 얇아집니다</a:t>
            </a:r>
            <a:r>
              <a:rPr lang="en-US" altLang="ko-KR" dirty="0"/>
              <a:t>. </a:t>
            </a:r>
            <a:r>
              <a:rPr lang="ko-KR" altLang="en-US" dirty="0"/>
              <a:t>아래 표가 실제 </a:t>
            </a:r>
            <a:r>
              <a:rPr lang="en-US" altLang="ko-KR" dirty="0"/>
              <a:t>CSV </a:t>
            </a:r>
            <a:r>
              <a:rPr lang="ko-KR" altLang="en-US" dirty="0"/>
              <a:t>데이터이고</a:t>
            </a:r>
            <a:r>
              <a:rPr lang="en-US" altLang="ko-KR" dirty="0"/>
              <a:t>, </a:t>
            </a:r>
            <a:r>
              <a:rPr lang="en-US" altLang="ko-KR" dirty="0" err="1"/>
              <a:t>si_etch</a:t>
            </a:r>
            <a:r>
              <a:rPr lang="en-US" altLang="ko-KR" dirty="0"/>
              <a:t> </a:t>
            </a:r>
            <a:r>
              <a:rPr lang="ko-KR" altLang="en-US" dirty="0"/>
              <a:t>열이 저희 타겟입니다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전체 흐름입니다</a:t>
            </a:r>
            <a:r>
              <a:rPr lang="en-US" altLang="ko-KR" dirty="0"/>
              <a:t>, </a:t>
            </a:r>
            <a:r>
              <a:rPr lang="ko-KR" altLang="en-US" dirty="0"/>
              <a:t>식각 중 실시간으로 기록된 공정 파라미터와 </a:t>
            </a:r>
            <a:r>
              <a:rPr lang="en-US" altLang="ko-KR" dirty="0"/>
              <a:t>OES</a:t>
            </a:r>
            <a:r>
              <a:rPr lang="ko-KR" altLang="en-US" dirty="0"/>
              <a:t>가 입력이 되고</a:t>
            </a:r>
            <a:r>
              <a:rPr lang="en-US" altLang="ko-KR" dirty="0"/>
              <a:t>, </a:t>
            </a:r>
            <a:r>
              <a:rPr lang="ko-KR" altLang="en-US" dirty="0"/>
              <a:t>식각 후에 잰 깊이를 정답으로 매칭해서 모델을 학습시킵니다</a:t>
            </a:r>
            <a:r>
              <a:rPr lang="en-US" altLang="ko-KR" dirty="0"/>
              <a:t>. </a:t>
            </a:r>
            <a:r>
              <a:rPr lang="ko-KR" altLang="en-US" dirty="0"/>
              <a:t>이렇게 하면 나중에는 센서 데이터만 보고도 실제로 재지 않아도 식각 깊이를 예측할 수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38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0DEE-1E2D-974C-F341-70E78AD8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2E63DE-800B-5B04-AA9F-2C9129BB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B4DC46-37D6-3A3F-3AF5-A584E7C9F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 소개할 파이프라인은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사용하는 입력 데이터는 크게 세 가지입니다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채널로 구성됩니다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 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3,245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센서 채널입니다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내 측정 위치 좌표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포인트의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원시 데이터를 그대로 쓰기엔 차원이 너무 높기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 엔지니어링 단계에서 사이클 단위로 요약합니다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밴드별로 평균을 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평균을 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 시퀀스에 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표준편차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최솟값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최댓값 등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통계를 적용하면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80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XY 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피처가 만들어집니다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피처 벡터를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Regressor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입력해서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동시에 예측합니다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 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max_depth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learning_rate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모델이 딥러닝 모델과 비교할 성능 기준선 역할을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803C6-A892-A0FA-FADF-65BEF411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829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초기 구성은 이렇게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74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2557-5536-FCAB-BE6A-3DB071B2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E68BC-54BC-02DB-AB90-2EE62EC0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0EB22-B5EE-6426-48AA-6A82D1769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/>
              <a:t>처음에는 </a:t>
            </a:r>
            <a:r>
              <a:rPr lang="en-US" altLang="ko-KR" sz="1000" dirty="0" err="1"/>
              <a:t>XGBoost</a:t>
            </a:r>
            <a:r>
              <a:rPr lang="ko-KR" altLang="en-US" sz="1000" dirty="0"/>
              <a:t>와 </a:t>
            </a:r>
            <a:r>
              <a:rPr lang="en-US" altLang="ko-KR" sz="1000" dirty="0"/>
              <a:t>DL, </a:t>
            </a:r>
            <a:r>
              <a:rPr lang="ko-KR" altLang="en-US" sz="1000" dirty="0"/>
              <a:t>앙상블까지 고려했지만</a:t>
            </a:r>
            <a:endParaRPr lang="en-US" altLang="ko-KR" sz="1000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sz="1000" dirty="0"/>
              <a:t>교수님 피드백 이후에는 단일 </a:t>
            </a:r>
            <a:r>
              <a:rPr lang="en-US" altLang="ko-KR" sz="1000" dirty="0"/>
              <a:t>DL </a:t>
            </a:r>
            <a:r>
              <a:rPr lang="ko-KR" altLang="en-US" sz="1000" dirty="0"/>
              <a:t>구조가 실제로 의미 있는지 먼저 검증하는 방향으로 정리</a:t>
            </a:r>
            <a:endParaRPr lang="en-US" altLang="ko-KR" sz="10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sz="10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sz="1000" dirty="0"/>
              <a:t>**</a:t>
            </a:r>
            <a:r>
              <a:rPr lang="ko-KR" altLang="en-US" sz="1000" dirty="0" err="1"/>
              <a:t>중간발표랑</a:t>
            </a:r>
            <a:r>
              <a:rPr lang="ko-KR" altLang="en-US" sz="1000" dirty="0"/>
              <a:t> 변경점은 </a:t>
            </a:r>
            <a:r>
              <a:rPr lang="en-US" altLang="ko-KR" sz="1000" dirty="0"/>
              <a:t>Spatial </a:t>
            </a:r>
            <a:r>
              <a:rPr lang="ko-KR" altLang="en-US" sz="1000" dirty="0"/>
              <a:t>정보를 따로 빼서 개선한걸 보여주고 싶어서 뺐습니다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B4BAB-9120-1C08-6AC9-A45A3296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794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근데 이상하게 </a:t>
            </a:r>
            <a:r>
              <a:rPr lang="en-US" altLang="ko-KR" dirty="0"/>
              <a:t>Si</a:t>
            </a:r>
            <a:r>
              <a:rPr lang="ko-KR" altLang="en-US" dirty="0"/>
              <a:t>를 </a:t>
            </a:r>
            <a:r>
              <a:rPr lang="ko-KR" altLang="en-US" dirty="0" err="1"/>
              <a:t>못맞추더라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668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7ABA-CDC8-0D3E-F6EB-DA3972CF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207103-834A-DDB9-CE88-788FB8B5C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2A289F-5C82-159B-1CA1-7709B971A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이상해서 </a:t>
            </a:r>
            <a:r>
              <a:rPr lang="en-US" altLang="ko-KR" dirty="0"/>
              <a:t>EDA </a:t>
            </a:r>
            <a:r>
              <a:rPr lang="ko-KR" altLang="en-US" dirty="0"/>
              <a:t>분석해보니 애초에 </a:t>
            </a:r>
            <a:r>
              <a:rPr lang="en-US" altLang="ko-KR" dirty="0"/>
              <a:t>XY</a:t>
            </a:r>
            <a:r>
              <a:rPr lang="ko-KR" altLang="en-US" dirty="0"/>
              <a:t>에 의존하더라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5BF82-53B2-F98B-FE91-160D7599E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61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2557-5536-FCAB-BE6A-3DB071B2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E68BC-54BC-02DB-AB90-2EE62EC0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0EB22-B5EE-6426-48AA-6A82D1769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적용함</a:t>
            </a:r>
            <a:endParaRPr lang="en-US" altLang="ko-K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파이프라인은 저희가 핵심 기여로 제안하는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Cycle-Aware DL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2D-CNN, Bidirectional LSTM,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모듈을 결합한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가장 큰 차이점은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내부의 시간 파형을 그대로 학습에 활용한다는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3,648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파장으로 구성되고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OES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통과시켜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얻습니다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31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채널을 동일한 구조의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Process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처리해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만듭니다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핵심은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가중치를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사이클이 공유한다는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사이클을 독립적으로 동일한 인코더로 처리하는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이어 붙인 뒤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LayerNorm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거쳐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× 128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시퀀스를 만들고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Bidirectional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사이클 간 시간적 변화를 학습하는 부분입니다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Pooling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하나의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벡터로 압축하고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모듈로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스케일링 파라미터를 통해 웨이퍼 전체의 공정 상태를 표현하는 역할을 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 위치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인코딩해서 공간 정보를 결합하고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 Head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측정 포인트 각각에 대해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예측합니다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B4BAB-9120-1C08-6AC9-A45A3296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794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원래는 그냥 </a:t>
            </a:r>
            <a:r>
              <a:rPr lang="en-US" altLang="ko-KR" dirty="0" err="1"/>
              <a:t>xy</a:t>
            </a:r>
            <a:r>
              <a:rPr lang="ko-KR" altLang="en-US" dirty="0"/>
              <a:t> </a:t>
            </a:r>
            <a:r>
              <a:rPr lang="en-US" altLang="ko-KR" dirty="0" err="1"/>
              <a:t>concat</a:t>
            </a:r>
            <a:r>
              <a:rPr lang="ko-KR" altLang="en-US" dirty="0"/>
              <a:t>해서 </a:t>
            </a:r>
            <a:r>
              <a:rPr lang="en-US" altLang="ko-KR" dirty="0" err="1"/>
              <a:t>xy</a:t>
            </a:r>
            <a:r>
              <a:rPr lang="en-US" altLang="ko-KR" dirty="0"/>
              <a:t> </a:t>
            </a:r>
            <a:r>
              <a:rPr lang="ko-KR" altLang="en-US" dirty="0"/>
              <a:t>정보가 차지하는 비중이 너무 미미함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근데 </a:t>
            </a:r>
            <a:r>
              <a:rPr lang="en-US" altLang="ko-KR" dirty="0" err="1"/>
              <a:t>FiLM</a:t>
            </a:r>
            <a:r>
              <a:rPr lang="ko-KR" altLang="en-US" dirty="0"/>
              <a:t>은 전체에 투영해서 이를 개선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899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적용했더니 성능 회복함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49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시각화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570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이상치들이 유독 많다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dirty="0"/>
              <a:t>Fold4</a:t>
            </a:r>
            <a:r>
              <a:rPr lang="ko-KR" altLang="en-US" dirty="0"/>
              <a:t>의 경우 한</a:t>
            </a:r>
            <a:r>
              <a:rPr lang="en-US" altLang="ko-KR" dirty="0"/>
              <a:t> wafer</a:t>
            </a:r>
            <a:r>
              <a:rPr lang="ko-KR" altLang="en-US" dirty="0"/>
              <a:t>에 대한 예측치를 특정 값 중심으로 뭉쳐버린다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학습 초반에 피크를 찍고 계속 감소</a:t>
            </a:r>
            <a:r>
              <a:rPr lang="en-US" altLang="ko-KR" dirty="0"/>
              <a:t>-&gt; overfit </a:t>
            </a:r>
            <a:r>
              <a:rPr lang="ko-KR" altLang="en-US" dirty="0"/>
              <a:t>의심</a:t>
            </a:r>
            <a:endParaRPr lang="en-US" altLang="ko-KR" dirty="0"/>
          </a:p>
          <a:p>
            <a:pPr marL="228600" indent="-22860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**</a:t>
            </a:r>
            <a:br>
              <a:rPr lang="en-US" altLang="ko-KR" dirty="0"/>
            </a:br>
            <a:r>
              <a:rPr lang="ko-KR" altLang="en-US" dirty="0"/>
              <a:t>가운데 그래프에서 </a:t>
            </a:r>
            <a:r>
              <a:rPr lang="en-US" altLang="ko-KR" dirty="0"/>
              <a:t>fold4</a:t>
            </a:r>
            <a:r>
              <a:rPr lang="ko-KR" altLang="en-US" dirty="0"/>
              <a:t>의 </a:t>
            </a:r>
            <a:r>
              <a:rPr lang="en-US" altLang="ko-KR" dirty="0"/>
              <a:t>predicted spread / true spread</a:t>
            </a:r>
            <a:r>
              <a:rPr lang="ko-KR" altLang="en-US" dirty="0"/>
              <a:t>가 </a:t>
            </a:r>
            <a:r>
              <a:rPr lang="en-US" altLang="ko-KR" b="1" dirty="0"/>
              <a:t>0.19x</a:t>
            </a:r>
            <a:r>
              <a:rPr lang="ko-KR" altLang="en-US" dirty="0"/>
              <a:t>밖에 안 됨</a:t>
            </a:r>
            <a:r>
              <a:rPr lang="en-US" altLang="ko-KR" dirty="0"/>
              <a:t>. </a:t>
            </a:r>
            <a:r>
              <a:rPr lang="ko-KR" altLang="en-US" dirty="0"/>
              <a:t>다른 </a:t>
            </a:r>
            <a:r>
              <a:rPr lang="en-US" altLang="ko-KR" dirty="0"/>
              <a:t>fold</a:t>
            </a:r>
            <a:r>
              <a:rPr lang="ko-KR" altLang="en-US" dirty="0"/>
              <a:t>는 </a:t>
            </a:r>
            <a:r>
              <a:rPr lang="en-US" altLang="ko-KR" dirty="0"/>
              <a:t>0.86~1.02 </a:t>
            </a:r>
            <a:r>
              <a:rPr lang="ko-KR" altLang="en-US" dirty="0"/>
              <a:t>수준이라 예측 분산이 실제 분산을 어느 정도 따라가는데</a:t>
            </a:r>
            <a:r>
              <a:rPr lang="en-US" altLang="ko-KR" dirty="0"/>
              <a:t>, fold4</a:t>
            </a:r>
            <a:r>
              <a:rPr lang="ko-KR" altLang="en-US" dirty="0"/>
              <a:t>만 </a:t>
            </a:r>
            <a:r>
              <a:rPr lang="ko-KR" altLang="en-US" dirty="0" err="1"/>
              <a:t>예측값이</a:t>
            </a:r>
            <a:r>
              <a:rPr lang="ko-KR" altLang="en-US" dirty="0"/>
              <a:t> 거의 한 점 근처로 뭉침</a:t>
            </a:r>
            <a:r>
              <a:rPr lang="en-US" altLang="ko-KR" dirty="0"/>
              <a:t>. </a:t>
            </a:r>
            <a:r>
              <a:rPr lang="ko-KR" altLang="en-US" dirty="0"/>
              <a:t>왼쪽 </a:t>
            </a:r>
            <a:r>
              <a:rPr lang="ko-KR" altLang="en-US" dirty="0" err="1"/>
              <a:t>산점도에서도</a:t>
            </a:r>
            <a:r>
              <a:rPr lang="ko-KR" altLang="en-US" dirty="0"/>
              <a:t> </a:t>
            </a:r>
            <a:r>
              <a:rPr lang="en-US" altLang="ko-KR" dirty="0"/>
              <a:t>fold4 </a:t>
            </a:r>
            <a:r>
              <a:rPr lang="ko-KR" altLang="en-US" dirty="0"/>
              <a:t>빨간 점들이 </a:t>
            </a:r>
            <a:r>
              <a:rPr lang="en-US" altLang="ko-KR" dirty="0"/>
              <a:t>true wafer mean</a:t>
            </a:r>
            <a:r>
              <a:rPr lang="ko-KR" altLang="en-US" dirty="0"/>
              <a:t>은 넓게 퍼져 있는데 </a:t>
            </a:r>
            <a:r>
              <a:rPr lang="en-US" altLang="ko-KR" dirty="0"/>
              <a:t>predicted wafer mean</a:t>
            </a:r>
            <a:r>
              <a:rPr lang="ko-KR" altLang="en-US" dirty="0"/>
              <a:t>은 </a:t>
            </a:r>
            <a:r>
              <a:rPr lang="en-US" altLang="ko-KR" dirty="0"/>
              <a:t>0.64~0.66 </a:t>
            </a:r>
            <a:r>
              <a:rPr lang="ko-KR" altLang="en-US" dirty="0"/>
              <a:t>근처로 눌리는 경향이 보임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fold4</a:t>
            </a:r>
            <a:r>
              <a:rPr lang="ko-KR" altLang="en-US" dirty="0"/>
              <a:t>는 단순 오차가 아니라 </a:t>
            </a:r>
            <a:r>
              <a:rPr lang="en-US" altLang="ko-KR" b="1" dirty="0"/>
              <a:t>wafer </a:t>
            </a:r>
            <a:r>
              <a:rPr lang="ko-KR" altLang="en-US" b="1" dirty="0"/>
              <a:t>간 </a:t>
            </a:r>
            <a:r>
              <a:rPr lang="en-US" altLang="ko-KR" b="1" dirty="0"/>
              <a:t>oxide level </a:t>
            </a:r>
            <a:r>
              <a:rPr lang="ko-KR" altLang="en-US" b="1" dirty="0"/>
              <a:t>차이를 </a:t>
            </a:r>
            <a:r>
              <a:rPr lang="en-US" altLang="ko-KR" b="1" dirty="0"/>
              <a:t>DL representation</a:t>
            </a:r>
            <a:r>
              <a:rPr lang="ko-KR" altLang="en-US" b="1" dirty="0"/>
              <a:t>이 못 구분한 문제로 추측</a:t>
            </a: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Fold2</a:t>
            </a:r>
            <a:r>
              <a:rPr lang="ko-KR" altLang="en-US" b="1" dirty="0"/>
              <a:t>는 </a:t>
            </a:r>
            <a:r>
              <a:rPr lang="en-US" altLang="ko-KR" b="1" dirty="0"/>
              <a:t>fold4</a:t>
            </a:r>
            <a:r>
              <a:rPr lang="ko-KR" altLang="en-US" b="1" dirty="0"/>
              <a:t>와 다름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en-US" altLang="ko-KR" dirty="0"/>
              <a:t>Fold2</a:t>
            </a:r>
            <a:r>
              <a:rPr lang="ko-KR" altLang="en-US" dirty="0"/>
              <a:t>는 </a:t>
            </a:r>
            <a:r>
              <a:rPr lang="en-US" altLang="ko-KR" dirty="0"/>
              <a:t>predicted spread / true spread</a:t>
            </a:r>
            <a:r>
              <a:rPr lang="ko-KR" altLang="en-US" dirty="0"/>
              <a:t>가 </a:t>
            </a:r>
            <a:r>
              <a:rPr lang="en-US" altLang="ko-KR" b="1" dirty="0"/>
              <a:t>0.86x</a:t>
            </a:r>
            <a:r>
              <a:rPr lang="ko-KR" altLang="en-US" dirty="0"/>
              <a:t>라서 </a:t>
            </a:r>
            <a:r>
              <a:rPr lang="en-US" altLang="ko-KR" dirty="0"/>
              <a:t>fold4</a:t>
            </a:r>
            <a:r>
              <a:rPr lang="ko-KR" altLang="en-US" dirty="0"/>
              <a:t>처럼 예측 분산이 완전히 죽은 건 아님</a:t>
            </a:r>
            <a:r>
              <a:rPr lang="en-US" altLang="ko-KR" dirty="0"/>
              <a:t>. </a:t>
            </a:r>
            <a:r>
              <a:rPr lang="ko-KR" altLang="en-US" dirty="0"/>
              <a:t>대신 오른쪽 </a:t>
            </a:r>
            <a:r>
              <a:rPr lang="en-US" altLang="ko-KR" dirty="0"/>
              <a:t>learning curve</a:t>
            </a:r>
            <a:r>
              <a:rPr lang="ko-KR" altLang="en-US" dirty="0"/>
              <a:t>에서 </a:t>
            </a:r>
            <a:r>
              <a:rPr lang="en-US" altLang="ko-KR" dirty="0"/>
              <a:t>fold2 validation RMSE</a:t>
            </a:r>
            <a:r>
              <a:rPr lang="ko-KR" altLang="en-US" dirty="0"/>
              <a:t>가 </a:t>
            </a:r>
            <a:r>
              <a:rPr lang="en-US" altLang="ko-KR" b="1" dirty="0"/>
              <a:t>epoch 4 </a:t>
            </a:r>
            <a:r>
              <a:rPr lang="ko-KR" altLang="en-US" b="1" dirty="0"/>
              <a:t>근처에서 가장 좋고 이후 흔들리거나 악화</a:t>
            </a:r>
            <a:r>
              <a:rPr lang="ko-KR" altLang="en-US" dirty="0"/>
              <a:t>됨</a:t>
            </a:r>
            <a:r>
              <a:rPr lang="en-US" altLang="ko-KR" dirty="0"/>
              <a:t>. train RMSE</a:t>
            </a:r>
            <a:r>
              <a:rPr lang="ko-KR" altLang="en-US" dirty="0"/>
              <a:t>는 계속 내려가는데 </a:t>
            </a:r>
            <a:r>
              <a:rPr lang="en-US" altLang="ko-KR" dirty="0"/>
              <a:t>validation</a:t>
            </a:r>
            <a:r>
              <a:rPr lang="ko-KR" altLang="en-US" dirty="0"/>
              <a:t>은 안정적으로 개선되지 않으니까</a:t>
            </a:r>
            <a:r>
              <a:rPr lang="en-US" altLang="ko-KR" dirty="0"/>
              <a:t>, fold2</a:t>
            </a:r>
            <a:r>
              <a:rPr lang="ko-KR" altLang="en-US" dirty="0"/>
              <a:t>는 </a:t>
            </a:r>
            <a:r>
              <a:rPr lang="en-US" altLang="ko-KR" b="1" dirty="0"/>
              <a:t>representation collapse</a:t>
            </a:r>
            <a:r>
              <a:rPr lang="ko-KR" altLang="en-US" b="1" dirty="0"/>
              <a:t>보다는 </a:t>
            </a:r>
            <a:r>
              <a:rPr lang="en-US" altLang="ko-KR" b="1" dirty="0"/>
              <a:t>early overfitting / validation fold</a:t>
            </a:r>
            <a:r>
              <a:rPr lang="ko-KR" altLang="en-US" b="1" dirty="0"/>
              <a:t>에 특이 </a:t>
            </a:r>
            <a:r>
              <a:rPr lang="en-US" altLang="ko-KR" b="1" dirty="0"/>
              <a:t>wafer</a:t>
            </a:r>
            <a:r>
              <a:rPr lang="ko-KR" altLang="en-US" b="1" dirty="0"/>
              <a:t>가 있는 문제로 추측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789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해결법 적용</a:t>
            </a:r>
            <a:r>
              <a:rPr lang="en-US" altLang="ko-KR" dirty="0"/>
              <a:t>1</a:t>
            </a:r>
          </a:p>
          <a:p>
            <a:r>
              <a:rPr lang="en-US" altLang="ko-KR" dirty="0"/>
              <a:t>Oes top k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set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 etch target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wavelength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statistic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계산하고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상관성이 높은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wavelength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선택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모델에서는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top_k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=256, stat=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late_mean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wavelength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후반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구간의 평균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대표값으로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 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얼마나 관련 있는지 본 뒤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남김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90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Auxiliary wafer-mean loss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측정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예측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방식만 사용하면 모델이 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오차를 줄이는 데 집중하면서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같은 전역적인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wafer-level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상태를 충분히 안정적으로 학습하지 못할 수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-&gt;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 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일부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high-mode wafer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들이 거의 비슷한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몰리는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collapse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현상이 있었는데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중간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wafer_repr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etch level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차이를 잘 구분하지 못한다는 신호로 볼 수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dirty="0"/>
              <a:t>-&gt;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기존에는 최종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wafer_repr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XY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이용해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예측함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추가로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wafer_repr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보고 해당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평균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 etch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값을 예측하는 보조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붙임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total_loss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point_prediction_loss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aux_weight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wafer_mean_loss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etch level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직접적으로 담도록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반영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설정에서는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aux_weight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843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단위로 적용했다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.(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wafer-level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mixup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tensor, Process tensor, XY feature, target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같은 비율로 섞었다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하면 모델은 실제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B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보는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사이의 중간 상태도 학습하게 된다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438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en-US" altLang="ko-KR" dirty="0"/>
              <a:t>Weight</a:t>
            </a:r>
            <a:r>
              <a:rPr lang="ko-KR" altLang="en-US" dirty="0"/>
              <a:t>가 너무 들쭉날쭉하면 </a:t>
            </a:r>
            <a:r>
              <a:rPr lang="en-US" altLang="ko-KR" dirty="0"/>
              <a:t>RMSE</a:t>
            </a:r>
            <a:r>
              <a:rPr lang="ko-KR" altLang="en-US" dirty="0"/>
              <a:t>도 요동치게 된다</a:t>
            </a:r>
            <a:r>
              <a:rPr lang="en-US" altLang="ko-KR" dirty="0"/>
              <a:t>. -&gt;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 좋게 한 번 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바닥을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epoch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저장할 수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일반화 성능 저하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스무스하게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만든다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Exponential Moving Average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중인 모델의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그대로 쓰는 대신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들을 지수이동평균으로 누적한 별도의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shadow model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지수이동평균이므로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최근의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더 크게 반영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의도한 효과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94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파이프라인 다이어그램</a:t>
            </a:r>
            <a:endParaRPr lang="en-US" altLang="ko-KR" dirty="0"/>
          </a:p>
          <a:p>
            <a:r>
              <a:rPr lang="ko-KR" altLang="en-US" dirty="0" err="1"/>
              <a:t>아키텍쳐적인</a:t>
            </a:r>
            <a:r>
              <a:rPr lang="ko-KR" altLang="en-US" dirty="0"/>
              <a:t> 개선 </a:t>
            </a:r>
            <a:r>
              <a:rPr lang="en-US" altLang="ko-KR" dirty="0"/>
              <a:t>: Aux</a:t>
            </a:r>
            <a:r>
              <a:rPr lang="ko-KR" altLang="en-US" dirty="0"/>
              <a:t>와 </a:t>
            </a:r>
            <a:r>
              <a:rPr lang="en-US" altLang="ko-KR" dirty="0"/>
              <a:t>OES </a:t>
            </a:r>
            <a:r>
              <a:rPr lang="en-US" altLang="ko-KR" dirty="0" err="1"/>
              <a:t>top_k</a:t>
            </a:r>
            <a:endParaRPr lang="en-US" altLang="ko-KR" dirty="0"/>
          </a:p>
          <a:p>
            <a:r>
              <a:rPr lang="en-US" altLang="ko-KR" dirty="0"/>
              <a:t>Dataset</a:t>
            </a:r>
            <a:r>
              <a:rPr lang="ko-KR" altLang="en-US" dirty="0"/>
              <a:t> </a:t>
            </a:r>
            <a:r>
              <a:rPr lang="ko-KR" altLang="en-US" dirty="0" err="1"/>
              <a:t>전처리</a:t>
            </a:r>
            <a:r>
              <a:rPr lang="ko-KR" altLang="en-US" dirty="0"/>
              <a:t> 및 </a:t>
            </a:r>
            <a:r>
              <a:rPr lang="en-US" altLang="ko-KR" dirty="0"/>
              <a:t>train process </a:t>
            </a:r>
            <a:r>
              <a:rPr lang="ko-KR" altLang="en-US" dirty="0"/>
              <a:t>개선 </a:t>
            </a:r>
            <a:r>
              <a:rPr lang="en-US" altLang="ko-KR" dirty="0"/>
              <a:t>: </a:t>
            </a:r>
            <a:r>
              <a:rPr lang="en-US" altLang="ko-KR" dirty="0" err="1"/>
              <a:t>Mixup</a:t>
            </a:r>
            <a:r>
              <a:rPr lang="en-US" altLang="ko-KR" dirty="0"/>
              <a:t>, EMA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232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개선 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7820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8ECE-6FF5-A40B-EA12-63634100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A8DC09-E0CB-9E1E-F74B-2255D9063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1D777-FB96-4922-5BF6-A659C470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모델의 </a:t>
            </a:r>
            <a:r>
              <a:rPr lang="en-US" altLang="ko-KR" dirty="0"/>
              <a:t>fold </a:t>
            </a:r>
            <a:r>
              <a:rPr lang="ko-KR" altLang="en-US" dirty="0"/>
              <a:t>별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19180-8F1C-D3D9-560C-6499B7EBA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062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1AED-87F0-57D5-5554-5FEF6B14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173A10-0105-C5AA-E1DC-019EA7B2C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C00C9C-62B1-95DA-6461-E705D42D0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최종모델의 오차에 대한 통계</a:t>
            </a:r>
            <a:endParaRPr lang="en-US" altLang="ko-KR" dirty="0"/>
          </a:p>
          <a:p>
            <a:r>
              <a:rPr lang="ko-KR" altLang="en-US" dirty="0"/>
              <a:t>만약 </a:t>
            </a:r>
            <a:r>
              <a:rPr lang="en-US" altLang="ko-KR" dirty="0"/>
              <a:t>residual</a:t>
            </a:r>
            <a:r>
              <a:rPr lang="ko-KR" altLang="en-US" dirty="0"/>
              <a:t>이 정규분포가 아니라 한쪽으로 </a:t>
            </a:r>
            <a:r>
              <a:rPr lang="ko-KR" altLang="en-US" dirty="0" err="1"/>
              <a:t>쏠려있었으면</a:t>
            </a:r>
            <a:r>
              <a:rPr lang="ko-KR" altLang="en-US" dirty="0"/>
              <a:t> 그 부분을 공략해볼 수 </a:t>
            </a:r>
            <a:r>
              <a:rPr lang="ko-KR" altLang="en-US" dirty="0" err="1"/>
              <a:t>있었을텐데</a:t>
            </a:r>
            <a:r>
              <a:rPr lang="ko-KR" altLang="en-US" dirty="0"/>
              <a:t> 그렇지는 </a:t>
            </a:r>
            <a:r>
              <a:rPr lang="ko-KR" altLang="en-US" dirty="0" err="1"/>
              <a:t>않은듯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CCC1F-37BC-0B7A-32A7-7DEB9E32F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7020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8171-8F35-C6A5-899E-F796C39B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FCEE52-1A8E-5522-9424-7BC5D2BFB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CEE2D7-CFFC-ECE5-730F-38D7DF82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모델의 </a:t>
            </a:r>
            <a:r>
              <a:rPr lang="ko-KR" altLang="en-US" dirty="0" err="1"/>
              <a:t>에러맵인데</a:t>
            </a:r>
            <a:r>
              <a:rPr lang="ko-KR" altLang="en-US" dirty="0"/>
              <a:t> 여기서 알 수 </a:t>
            </a:r>
            <a:r>
              <a:rPr lang="ko-KR" altLang="en-US" dirty="0" err="1"/>
              <a:t>있는것이</a:t>
            </a:r>
            <a:r>
              <a:rPr lang="ko-KR" altLang="en-US" dirty="0"/>
              <a:t> 딱히 있는지는 모르겠음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그냥 시각화 자료정도의 의미</a:t>
            </a:r>
            <a:r>
              <a:rPr lang="en-US" altLang="ko-KR" dirty="0"/>
              <a:t>..?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B8B41-3569-DCCE-D138-0EDA185A1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343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9AD4-EA67-4321-DA0C-D308256E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0966D5-BF83-F2EE-E098-AB51B9C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BC1095-48A5-98A1-B695-031CD014D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초기 </a:t>
            </a:r>
            <a:r>
              <a:rPr lang="en-US" altLang="ko-KR" dirty="0"/>
              <a:t>DL</a:t>
            </a:r>
            <a:r>
              <a:rPr lang="ko-KR" altLang="en-US" dirty="0"/>
              <a:t>과의 비교</a:t>
            </a:r>
            <a:endParaRPr lang="en-US" altLang="ko-KR" dirty="0"/>
          </a:p>
          <a:p>
            <a:r>
              <a:rPr lang="en-US" altLang="ko-KR" dirty="0"/>
              <a:t>Fold2, 4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꽤 유의미한 개선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50BAD-B567-A439-6B61-864CD516C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8453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DEEC-1989-DB2C-3585-E30A3A01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16216A-A50D-26D8-1A98-F8D99F5F3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384E20-F0AC-E45C-EAEA-909887011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베이스라인인 </a:t>
            </a:r>
            <a:r>
              <a:rPr lang="en-US" altLang="ko-KR" dirty="0"/>
              <a:t>XGB</a:t>
            </a:r>
            <a:r>
              <a:rPr lang="ko-KR" altLang="en-US" dirty="0"/>
              <a:t>와의 비교</a:t>
            </a:r>
            <a:endParaRPr lang="en-US" altLang="ko-KR" dirty="0"/>
          </a:p>
          <a:p>
            <a:r>
              <a:rPr lang="ko-KR" altLang="en-US" dirty="0"/>
              <a:t>꽤 유의미한 상승</a:t>
            </a:r>
            <a:r>
              <a:rPr lang="en-US" altLang="ko-KR" dirty="0"/>
              <a:t>, </a:t>
            </a:r>
            <a:r>
              <a:rPr lang="ko-KR" altLang="en-US" dirty="0"/>
              <a:t>하지만 </a:t>
            </a:r>
            <a:r>
              <a:rPr lang="en-US" altLang="ko-KR" dirty="0"/>
              <a:t>fold4</a:t>
            </a:r>
            <a:r>
              <a:rPr lang="ko-KR" altLang="en-US" dirty="0"/>
              <a:t>에서는 여전히 뒤쳐짐</a:t>
            </a:r>
            <a:endParaRPr lang="en-US" altLang="ko-KR" dirty="0"/>
          </a:p>
          <a:p>
            <a:r>
              <a:rPr lang="en-US" altLang="ko-KR" dirty="0"/>
              <a:t>DL</a:t>
            </a:r>
            <a:r>
              <a:rPr lang="ko-KR" altLang="en-US" dirty="0"/>
              <a:t>에서 상당히 어려워하던 </a:t>
            </a:r>
            <a:r>
              <a:rPr lang="en-US" altLang="ko-KR" dirty="0"/>
              <a:t>fold4</a:t>
            </a:r>
            <a:r>
              <a:rPr lang="ko-KR" altLang="en-US" dirty="0"/>
              <a:t>가 </a:t>
            </a:r>
            <a:r>
              <a:rPr lang="en-US" altLang="ko-KR" dirty="0" err="1"/>
              <a:t>xgb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번째로 성능이 </a:t>
            </a:r>
            <a:r>
              <a:rPr lang="ko-KR" altLang="en-US" dirty="0" err="1"/>
              <a:t>높다는것이</a:t>
            </a:r>
            <a:r>
              <a:rPr lang="ko-KR" altLang="en-US" dirty="0"/>
              <a:t> 흥미로운 포인트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0B3C3-F09C-09DF-9A45-8F2B92B9B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34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D54A-C977-380B-6708-1EE37F10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1EC3B-0395-9F00-4A04-4D783D059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6A78AD-3048-37F6-01A9-48FAF76FD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XGB</a:t>
            </a:r>
            <a:r>
              <a:rPr lang="ko-KR" altLang="en-US" dirty="0"/>
              <a:t>와 최종 </a:t>
            </a:r>
            <a:r>
              <a:rPr lang="ko-KR" altLang="en-US" dirty="0" err="1"/>
              <a:t>모델간의</a:t>
            </a:r>
            <a:r>
              <a:rPr lang="ko-KR" altLang="en-US" dirty="0"/>
              <a:t> 모든 포인트 비교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0D093-27D1-C876-B50A-5454371CB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998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Lot</a:t>
            </a:r>
            <a:r>
              <a:rPr lang="ko-KR" altLang="en-US" dirty="0"/>
              <a:t>단위 강건성 부족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2393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D9438-D756-39FB-E6B6-426D1555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B1BF9-8AA1-D0C1-8049-48CEFDAD7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353AE-5438-2DB0-57BC-5BBC1064A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0.734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 측면에서 아직 개선할 수 있는 여지가 있다고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네 가지 방향으로 정리하겠습니다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레이블 데이터 부족 문제입니다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레이블이 있는 웨이퍼는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 모델을 충분히 학습시키기에는 적은 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레이블 없이도 풍부하게 존재합니다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데이터를 활용해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Mask-and-Reconstruct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Contrastive Learning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방식으로 인코더를 먼저 사전훈련한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레이블 데이터로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방향을 검토하고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불확실성 정량화가 아직 이루어지지 않고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하나만 출력하기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 현장에서 해당 예측을 얼마나 신뢰할 수 있는지 판단하기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Ensembles, MC Dropout, Conformal Prediction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신뢰구간을 함께 출력할 수 있도록 개선할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Mean Pooling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어떤 사이클이 예측에 중요하게 작용했는지 알 수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Gradient 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일부 해석을 시도할 수 있지만 간접적인 방법에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+ Cycle Positional Encoding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사이클 중요도를 직접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시각화할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데이터셋이 작아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단독 학습이 어려울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언급한 자기지도 사전훈련과 연계하여 진행할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물리적 제약 없이 순수하게 데이터만으로 학습하기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 깊이가 사이클 진행에 따라 반드시 증가해야 한다는 공정의 기본 성질이 보장되지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손실 함수에 단조증가 제약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Smoothness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관측되는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종의 농도 비율을 반영한 화학 관계 제약을 추가하여 물리적으로 타당한 예측을 유도할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향후 연구는 자기지도학습 사전훈련을 통한 데이터 부족 극복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불확실성 정량화를 통한 배포 신뢰성 확보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해석 가능성 향상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 제약 적용을 중심으로 진행할 예정입니다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9A5030-B3D2-8F5A-17A8-CF43D8F24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9028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4519-2210-4882-BC56-D20FE2F3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872607-FE11-4475-BF70-719D39FDD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CE5337-1EC4-A5DF-32ED-DFD5AD79C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 </a:t>
            </a:r>
            <a:r>
              <a:rPr lang="en-US" altLang="ko-KR" dirty="0"/>
              <a:t>VM</a:t>
            </a:r>
            <a:r>
              <a:rPr lang="ko-KR" altLang="en-US" dirty="0"/>
              <a:t>은 보통 </a:t>
            </a:r>
            <a:r>
              <a:rPr lang="ko-KR" altLang="en-US" b="1" dirty="0"/>
              <a:t>결과값 예측</a:t>
            </a:r>
            <a:r>
              <a:rPr lang="ko-KR" altLang="en-US" dirty="0"/>
              <a:t>에서 끝나는데</a:t>
            </a:r>
            <a:r>
              <a:rPr lang="en-US" altLang="ko-KR" dirty="0"/>
              <a:t>, cycle-aware </a:t>
            </a:r>
            <a:r>
              <a:rPr lang="ko-KR" altLang="en-US" dirty="0"/>
              <a:t>모델은 </a:t>
            </a:r>
            <a:r>
              <a:rPr lang="en-US" altLang="ko-KR" dirty="0"/>
              <a:t>cycle </a:t>
            </a:r>
            <a:r>
              <a:rPr lang="ko-KR" altLang="en-US" dirty="0"/>
              <a:t>단위로 입력을 나누니까 </a:t>
            </a:r>
            <a:endParaRPr lang="en-US" altLang="ko-KR" dirty="0"/>
          </a:p>
          <a:p>
            <a:r>
              <a:rPr lang="ko-KR" altLang="en-US" dirty="0"/>
              <a:t>나중에 </a:t>
            </a:r>
            <a:r>
              <a:rPr lang="en-US" altLang="ko-KR" dirty="0"/>
              <a:t>attribution/attention</a:t>
            </a:r>
            <a:r>
              <a:rPr lang="ko-KR" altLang="en-US" dirty="0"/>
              <a:t>을 붙이면</a:t>
            </a:r>
            <a:r>
              <a:rPr lang="en-US" altLang="ko-KR" dirty="0"/>
              <a:t>, </a:t>
            </a:r>
            <a:r>
              <a:rPr lang="ko-KR" altLang="en-US" dirty="0"/>
              <a:t>불량 또는 예측 오차가 발생했을 때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en-US" altLang="ko-KR" dirty="0"/>
              <a:t>cycle </a:t>
            </a:r>
            <a:r>
              <a:rPr lang="ko-KR" altLang="en-US" dirty="0"/>
              <a:t>구간에서 이상 신호가 나타났는지 추적할 수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B58A6C-E641-72E1-7C5B-FBCF49255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828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D999-0375-9F50-6EF8-CE23066A4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84427-142B-67B9-3E89-77290A173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82FEBF-9EB1-3AC2-524B-FBB21E5A1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/>
              <a:t>ALD: </a:t>
            </a:r>
            <a:r>
              <a:rPr lang="ko-KR" altLang="en-US" b="0" dirty="0"/>
              <a:t>금속 </a:t>
            </a:r>
            <a:r>
              <a:rPr lang="en-US" altLang="ko-KR" b="0" dirty="0"/>
              <a:t>source gas + </a:t>
            </a:r>
            <a:r>
              <a:rPr lang="ko-KR" altLang="en-US" b="0" dirty="0"/>
              <a:t>반응 </a:t>
            </a:r>
            <a:r>
              <a:rPr lang="en-US" altLang="ko-KR" b="0" dirty="0"/>
              <a:t>gas</a:t>
            </a:r>
            <a:r>
              <a:rPr lang="ko-KR" altLang="en-US" b="0" dirty="0"/>
              <a:t>가 번갈아 들어가며 박막을 쌓는 </a:t>
            </a:r>
            <a:r>
              <a:rPr lang="en-US" altLang="ko-KR" b="0" dirty="0"/>
              <a:t>cycle </a:t>
            </a:r>
            <a:r>
              <a:rPr lang="ko-KR" altLang="en-US" b="0" dirty="0"/>
              <a:t>공정</a:t>
            </a:r>
          </a:p>
          <a:p>
            <a:r>
              <a:rPr lang="en-US" altLang="ko-KR" b="0" dirty="0"/>
              <a:t>PEALD: </a:t>
            </a:r>
            <a:r>
              <a:rPr lang="ko-KR" altLang="en-US" b="0" dirty="0"/>
              <a:t>금속 </a:t>
            </a:r>
            <a:r>
              <a:rPr lang="en-US" altLang="ko-KR" b="0" dirty="0"/>
              <a:t>source gas + plasma gas</a:t>
            </a:r>
            <a:r>
              <a:rPr lang="ko-KR" altLang="en-US" b="0" dirty="0"/>
              <a:t>가 번갈아 들어가며 박막을 쌓는 </a:t>
            </a:r>
            <a:r>
              <a:rPr lang="en-US" altLang="ko-KR" b="0" dirty="0"/>
              <a:t>cycle </a:t>
            </a:r>
            <a:r>
              <a:rPr lang="ko-KR" altLang="en-US" b="0" dirty="0"/>
              <a:t>공정</a:t>
            </a:r>
            <a:endParaRPr lang="en-US" altLang="ko-KR" b="0" dirty="0"/>
          </a:p>
          <a:p>
            <a:r>
              <a:rPr lang="en-US" altLang="ko-KR" b="0" dirty="0"/>
              <a:t>ALE: </a:t>
            </a:r>
            <a:r>
              <a:rPr lang="ko-KR" altLang="en-US" b="0" dirty="0"/>
              <a:t>표면을 바꾸는 </a:t>
            </a:r>
            <a:r>
              <a:rPr lang="en-US" altLang="ko-KR" b="0" dirty="0"/>
              <a:t>gas + </a:t>
            </a:r>
            <a:r>
              <a:rPr lang="ko-KR" altLang="en-US" b="0" dirty="0"/>
              <a:t>제거 </a:t>
            </a:r>
            <a:r>
              <a:rPr lang="en-US" altLang="ko-KR" b="0" dirty="0"/>
              <a:t>plasma</a:t>
            </a:r>
            <a:r>
              <a:rPr lang="ko-KR" altLang="en-US" b="0" dirty="0"/>
              <a:t>가 반복되며 </a:t>
            </a:r>
            <a:r>
              <a:rPr lang="ko-KR" altLang="en-US" b="0" dirty="0" err="1"/>
              <a:t>원자층</a:t>
            </a:r>
            <a:r>
              <a:rPr lang="ko-KR" altLang="en-US" b="0" dirty="0"/>
              <a:t> 단위로 깎는 </a:t>
            </a:r>
            <a:r>
              <a:rPr lang="en-US" altLang="ko-KR" b="0" dirty="0"/>
              <a:t>cycle </a:t>
            </a:r>
            <a:r>
              <a:rPr lang="ko-KR" altLang="en-US" b="0" dirty="0"/>
              <a:t>공정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E99EF7-F65C-E9BE-58C2-F47E35289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527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D2D5-2EA2-DA0F-2285-FA2B036B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7C120-8DFA-A286-78A0-B65821A7D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C08389-C60C-AB43-E7CC-AD6FC820C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90EFE-D925-B8DC-9557-62D0DAE1E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197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B35A7-6DE8-E286-CEC5-1D288AE4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82F28F-E250-6772-AFEC-132AB0F91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B4EDB-3DB9-143A-D260-047D4C741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403931-94AA-2111-8954-D67332723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9804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0AC1-E284-658E-941A-CCA0DE3F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B19957-8554-C666-A8C3-B1A835C48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2A8E45-2A1E-3F83-94F7-8F418769D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63CC4-1CFC-384E-2884-242EB438C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23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87E6-1C06-E03E-ADBD-323F02E1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76D329-BE01-2498-5438-84C9BEB4E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A79B3E-B28C-A7A7-A1F7-22E55A139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8F05C-8230-F953-854A-F06687031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1499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A35B-32AA-E156-2A08-E004AC2D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F407B1-9AB8-DA7C-99F4-6BF46DBC9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D7515F-50BA-B1C6-2ADC-57D9040F8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Multimodal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R² 0.734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 측면에서 아직 개선할 수 있는 여지가 있다고 판단했습니다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네 가지 방향으로 정리하겠습니다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레이블 데이터 부족 문제입니다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레이블이 있는 웨이퍼는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딥러닝 모델을 충분히 학습시키기에는 적은 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 레이블 없이도 풍부하게 존재합니다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 데이터를 활용해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Mask-and-Reconstruct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Contrastive Learning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방식으로 인코더를 먼저 사전훈련한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소수의 레이블 데이터로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방향을 검토하고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불확실성 정량화가 아직 이루어지지 않고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하나만 출력하기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 현장에서 해당 예측을 얼마나 신뢰할 수 있는지 판단하기 어렵습니다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Ensembles, MC Dropout, Conformal Prediction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신뢰구간을 함께 출력할 수 있도록 개선할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BiLSTM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Mean Pooling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 중 어떤 사이클이 예측에 중요하게 작용했는지 알 수 없습니다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Gradient Attribution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일부 해석을 시도할 수 있지만 간접적인 방법에 불과합니다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+ Cycle Positional Encoding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대체하면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사이클 중요도를 직접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시각화할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다만 데이터셋이 작아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단독 학습이 어려울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 언급한 자기지도 사전훈련과 연계하여 진행할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모델은 물리적 제약 없이 순수하게 데이터만으로 학습하기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 깊이가 사이클 진행에 따라 반드시 증가해야 한다는 공정의 기본 성질이 보장되지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손실 함수에 단조증가 제약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Smoothness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정규화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관측되는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원자와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종의 농도 비율을 반영한 화학 관계 제약을 추가하여 물리적으로 타당한 예측을 유도할 계획입니다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향후 연구는 자기지도학습 사전훈련을 통한 데이터 부족 극복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불확실성 정량화를 통한 배포 신뢰성 확보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Transformer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해석 가능성 향상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물리 제약 적용을 중심으로 진행할 예정입니다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6EA45-52F1-E81F-6AEE-AAFD69CBD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67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1B248-B5EF-20AE-07C3-7D70F1F82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AB29E1-6A58-AD40-1D2F-8411397C6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855D35-158E-A9B8-3044-10F791A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C28A6-F9C6-DAEC-EBFA-00BC7F65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80E62-052C-2C7E-18F0-33B5A6B5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14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036EB-D8D6-DE82-EFF2-7CCAE666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A6657-85E2-FF34-239A-94CA3BAE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4499A-54D6-893D-83E3-AF241335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DB95C0-A16E-3BE1-C648-77031E26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D9431B-AEAA-625A-6665-C646B80C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35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AA8A4-C08F-6776-BF1E-7EBF456A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72443-DCB4-D574-BA54-B0177265E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358DF2-558D-32C2-DA24-D6106917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7C0F8-D4AF-8B5F-5EF1-46EF32DE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F66D58-6D69-CECD-D1AB-697CC73C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1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46ADA-F1DB-0F2C-C9B6-5890087E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2373D-0A4C-8B25-9DB4-42AB2BB38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4BC4BB-CE7D-31EE-14E3-081C3589C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107F6-2076-C183-6FF7-8AE1E228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B7388A-BE4A-9640-B6AF-17E80393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29A2C4-6A4D-C3A7-0D06-36E7825D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28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F87E9-724E-CA6A-C94C-6C24A98D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FFCF54-7A84-8D93-8CF7-8AE7C0400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0498A7-31E2-EEC3-B407-6BB1E4A03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2ACC4B-FC95-96D9-8235-7993D6E31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C04156-8A6F-E1C5-290F-7B9AD5CCD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230E25-BB9C-DD22-DB54-B0D77FE3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04B18E-1573-B1B6-7DF8-3C5D0FF4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4A2404-9D52-4E7E-1A0B-36DB809F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8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A6456-B0FA-7A53-3902-30B12224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73BA63-D7F8-7CA3-58F1-80859264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8F31B-A585-627D-1B49-5536D32C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EE821-25F2-AB57-1824-4E6A141C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09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16D9F7-FDF8-5DC1-7C96-D5D6ED7D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9662E2-1344-7806-5A8A-06DA60D3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32C85-5D79-52D3-AA25-85BF2847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2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56BD3-3055-5E84-1BA1-EE0F0CEB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AA770-8901-5184-5795-594BA0C6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F880CF-5CCA-EA2C-9026-D61A26E57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DA95DB-539F-B3E5-70B0-0C6B7176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328567-7F6C-713B-E3BC-8DC9CC6D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6275E-FCAA-2D9C-5192-21B99AE2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79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98339-1C25-791A-2E61-C122D664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A0FA65-ED3D-05FB-2E69-58DE29F7E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D6928-BA93-95D1-8A87-1D867E730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2A11EA-F3C6-892A-43E5-ECC57614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6AC39-1D9D-0075-AF1A-BD5A0FAA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CAFE5A-5F66-660A-AA72-642D1D5B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0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5FE7C-C879-ACC0-2D23-500E1A57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EF62BF-209A-1E4F-A42A-649C03EBB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B9E6F-87DB-3202-D7BD-FE09B5FF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8C7D87-880D-5C91-DBA7-8CCFC02B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8D160-E6A3-2D8D-06A2-263ECAD5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1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1499A7-B0EA-7722-D7BD-2F848FF2B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E0FA73-81CD-BE46-5620-067BC8438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FB5DA-E233-CA7C-2DF2-03968A28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6DB7E6-D961-19C6-82F8-37E060BD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A7A9B7-810C-44ED-C3E9-EE4A60CC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6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7BF8EF-2560-F75F-528C-82AA77F6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9B2B1-3966-52FF-3FF4-F5019FB89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03195-3CF6-C59A-2AEE-0C1A90CE8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75021-66CA-4200-D097-51C16C80B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5BD22-D752-BB05-76FF-BDF7E1562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61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5281/zenodo.17122442" TargetMode="Externa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2838450" y="-158750"/>
            <a:ext cx="964565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0483850" y="2298700"/>
            <a:ext cx="2139950" cy="4794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" y="1052558"/>
            <a:ext cx="11125200" cy="1784350"/>
          </a:xfrm>
          <a:prstGeom prst="rect">
            <a:avLst/>
          </a:prstGeom>
        </p:spPr>
        <p:txBody>
          <a:bodyPr lIns="0" tIns="114513" rIns="0" bIns="0" rtlCol="0" anchor="t"/>
          <a:lstStyle/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반도체 식각 공정 예측을 위한 </a:t>
            </a:r>
            <a:endParaRPr lang="en-US" altLang="ko-KR" sz="5400" spc="50" dirty="0">
              <a:solidFill>
                <a:srgbClr val="202A3E"/>
              </a:solidFill>
              <a:latin typeface="Pretendard Black" panose="02000A03000000020004" charset="-127"/>
              <a:ea typeface="Pretendard Black" panose="02000A03000000020004" charset="-127"/>
              <a:cs typeface="Pretendard Black" panose="02000A03000000020004" charset="-127"/>
            </a:endParaRPr>
          </a:p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시계열 </a:t>
            </a:r>
            <a:r>
              <a:rPr lang="en-US" altLang="ko-KR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AI </a:t>
            </a:r>
            <a:r>
              <a:rPr lang="ko-KR" altLang="en-US" sz="5400" spc="50" dirty="0">
                <a:solidFill>
                  <a:srgbClr val="202A3E"/>
                </a:solidFill>
                <a:latin typeface="Pretendard Black" panose="02000A03000000020004" charset="-127"/>
                <a:ea typeface="Pretendard Black" panose="02000A03000000020004" charset="-127"/>
                <a:cs typeface="Pretendard Black" panose="02000A03000000020004" charset="-127"/>
              </a:rPr>
              <a:t>모델</a:t>
            </a:r>
            <a:endParaRPr lang="en-US" sz="5400" spc="50" dirty="0">
              <a:solidFill>
                <a:srgbClr val="202A3E"/>
              </a:solidFill>
              <a:latin typeface="Pretendard Black" panose="02000A03000000020004" charset="-127"/>
              <a:ea typeface="Pretendard Black" panose="02000A03000000020004" charset="-127"/>
              <a:cs typeface="Pretendard Black" panose="02000A03000000020004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8785357">
            <a:off x="9531350" y="2101850"/>
            <a:ext cx="1333500" cy="356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7657234">
            <a:off x="8102600" y="2616200"/>
            <a:ext cx="200025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6669180">
            <a:off x="6369050" y="4051300"/>
            <a:ext cx="914400" cy="339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9000"/>
          </a:blip>
          <a:stretch>
            <a:fillRect/>
          </a:stretch>
        </p:blipFill>
        <p:spPr>
          <a:xfrm rot="14083532">
            <a:off x="9112250" y="1136650"/>
            <a:ext cx="2743200" cy="19621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49000"/>
          </a:blip>
          <a:stretch>
            <a:fillRect/>
          </a:stretch>
        </p:blipFill>
        <p:spPr>
          <a:xfrm rot="4929301">
            <a:off x="5778500" y="5721350"/>
            <a:ext cx="2743200" cy="1962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2927350"/>
            <a:ext cx="36957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종합설계프로젝트 </a:t>
            </a:r>
            <a:r>
              <a:rPr lang="en-US" altLang="ko-KR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6</a:t>
            </a: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조</a:t>
            </a:r>
            <a:endParaRPr lang="en-US" sz="300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514350"/>
            <a:ext cx="273029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A313B-3E17-9D4C-A942-A6DCFEE71331}"/>
              </a:ext>
            </a:extLst>
          </p:cNvPr>
          <p:cNvSpPr txBox="1"/>
          <p:nvPr/>
        </p:nvSpPr>
        <p:spPr>
          <a:xfrm>
            <a:off x="884903" y="1517525"/>
            <a:ext cx="10422195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반도체 제조 공정에서 웨이퍼의 품질 관리는 식각 깊이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(etch depth),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산화막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두께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(oxide thickness)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등의 물리적 측정에 의존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가상 계측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(Virtual Metrology, VM)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이러한 물리적 측정값을 예측하는 기술 → 전수 검사 가능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 제어의 실시간성 향상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M 시스템 구성도">
            <a:extLst>
              <a:ext uri="{FF2B5EF4-FFF2-40B4-BE49-F238E27FC236}">
                <a16:creationId xmlns:a16="http://schemas.microsoft.com/office/drawing/2014/main" id="{031CD703-8FCC-B5F5-F8A0-2520DBD1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548850"/>
            <a:ext cx="86010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75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622B-FCBE-4704-4230-F6CC740D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9F95E052-3A62-D3DA-B83B-E745C5259D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5AA350A-FAD3-F88B-43BB-8DCD3E91511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8C08584-2E9C-C377-3516-1F6E79D98CF8}"/>
              </a:ext>
            </a:extLst>
          </p:cNvPr>
          <p:cNvSpPr txBox="1"/>
          <p:nvPr/>
        </p:nvSpPr>
        <p:spPr>
          <a:xfrm>
            <a:off x="837004" y="1477492"/>
            <a:ext cx="10421545" cy="419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VM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한계</a:t>
            </a:r>
            <a:endParaRPr lang="en-US" altLang="ko-KR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원래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high-dimensional temporal signal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인데 평균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분산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PCA band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등으로 축약 →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temporal dynamics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손실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PCA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이용해 주요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wavelength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선택하고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integration band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및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statistics-based / dynamics-inspired feature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추출하여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VM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모델을 구축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(Chien et al., 2021)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 Deep Learning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handcrafted feature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대신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representation learning, OES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2D data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자체로 활용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DeepVM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연구에서는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convolutional autoencoder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이용해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temporal–spectral structure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자동으로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feature extraction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 높은 예측 성능을 달성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((Maggipinto et al., 2019)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6C168EC-EFE8-8BC9-33DD-B6B9DF77928D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VM</a:t>
            </a:r>
            <a:r>
              <a:rPr lang="ko-KR" alt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선행연구</a:t>
            </a:r>
            <a:endParaRPr lang="en-US" sz="4000" b="1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624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4BD3-8258-09E6-9F29-B0D5E5C1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D5175A3-CAE2-78AC-7F3C-5ABD2B6651A0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88C114B-3AC7-EBE9-C7AC-4EB919F16A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6EF98E2-F0CC-D5D0-19E8-9C2AEF4B0B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65" name="Text 1">
            <a:extLst>
              <a:ext uri="{FF2B5EF4-FFF2-40B4-BE49-F238E27FC236}">
                <a16:creationId xmlns:a16="http://schemas.microsoft.com/office/drawing/2014/main" id="{C76549A1-8B2F-7EDD-76F1-3382C5E71804}"/>
              </a:ext>
            </a:extLst>
          </p:cNvPr>
          <p:cNvSpPr/>
          <p:nvPr/>
        </p:nvSpPr>
        <p:spPr>
          <a:xfrm>
            <a:off x="699201" y="1458767"/>
            <a:ext cx="7300184" cy="1024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BOSCH Plasma Etch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Multi-Model Dataset</a:t>
            </a:r>
            <a:endParaRPr lang="en-US" sz="44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CEA37905-CB69-3F73-1797-88B7F27F6C07}"/>
              </a:ext>
            </a:extLst>
          </p:cNvPr>
          <p:cNvSpPr/>
          <p:nvPr/>
        </p:nvSpPr>
        <p:spPr>
          <a:xfrm>
            <a:off x="730470" y="269052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Zenodo  |  DOI: 10.5281/zenodo.17122442  |  CC-BY 4.0</a:t>
            </a:r>
            <a:endParaRPr lang="en-US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4791599E-F482-0367-C555-78470E80C074}"/>
              </a:ext>
            </a:extLst>
          </p:cNvPr>
          <p:cNvGrpSpPr/>
          <p:nvPr/>
        </p:nvGrpSpPr>
        <p:grpSpPr>
          <a:xfrm>
            <a:off x="8055731" y="667223"/>
            <a:ext cx="3437068" cy="2437453"/>
            <a:chOff x="8379904" y="667223"/>
            <a:chExt cx="2931997" cy="2437453"/>
          </a:xfrm>
        </p:grpSpPr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26AA0AE7-0318-72A1-377B-F161F68AA40A}"/>
                </a:ext>
              </a:extLst>
            </p:cNvPr>
            <p:cNvSpPr/>
            <p:nvPr/>
          </p:nvSpPr>
          <p:spPr>
            <a:xfrm>
              <a:off x="8379904" y="667223"/>
              <a:ext cx="2931997" cy="2437453"/>
            </a:xfrm>
            <a:prstGeom prst="rect">
              <a:avLst/>
            </a:prstGeom>
            <a:solidFill>
              <a:srgbClr val="F0F4FA"/>
            </a:solidFill>
            <a:ln/>
          </p:spPr>
          <p:txBody>
            <a:bodyPr/>
            <a:lstStyle/>
            <a:p>
              <a:endPara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9" name="Shape 19">
              <a:extLst>
                <a:ext uri="{FF2B5EF4-FFF2-40B4-BE49-F238E27FC236}">
                  <a16:creationId xmlns:a16="http://schemas.microsoft.com/office/drawing/2014/main" id="{8B2CE18E-0D5E-7CFC-6191-AEFA98696748}"/>
                </a:ext>
              </a:extLst>
            </p:cNvPr>
            <p:cNvSpPr/>
            <p:nvPr/>
          </p:nvSpPr>
          <p:spPr>
            <a:xfrm>
              <a:off x="8379904" y="667223"/>
              <a:ext cx="70368" cy="2437453"/>
            </a:xfrm>
            <a:prstGeom prst="rect">
              <a:avLst/>
            </a:prstGeom>
            <a:solidFill>
              <a:srgbClr val="1A2744"/>
            </a:solidFill>
            <a:ln/>
          </p:spPr>
          <p:txBody>
            <a:bodyPr/>
            <a:lstStyle/>
            <a:p>
              <a:endParaRPr lang="ko-KR" altLang="en-US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77ED4E6-6886-6690-F7A4-BBF95B613D1E}"/>
              </a:ext>
            </a:extLst>
          </p:cNvPr>
          <p:cNvGrpSpPr/>
          <p:nvPr/>
        </p:nvGrpSpPr>
        <p:grpSpPr>
          <a:xfrm>
            <a:off x="8318158" y="843549"/>
            <a:ext cx="2887137" cy="2084801"/>
            <a:chOff x="8673104" y="770944"/>
            <a:chExt cx="2462877" cy="2084801"/>
          </a:xfrm>
        </p:grpSpPr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112754D7-2A2F-FC04-2AF3-DD21B05EB8A2}"/>
                </a:ext>
              </a:extLst>
            </p:cNvPr>
            <p:cNvSpPr/>
            <p:nvPr/>
          </p:nvSpPr>
          <p:spPr>
            <a:xfrm>
              <a:off x="8673104" y="770944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장비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DB4A70D9-4018-DF93-720A-2825A451A88B}"/>
                </a:ext>
              </a:extLst>
            </p:cNvPr>
            <p:cNvSpPr/>
            <p:nvPr/>
          </p:nvSpPr>
          <p:spPr>
            <a:xfrm>
              <a:off x="8673104" y="993530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SPTS Omega i2L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DSi Rapier (ICP-RIE)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9FF4F9A7-9F79-08B8-414E-4A98D3AABA51}"/>
                </a:ext>
              </a:extLst>
            </p:cNvPr>
            <p:cNvSpPr/>
            <p:nvPr/>
          </p:nvSpPr>
          <p:spPr>
            <a:xfrm>
              <a:off x="8673104" y="139244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웨이퍼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430A32F0-DFE8-8DB9-F013-1E6F342EDA8F}"/>
                </a:ext>
              </a:extLst>
            </p:cNvPr>
            <p:cNvSpPr/>
            <p:nvPr/>
          </p:nvSpPr>
          <p:spPr>
            <a:xfrm>
              <a:off x="8673104" y="1615028"/>
              <a:ext cx="2462877" cy="174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200mm Si &lt;100&gt;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F375F0CE-DB53-6BAB-A0D0-226B21CA9ECE}"/>
                </a:ext>
              </a:extLst>
            </p:cNvPr>
            <p:cNvSpPr/>
            <p:nvPr/>
          </p:nvSpPr>
          <p:spPr>
            <a:xfrm>
              <a:off x="8673104" y="182496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5" name="Text 25">
              <a:extLst>
                <a:ext uri="{FF2B5EF4-FFF2-40B4-BE49-F238E27FC236}">
                  <a16:creationId xmlns:a16="http://schemas.microsoft.com/office/drawing/2014/main" id="{863526F0-56B1-4647-5FDC-72093A6D0764}"/>
                </a:ext>
              </a:extLst>
            </p:cNvPr>
            <p:cNvSpPr/>
            <p:nvPr/>
          </p:nvSpPr>
          <p:spPr>
            <a:xfrm>
              <a:off x="8673104" y="2047548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(SF₆/C₄F₈)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 cycles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6" name="Text 26">
              <a:extLst>
                <a:ext uri="{FF2B5EF4-FFF2-40B4-BE49-F238E27FC236}">
                  <a16:creationId xmlns:a16="http://schemas.microsoft.com/office/drawing/2014/main" id="{8BB8B4AA-53A1-B5D9-2C92-FCD61E32DA7A}"/>
                </a:ext>
              </a:extLst>
            </p:cNvPr>
            <p:cNvSpPr/>
            <p:nvPr/>
          </p:nvSpPr>
          <p:spPr>
            <a:xfrm>
              <a:off x="8673104" y="2446460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규모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 27">
              <a:extLst>
                <a:ext uri="{FF2B5EF4-FFF2-40B4-BE49-F238E27FC236}">
                  <a16:creationId xmlns:a16="http://schemas.microsoft.com/office/drawing/2014/main" id="{C8F35BCC-120A-D69A-42DD-5711AFCFCC6F}"/>
                </a:ext>
              </a:extLst>
            </p:cNvPr>
            <p:cNvSpPr/>
            <p:nvPr/>
          </p:nvSpPr>
          <p:spPr>
            <a:xfrm>
              <a:off x="8673104" y="2669046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 lots × 10 wafers ≈ 100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8" name="Shape 3">
            <a:extLst>
              <a:ext uri="{FF2B5EF4-FFF2-40B4-BE49-F238E27FC236}">
                <a16:creationId xmlns:a16="http://schemas.microsoft.com/office/drawing/2014/main" id="{A87DA584-9C91-660C-4DF1-D7522F565041}"/>
              </a:ext>
            </a:extLst>
          </p:cNvPr>
          <p:cNvSpPr/>
          <p:nvPr/>
        </p:nvSpPr>
        <p:spPr>
          <a:xfrm>
            <a:off x="69920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CE630992-ABC6-2981-08F7-B45E223D9202}"/>
              </a:ext>
            </a:extLst>
          </p:cNvPr>
          <p:cNvSpPr/>
          <p:nvPr/>
        </p:nvSpPr>
        <p:spPr>
          <a:xfrm>
            <a:off x="69920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905CF016-786C-7FC1-91CA-98CAC4E94343}"/>
              </a:ext>
            </a:extLst>
          </p:cNvPr>
          <p:cNvSpPr/>
          <p:nvPr/>
        </p:nvSpPr>
        <p:spPr>
          <a:xfrm>
            <a:off x="1000698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3,648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6833D00E-BC3E-48D7-00A5-FBF74C15569C}"/>
              </a:ext>
            </a:extLst>
          </p:cNvPr>
          <p:cNvSpPr/>
          <p:nvPr/>
        </p:nvSpPr>
        <p:spPr>
          <a:xfrm>
            <a:off x="1000698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채널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19D64436-F667-AE40-209C-2B0358F16CD7}"/>
              </a:ext>
            </a:extLst>
          </p:cNvPr>
          <p:cNvSpPr/>
          <p:nvPr/>
        </p:nvSpPr>
        <p:spPr>
          <a:xfrm>
            <a:off x="1000698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광학 방출 스펙트럼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185 ~ 884 nm, 25Hz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1097DBC8-1F23-2319-4E1A-BBBED0ED86A7}"/>
              </a:ext>
            </a:extLst>
          </p:cNvPr>
          <p:cNvSpPr/>
          <p:nvPr/>
        </p:nvSpPr>
        <p:spPr>
          <a:xfrm>
            <a:off x="4377466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AA290658-5265-9386-05CC-062CFA5E8F4B}"/>
              </a:ext>
            </a:extLst>
          </p:cNvPr>
          <p:cNvSpPr/>
          <p:nvPr/>
        </p:nvSpPr>
        <p:spPr>
          <a:xfrm>
            <a:off x="4377466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C0136110-2D90-0A9A-4743-BD9DCB9636B5}"/>
              </a:ext>
            </a:extLst>
          </p:cNvPr>
          <p:cNvSpPr/>
          <p:nvPr/>
        </p:nvSpPr>
        <p:spPr>
          <a:xfrm>
            <a:off x="4678963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31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7A79F0E9-9147-2411-6057-44AD7DC6F2F4}"/>
              </a:ext>
            </a:extLst>
          </p:cNvPr>
          <p:cNvSpPr/>
          <p:nvPr/>
        </p:nvSpPr>
        <p:spPr>
          <a:xfrm>
            <a:off x="4678963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파라미터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631EDC92-6F5D-B534-5FBD-49C326B8E7FD}"/>
              </a:ext>
            </a:extLst>
          </p:cNvPr>
          <p:cNvSpPr/>
          <p:nvPr/>
        </p:nvSpPr>
        <p:spPr>
          <a:xfrm>
            <a:off x="4678963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센서 데이터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RF Power, 가스, 압력 등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04A0249C-FC33-94D0-4F31-806F9F9C8C9B}"/>
              </a:ext>
            </a:extLst>
          </p:cNvPr>
          <p:cNvSpPr/>
          <p:nvPr/>
        </p:nvSpPr>
        <p:spPr>
          <a:xfrm>
            <a:off x="805573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8F82E976-B295-8372-45B7-F338C8361671}"/>
              </a:ext>
            </a:extLst>
          </p:cNvPr>
          <p:cNvSpPr/>
          <p:nvPr/>
        </p:nvSpPr>
        <p:spPr>
          <a:xfrm>
            <a:off x="805573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FA4CE38C-0840-EEDC-2662-9AE3ABEAA832}"/>
              </a:ext>
            </a:extLst>
          </p:cNvPr>
          <p:cNvSpPr/>
          <p:nvPr/>
        </p:nvSpPr>
        <p:spPr>
          <a:xfrm>
            <a:off x="8357229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9/89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77F824DA-C4E1-FD42-16C8-C5565321DF28}"/>
              </a:ext>
            </a:extLst>
          </p:cNvPr>
          <p:cNvSpPr/>
          <p:nvPr/>
        </p:nvSpPr>
        <p:spPr>
          <a:xfrm>
            <a:off x="8357229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포인트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096E610-0F38-450B-EE69-4D2935128EBF}"/>
              </a:ext>
            </a:extLst>
          </p:cNvPr>
          <p:cNvSpPr/>
          <p:nvPr/>
        </p:nvSpPr>
        <p:spPr>
          <a:xfrm>
            <a:off x="8357229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웨이퍼 계측값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Etch Depth, Oxide 두께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CBD9AE42-F8EB-B03B-DD52-383040CCB9D0}"/>
              </a:ext>
            </a:extLst>
          </p:cNvPr>
          <p:cNvSpPr/>
          <p:nvPr/>
        </p:nvSpPr>
        <p:spPr>
          <a:xfrm>
            <a:off x="699201" y="5648082"/>
            <a:ext cx="10793598" cy="54269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C7F23FD0-70B1-9B4F-5CBD-905BE5406E68}"/>
              </a:ext>
            </a:extLst>
          </p:cNvPr>
          <p:cNvSpPr/>
          <p:nvPr/>
        </p:nvSpPr>
        <p:spPr>
          <a:xfrm>
            <a:off x="940399" y="5684262"/>
            <a:ext cx="10130304" cy="458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+ 공정 파라미터(X)로 Etch Depth(Y)를 예측하는 가상 계측(VM) 모델의 학습 데이터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87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6C42-1A12-C903-5581-6BD58BCA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23AD093C-1908-2048-CF62-1C2D579745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778C96C-7DCB-1C32-D440-3C0A96E7B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45" name="TextBox 2">
            <a:extLst>
              <a:ext uri="{FF2B5EF4-FFF2-40B4-BE49-F238E27FC236}">
                <a16:creationId xmlns:a16="http://schemas.microsoft.com/office/drawing/2014/main" id="{65AE0E54-91AE-893D-0489-C5809F6BEB82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45602636-7D7A-CB53-E760-0E8E09DE401B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dirty="0" err="1">
                <a:solidFill>
                  <a:srgbClr val="1A274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타겟</a:t>
            </a:r>
            <a:r>
              <a:rPr lang="en-US" altLang="ko-KR" sz="2400" dirty="0">
                <a:solidFill>
                  <a:srgbClr val="1A274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</a:t>
            </a:r>
            <a:r>
              <a:rPr lang="en-US" altLang="ko-KR" sz="2400" dirty="0">
                <a:solidFill>
                  <a:srgbClr val="1A274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(Y) 및 </a:t>
            </a:r>
            <a:r>
              <a:rPr lang="en-US" altLang="ko-KR" sz="2400" dirty="0" err="1">
                <a:solidFill>
                  <a:srgbClr val="1A274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데이터</a:t>
            </a:r>
            <a:r>
              <a:rPr lang="en-US" altLang="ko-KR" sz="2400" dirty="0">
                <a:solidFill>
                  <a:srgbClr val="1A274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파이프라인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CCFDA115-F354-C074-FE9F-2C97A671B006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예측하고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어떻게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모델에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들어가는가</a:t>
            </a:r>
            <a:endParaRPr lang="en-US" alt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9" name="그림 128">
            <a:extLst>
              <a:ext uri="{FF2B5EF4-FFF2-40B4-BE49-F238E27FC236}">
                <a16:creationId xmlns:a16="http://schemas.microsoft.com/office/drawing/2014/main" id="{F6A7FAF9-2122-3731-6D8C-EDE45E2F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2249510"/>
            <a:ext cx="9245600" cy="38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9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8620-8EB8-31B3-6E3A-85FF90CD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1414E6-7E22-65C7-A84A-6061E791464A}"/>
              </a:ext>
            </a:extLst>
          </p:cNvPr>
          <p:cNvSpPr txBox="1"/>
          <p:nvPr/>
        </p:nvSpPr>
        <p:spPr>
          <a:xfrm>
            <a:off x="514350" y="314637"/>
            <a:ext cx="717954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DBD4B2E-8337-5FFA-38F1-0FAE9715E21D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3B21766E-55F7-2C36-70FD-4C886C8D7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713BBB68-1F1B-44F0-99B6-EA4F39653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0C5477D1-F820-6ACC-9B9E-56430084B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0" y="1175974"/>
            <a:ext cx="9182100" cy="5167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6FD0E-E4BE-2E33-AF18-7AC9AAF6A8BF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</a:t>
            </a:r>
            <a:r>
              <a:rPr lang="en-US" sz="4000" b="1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XGBoost</a:t>
            </a:r>
            <a:endParaRPr lang="en-US" sz="4000" b="1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3790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090D1A-7383-E8D7-9DE4-723D87982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439" y="1135022"/>
            <a:ext cx="7211122" cy="54083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7D29FE-E699-B035-5740-BE00380A868C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Pipeline-DL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A18A83F-76D1-DAD8-4764-79DAD7CBFC08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6" name="Picture 10">
              <a:extLst>
                <a:ext uri="{FF2B5EF4-FFF2-40B4-BE49-F238E27FC236}">
                  <a16:creationId xmlns:a16="http://schemas.microsoft.com/office/drawing/2014/main" id="{70A113A6-499F-60B3-3BA1-D7AAC0A59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7" name="Picture 11">
              <a:extLst>
                <a:ext uri="{FF2B5EF4-FFF2-40B4-BE49-F238E27FC236}">
                  <a16:creationId xmlns:a16="http://schemas.microsoft.com/office/drawing/2014/main" id="{EEDFF6B5-D74A-D214-E839-2EE188B49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524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80CC-C326-8D79-3F33-72219DE5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E4D09CD9-FD12-6B9E-778C-A556B64B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B8BC640-D965-0DB3-E698-434EE9492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A3FD777-A49A-8D85-0BAE-547AE0B7A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083" y="1096796"/>
            <a:ext cx="8131834" cy="54212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D20E6A-FA61-8BE9-668E-2944872D7A09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Pipeline-DL</a:t>
            </a:r>
          </a:p>
        </p:txBody>
      </p:sp>
    </p:spTree>
    <p:extLst>
      <p:ext uri="{BB962C8B-B14F-4D97-AF65-F5344CB8AC3E}">
        <p14:creationId xmlns:p14="http://schemas.microsoft.com/office/powerpoint/2010/main" val="216635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31317"/>
            <a:ext cx="53816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DL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 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못 맞추는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016092"/>
            <a:ext cx="8501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370"/>
                </a:solidFill>
                <a:latin typeface="Malgun Gothic"/>
              </a:defRPr>
            </a:pP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XGB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baseline은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Si를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매우</a:t>
            </a:r>
            <a:r>
              <a:rPr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잘 </a:t>
            </a:r>
            <a:r>
              <a:rPr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예측</a:t>
            </a:r>
            <a:endParaRPr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D7839AD0-007E-DC44-24CE-E1FB62CF78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BA67D1FF-56F8-8A04-97AB-4A62F72DCE2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7698A1A-5F00-33D0-962D-9CB517012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61" y="1882120"/>
            <a:ext cx="10659308" cy="4262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C539-3BF9-F6EA-92C5-A35C5FC2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3911EE9-46CE-CE79-9595-2584950EB688}"/>
              </a:ext>
            </a:extLst>
          </p:cNvPr>
          <p:cNvSpPr txBox="1"/>
          <p:nvPr/>
        </p:nvSpPr>
        <p:spPr>
          <a:xfrm>
            <a:off x="514350" y="314637"/>
            <a:ext cx="589760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D7A7D00C-1599-C99D-37E4-96E1C70F7C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7F6799A-9EA9-F412-7F01-ABD4D0C222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883C3AE-9075-65F7-D701-75824F987D9A}"/>
              </a:ext>
            </a:extLst>
          </p:cNvPr>
          <p:cNvGraphicFramePr>
            <a:graphicFrameLocks noGrp="1"/>
          </p:cNvGraphicFramePr>
          <p:nvPr/>
        </p:nvGraphicFramePr>
        <p:xfrm>
          <a:off x="821158" y="1457656"/>
          <a:ext cx="10549683" cy="1543050"/>
        </p:xfrm>
        <a:graphic>
          <a:graphicData uri="http://schemas.openxmlformats.org/drawingml/2006/table">
            <a:tbl>
              <a:tblPr/>
              <a:tblGrid>
                <a:gridCol w="273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Target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C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Within-wafer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Between-wafer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Spatial baseline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Si_etch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3.61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(99%)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0.40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(1%)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0.985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Oxide_etch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0.064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(68%)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0.044 μ</a:t>
                      </a:r>
                      <a:r>
                        <a:rPr lang="en-US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(32%)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0.156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45DB962C-3C23-B1DF-A96B-9D1AD4718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128" y="3196540"/>
            <a:ext cx="8142722" cy="30761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6C35B9-E082-B1DF-9FFA-0D4759313111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EDA - </a:t>
            </a:r>
            <a:r>
              <a:rPr lang="en-US" sz="4000" b="1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Si_etch</a:t>
            </a:r>
            <a:endParaRPr lang="en-US" sz="4000" b="1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044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80CC-C326-8D79-3F33-72219DE5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E4D09CD9-FD12-6B9E-778C-A556B64B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B8BC640-D965-0DB3-E698-434EE9492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1E9A29-332E-5B79-A2CE-1C6EE4F17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246" y="987274"/>
            <a:ext cx="8487508" cy="5658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C3DFC0-356C-36B2-589D-9368C5A1A9A0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b="1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Pipeline-DL</a:t>
            </a:r>
          </a:p>
        </p:txBody>
      </p:sp>
    </p:spTree>
    <p:extLst>
      <p:ext uri="{BB962C8B-B14F-4D97-AF65-F5344CB8AC3E}">
        <p14:creationId xmlns:p14="http://schemas.microsoft.com/office/powerpoint/2010/main" val="299129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E6F630C-A8AD-59BA-DC58-66DA3DA6521A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196EA974-364A-96A4-DD3A-00CD9BCBE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8C3085F4-F29B-FE67-D294-A79EDB4EF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AD8DBC8-6B35-B273-A0BF-35793A026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2" y="898064"/>
            <a:ext cx="10360476" cy="5830866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1283DD54-9AE5-603E-1335-1C2835C71D2A}"/>
              </a:ext>
            </a:extLst>
          </p:cNvPr>
          <p:cNvSpPr txBox="1"/>
          <p:nvPr/>
        </p:nvSpPr>
        <p:spPr>
          <a:xfrm>
            <a:off x="436291" y="225427"/>
            <a:ext cx="598681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endParaRPr lang="en-US" altLang="ko-KR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61A04A-A37C-F4D5-E6C6-5E002CFE3A8B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FiLM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modulation</a:t>
            </a:r>
          </a:p>
        </p:txBody>
      </p:sp>
    </p:spTree>
    <p:extLst>
      <p:ext uri="{BB962C8B-B14F-4D97-AF65-F5344CB8AC3E}">
        <p14:creationId xmlns:p14="http://schemas.microsoft.com/office/powerpoint/2010/main" val="4184312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72FD49C-953B-50DF-9134-DE53E88DF4B6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2" name="Picture 10">
              <a:extLst>
                <a:ext uri="{FF2B5EF4-FFF2-40B4-BE49-F238E27FC236}">
                  <a16:creationId xmlns:a16="http://schemas.microsoft.com/office/drawing/2014/main" id="{493E7B98-FD1C-6BFE-738D-15E5FF62F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5" name="Picture 11">
              <a:extLst>
                <a:ext uri="{FF2B5EF4-FFF2-40B4-BE49-F238E27FC236}">
                  <a16:creationId xmlns:a16="http://schemas.microsoft.com/office/drawing/2014/main" id="{1E13C8EC-64C7-6B06-84AC-7DB2BBEFC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247F9C6A-46D3-0CF5-FAD4-58981E464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1782859"/>
            <a:ext cx="10903348" cy="4560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B6FDFA-DCC4-156F-B251-6C299CEF2BBA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FiLM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modulation</a:t>
            </a:r>
          </a:p>
        </p:txBody>
      </p:sp>
    </p:spTree>
    <p:extLst>
      <p:ext uri="{BB962C8B-B14F-4D97-AF65-F5344CB8AC3E}">
        <p14:creationId xmlns:p14="http://schemas.microsoft.com/office/powerpoint/2010/main" val="160875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3AADEF1-0C09-35AD-2E37-FA6D38683F9C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6" name="Picture 10">
              <a:extLst>
                <a:ext uri="{FF2B5EF4-FFF2-40B4-BE49-F238E27FC236}">
                  <a16:creationId xmlns:a16="http://schemas.microsoft.com/office/drawing/2014/main" id="{B95BBBF0-810F-95A6-4FD9-4E9732941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7" name="Picture 11">
              <a:extLst>
                <a:ext uri="{FF2B5EF4-FFF2-40B4-BE49-F238E27FC236}">
                  <a16:creationId xmlns:a16="http://schemas.microsoft.com/office/drawing/2014/main" id="{7DD510BA-F41E-5C57-F476-F140B5F8F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3077F7E-209E-2E83-90E2-8B47845D2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1095063"/>
            <a:ext cx="9448800" cy="544830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06B1F02B-0FF7-3253-811F-B5A4DC029616}"/>
              </a:ext>
            </a:extLst>
          </p:cNvPr>
          <p:cNvSpPr txBox="1"/>
          <p:nvPr/>
        </p:nvSpPr>
        <p:spPr>
          <a:xfrm>
            <a:off x="514350" y="314637"/>
            <a:ext cx="598681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endParaRPr lang="en-US" altLang="ko-KR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2A51D-AA5A-16E4-2EAC-7F9258650907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Si_etch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wafer-map</a:t>
            </a:r>
          </a:p>
        </p:txBody>
      </p:sp>
    </p:spTree>
    <p:extLst>
      <p:ext uri="{BB962C8B-B14F-4D97-AF65-F5344CB8AC3E}">
        <p14:creationId xmlns:p14="http://schemas.microsoft.com/office/powerpoint/2010/main" val="3839790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347AF3B-70A4-6ED1-01E6-A4300AFE7727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0EB9F8E0-CDEC-83B6-B358-7429D177C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5D8D1E0C-77C4-DCE0-3004-FAB589435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992645D-F06B-3A79-1F54-CC5B785DC0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479" y="1011193"/>
            <a:ext cx="9966369" cy="56090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A3504B-15E3-EFB9-99AD-F03C2253C622}"/>
              </a:ext>
            </a:extLst>
          </p:cNvPr>
          <p:cNvSpPr txBox="1"/>
          <p:nvPr/>
        </p:nvSpPr>
        <p:spPr>
          <a:xfrm>
            <a:off x="411480" y="431317"/>
            <a:ext cx="52966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특정 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Fold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에서 성능 붕괴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D1F289-D7D0-3CCA-E8E0-590D698F200F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3" name="Picture 10">
              <a:extLst>
                <a:ext uri="{FF2B5EF4-FFF2-40B4-BE49-F238E27FC236}">
                  <a16:creationId xmlns:a16="http://schemas.microsoft.com/office/drawing/2014/main" id="{CFCD6783-D91B-D645-AE5A-D1C7B0512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A7D5E583-8975-2B88-DFCF-9D0855E1D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D8C8577-EDEF-0622-496E-288211D9E8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8" y="1531309"/>
            <a:ext cx="11535964" cy="37953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CAA416-F53F-91FB-E099-17A66F0948F2}"/>
              </a:ext>
            </a:extLst>
          </p:cNvPr>
          <p:cNvSpPr txBox="1"/>
          <p:nvPr/>
        </p:nvSpPr>
        <p:spPr>
          <a:xfrm>
            <a:off x="411480" y="431317"/>
            <a:ext cx="16995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원인 분석</a:t>
            </a:r>
          </a:p>
        </p:txBody>
      </p:sp>
    </p:spTree>
    <p:extLst>
      <p:ext uri="{BB962C8B-B14F-4D97-AF65-F5344CB8AC3E}">
        <p14:creationId xmlns:p14="http://schemas.microsoft.com/office/powerpoint/2010/main" val="1403118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E30F539-74D4-5519-A238-0E51F147EA52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8091942A-51D1-E002-5FAB-D42BC4C13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592D20DE-210D-1CE2-5EB8-D1E3330BC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94EEA477-F914-4C10-0498-3A7E0BC63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182" y="1133089"/>
            <a:ext cx="9633636" cy="54461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6A1694-A5E9-D069-CAED-898B99C921C8}"/>
              </a:ext>
            </a:extLst>
          </p:cNvPr>
          <p:cNvSpPr txBox="1"/>
          <p:nvPr/>
        </p:nvSpPr>
        <p:spPr>
          <a:xfrm>
            <a:off x="411480" y="431317"/>
            <a:ext cx="44422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Improve_1 : </a:t>
            </a:r>
            <a:r>
              <a:rPr lang="en-US" altLang="ko-KR" sz="32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OES_top_k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0942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950A993-5D8D-4818-6E4E-2E6D20D9B176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0D8F680B-2945-728C-D0FB-318F67AF5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09DEE345-EB81-994F-B6F7-4A9FEADC5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E96BC3D-7409-3345-7F73-C340403DA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734" y="1228500"/>
            <a:ext cx="8990532" cy="5259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3EBA84-FB2F-5AC3-1152-8AEEF2253075}"/>
              </a:ext>
            </a:extLst>
          </p:cNvPr>
          <p:cNvSpPr txBox="1"/>
          <p:nvPr/>
        </p:nvSpPr>
        <p:spPr>
          <a:xfrm>
            <a:off x="411480" y="431317"/>
            <a:ext cx="74286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Improve_2 : Auxiliary wafer-mean loss</a:t>
            </a:r>
          </a:p>
        </p:txBody>
      </p:sp>
    </p:spTree>
    <p:extLst>
      <p:ext uri="{BB962C8B-B14F-4D97-AF65-F5344CB8AC3E}">
        <p14:creationId xmlns:p14="http://schemas.microsoft.com/office/powerpoint/2010/main" val="2724400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58970B6-7F3B-C4E4-CF90-9B1EFC81386E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3" name="Picture 10">
              <a:extLst>
                <a:ext uri="{FF2B5EF4-FFF2-40B4-BE49-F238E27FC236}">
                  <a16:creationId xmlns:a16="http://schemas.microsoft.com/office/drawing/2014/main" id="{93D5BED8-C9E7-1374-EA59-DD5A410B9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5" name="Picture 11">
              <a:extLst>
                <a:ext uri="{FF2B5EF4-FFF2-40B4-BE49-F238E27FC236}">
                  <a16:creationId xmlns:a16="http://schemas.microsoft.com/office/drawing/2014/main" id="{7AE56459-306E-CAE8-A078-6D3F37A51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5A90A378-508A-D9BB-E71D-00F3952458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092" y="1118091"/>
            <a:ext cx="9318992" cy="53317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1F1719-136E-5E20-273E-C4601B73D347}"/>
              </a:ext>
            </a:extLst>
          </p:cNvPr>
          <p:cNvSpPr txBox="1"/>
          <p:nvPr/>
        </p:nvSpPr>
        <p:spPr>
          <a:xfrm>
            <a:off x="411480" y="431317"/>
            <a:ext cx="37545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Improve_3 : </a:t>
            </a:r>
            <a:r>
              <a:rPr lang="en-US" altLang="ko-KR" sz="32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Mixup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8383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954A15F-D12B-DEED-6D3C-D0EC44DE1A4E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A913FF9F-C79E-8B5F-CEE1-5D3A605F6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23E77F4E-BD8A-B5A9-2D09-A40D0E3DF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BE7A778-A7C6-4302-FDA3-C817205B89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954" y="1053372"/>
            <a:ext cx="9232092" cy="5396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EF3785-9D80-BEB7-2CE3-411C3211B775}"/>
              </a:ext>
            </a:extLst>
          </p:cNvPr>
          <p:cNvSpPr txBox="1"/>
          <p:nvPr/>
        </p:nvSpPr>
        <p:spPr>
          <a:xfrm>
            <a:off x="411480" y="431317"/>
            <a:ext cx="49407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Improve_4 : Weight EMA </a:t>
            </a:r>
          </a:p>
        </p:txBody>
      </p:sp>
    </p:spTree>
    <p:extLst>
      <p:ext uri="{BB962C8B-B14F-4D97-AF65-F5344CB8AC3E}">
        <p14:creationId xmlns:p14="http://schemas.microsoft.com/office/powerpoint/2010/main" val="824514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B4EC883-F827-C150-C1DA-8BBBD49FA8D4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A79C09C4-313B-B95E-263B-33150143C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AF7D60EB-1502-6B29-56E1-D1FB0B255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A0DC051-C2FE-820C-3EFD-9CAE60BBAA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399" y="508833"/>
            <a:ext cx="7270349" cy="6131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3DCEE3-6267-F7B3-9F8D-EB6CD705D238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Final Pipeline</a:t>
            </a:r>
          </a:p>
        </p:txBody>
      </p:sp>
    </p:spTree>
    <p:extLst>
      <p:ext uri="{BB962C8B-B14F-4D97-AF65-F5344CB8AC3E}">
        <p14:creationId xmlns:p14="http://schemas.microsoft.com/office/powerpoint/2010/main" val="2606224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3EE1D91C-2521-C1E7-AAD1-37051A2CAD86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A6FC7F68-7EE8-ACAF-C218-6495BDDCB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1E498883-81AD-D5E5-3E94-13CA0A285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30C08200-295D-F712-3644-E904561ED9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75" y="869794"/>
            <a:ext cx="10428250" cy="53723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C0F008-3F1A-5B8E-97BD-11A245283641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034889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CBF5D-DF6E-AC74-6883-C963B837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AF800C7-0CB4-44D1-5F6F-25BD687E7E3D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4" name="Picture 10">
              <a:extLst>
                <a:ext uri="{FF2B5EF4-FFF2-40B4-BE49-F238E27FC236}">
                  <a16:creationId xmlns:a16="http://schemas.microsoft.com/office/drawing/2014/main" id="{9DFDED98-2746-686B-63B4-87CFEE0B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51A8D17E-2E71-7E44-7163-E59AC43EE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5A8896FA-06BA-776E-FCF2-3CE31348B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31" y="1185360"/>
            <a:ext cx="9914137" cy="5141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9FFC0D-AAEE-55A7-FF6A-5FB12EB3B41B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884157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608EF-1117-D82F-4345-6903BF13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93DB94C-EC10-3AB4-2055-A84C8499ACD8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4" name="Picture 10">
              <a:extLst>
                <a:ext uri="{FF2B5EF4-FFF2-40B4-BE49-F238E27FC236}">
                  <a16:creationId xmlns:a16="http://schemas.microsoft.com/office/drawing/2014/main" id="{C11C8BBC-5FC2-D038-3759-400ADC7C0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86A4A750-4E6B-FEF9-5DFE-2CCF9CBA6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CA7CA52-11A5-8CEF-E118-6CC3E3127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375" y="927077"/>
            <a:ext cx="9667249" cy="5522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67DF9D-1B1A-83A8-95CE-5E875828537D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320735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23BB-3346-26B2-4557-CF104B88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C1A0A0C3-F6DB-CFC1-757F-FBE6B51D578A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79313AAB-773B-28A5-37F3-F115110C8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CA84AD6B-C38F-8303-DD4B-BE279C8C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829F1EB-0132-2A9D-5AA1-CE9B5A7760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19" y="1181055"/>
            <a:ext cx="10920761" cy="5012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849E2B-C46C-8A0D-C7EE-330393999257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266150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2AD3-88E5-2A0B-F444-11F070EF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5A569E8-9CF0-989D-40FA-F927C149EF5B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202DC4A9-1D97-D6A5-0080-CAD7C4901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CD63D47F-A394-90CC-4F18-79FB96C81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0439F42D-3E0F-11CE-A057-3C8E05B64F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28" y="1107452"/>
            <a:ext cx="10670237" cy="52152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1F9E0F-2828-4B5D-2193-E99156EFA8BF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799820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E27D-3C19-5394-6722-50514832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A039D6D-27C6-B144-E691-275A5E0F082D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4" name="Picture 10">
              <a:extLst>
                <a:ext uri="{FF2B5EF4-FFF2-40B4-BE49-F238E27FC236}">
                  <a16:creationId xmlns:a16="http://schemas.microsoft.com/office/drawing/2014/main" id="{8CC2AB1E-A81E-8159-D50F-9744C248D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A29FFC6F-F1B2-1E6D-737A-87D677DBF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D7EF2C9F-60FE-14FE-A367-625406FCA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50" y="1007277"/>
            <a:ext cx="10133499" cy="5353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F4603B-0331-50B6-D72E-58FF0C015470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637663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75C9-928A-FE5B-492A-3DAA4FB2C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7344ED13-ACA5-F2A4-6528-BC4FB6ACD380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4" name="Picture 10">
              <a:extLst>
                <a:ext uri="{FF2B5EF4-FFF2-40B4-BE49-F238E27FC236}">
                  <a16:creationId xmlns:a16="http://schemas.microsoft.com/office/drawing/2014/main" id="{E8208620-0BBD-3821-93D7-D7501DE99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5" name="Picture 11">
              <a:extLst>
                <a:ext uri="{FF2B5EF4-FFF2-40B4-BE49-F238E27FC236}">
                  <a16:creationId xmlns:a16="http://schemas.microsoft.com/office/drawing/2014/main" id="{EECA365E-A5A9-25E1-8D29-AA437E2EF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F4E93C80-7EF6-7F8B-D6C8-BFA6077EA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11" y="869794"/>
            <a:ext cx="10338178" cy="5454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03C88C-6AEE-1FD3-06F5-7D4AE94B6818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215604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590E9D1-03EC-18E5-42B6-381102DB27FE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3E607B87-2D19-63C9-597B-9DE5761AF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25C51024-11A3-5AB4-B33A-A6E4692FB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60E375C0-55D5-4FA3-8DD9-3BA9E8179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12" y="1126942"/>
            <a:ext cx="10077976" cy="52754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6A519C-FDE5-4FBC-1A00-3F823E7EC7D3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Limitation</a:t>
            </a:r>
          </a:p>
        </p:txBody>
      </p:sp>
    </p:spTree>
    <p:extLst>
      <p:ext uri="{BB962C8B-B14F-4D97-AF65-F5344CB8AC3E}">
        <p14:creationId xmlns:p14="http://schemas.microsoft.com/office/powerpoint/2010/main" val="54876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13431-ECAF-1F1E-437E-DDF7301E5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1D6A39A-2D41-D055-045A-352ACF2C0353}"/>
              </a:ext>
            </a:extLst>
          </p:cNvPr>
          <p:cNvSpPr txBox="1"/>
          <p:nvPr/>
        </p:nvSpPr>
        <p:spPr>
          <a:xfrm>
            <a:off x="514350" y="314637"/>
            <a:ext cx="73469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Limitation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71ABE9FA-00E8-0E0D-BCC3-E54465A999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55E8FE9-0773-9406-C2FE-9027497F56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AF4B21BE-082B-3ACB-94E2-C4137EEE1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29" y="3859005"/>
            <a:ext cx="5563554" cy="2454985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53DC8016-F3E6-23B7-67D6-B7C029590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116" y="3859005"/>
            <a:ext cx="5563554" cy="2454985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9A390151-3DFA-EC2F-DB42-5186555CDD12}"/>
              </a:ext>
            </a:extLst>
          </p:cNvPr>
          <p:cNvGrpSpPr/>
          <p:nvPr/>
        </p:nvGrpSpPr>
        <p:grpSpPr>
          <a:xfrm>
            <a:off x="420329" y="1116849"/>
            <a:ext cx="5563554" cy="2454985"/>
            <a:chOff x="420329" y="1116849"/>
            <a:chExt cx="5563554" cy="2454985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28B3FABE-6EF7-0F36-1E7E-A62296F93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0329" y="1116849"/>
              <a:ext cx="5563554" cy="24549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643D2AB-E807-D416-4664-3B956FE6EF39}"/>
                </a:ext>
              </a:extLst>
            </p:cNvPr>
            <p:cNvSpPr txBox="1"/>
            <p:nvPr/>
          </p:nvSpPr>
          <p:spPr>
            <a:xfrm>
              <a:off x="467340" y="1467178"/>
              <a:ext cx="5469533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800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1. </a:t>
              </a:r>
              <a:r>
                <a:rPr lang="ko-KR" altLang="en-US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 규모와 공정 조건 다양성의 한계</a:t>
              </a:r>
              <a:endPara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사용 가능한 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wafer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수와 공정 조건 범위가 제한되어 있어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다른 장비나 다른 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recipe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 대한 일반화 성능은 아직 검증되지 않음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</a:p>
            <a:p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실제 양산 환경에서는 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chamber drift, maintenance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전후 변화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sensor noise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등이 더 크게 나타날 수 있음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6172782-A85A-76BF-7E23-3D3192D31EDA}"/>
              </a:ext>
            </a:extLst>
          </p:cNvPr>
          <p:cNvGrpSpPr/>
          <p:nvPr/>
        </p:nvGrpSpPr>
        <p:grpSpPr>
          <a:xfrm>
            <a:off x="6208116" y="1116849"/>
            <a:ext cx="5563554" cy="2454985"/>
            <a:chOff x="6208116" y="1116849"/>
            <a:chExt cx="5563554" cy="24549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018C36-77A5-83CA-7620-7427DF0DD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8116" y="1116849"/>
              <a:ext cx="5563554" cy="245498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A9EB5F-D42C-5E2F-1CE8-BDF0B4E36624}"/>
                </a:ext>
              </a:extLst>
            </p:cNvPr>
            <p:cNvSpPr txBox="1"/>
            <p:nvPr/>
          </p:nvSpPr>
          <p:spPr>
            <a:xfrm>
              <a:off x="6208116" y="1744177"/>
              <a:ext cx="556355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800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2. </a:t>
              </a:r>
              <a:r>
                <a:rPr lang="ko-KR" altLang="en-US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모델 구조 탐색이 아직 불완전</a:t>
              </a:r>
              <a:endPara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Multimodal </a:t>
              </a:r>
              <a:r>
                <a:rPr lang="en-US" altLang="ko-KR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FiLM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+ Fourier </a:t>
              </a:r>
              <a:r>
                <a:rPr lang="en-US" altLang="ko-KR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xy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+ mean pooling 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구조가 현재 가장 좋았지만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sequence encoder, pooling 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방식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cycle representation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에 대한 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ablation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이 더 필요함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66CA6E-C47C-ED63-40ED-A607FAFA061A}"/>
              </a:ext>
            </a:extLst>
          </p:cNvPr>
          <p:cNvSpPr txBox="1"/>
          <p:nvPr/>
        </p:nvSpPr>
        <p:spPr>
          <a:xfrm>
            <a:off x="514349" y="4486333"/>
            <a:ext cx="5407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VM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실제 운영 관점 검증 부족</a:t>
            </a:r>
            <a:endParaRPr lang="en-US" altLang="ko-KR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실제 공정 적용을 위해서는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inference speed, wafer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별 </a:t>
            </a:r>
            <a:endParaRPr lang="en-US" altLang="ko-KR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실시간 예측 가능성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이상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wafer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탐지와의 연계 등이 추가로 검토되어야 함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16FEA2-CA1D-B96C-245A-0ECE2EB92B8F}"/>
              </a:ext>
            </a:extLst>
          </p:cNvPr>
          <p:cNvSpPr txBox="1"/>
          <p:nvPr/>
        </p:nvSpPr>
        <p:spPr>
          <a:xfrm>
            <a:off x="6208116" y="4209334"/>
            <a:ext cx="54403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해석 분석이 아직 최종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best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 전체로 확장되지 않음</a:t>
            </a:r>
            <a:endParaRPr lang="en-US" altLang="ko-KR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SHAP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및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gradient attribution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분석은 수행되었지만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최종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best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모델 기준으로 모든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fold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대해 일관성 있게 정리되지는 않음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  <a:p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어떤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OES wavelength, cycle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구간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process sensor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oxide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예측에 중요한지 더 체계적으로 보여줄 필요가 있음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7006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A2A1-3005-12A7-296B-845CBED88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B18C5618-BA6C-8D30-36A6-7BF7C89D8A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8A22E34-070F-6F12-6617-C4E3566CA7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7F4B3F-983D-36CF-F75C-2350366F7DD3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893D2-A303-E070-DF81-8C99F3C18911}"/>
              </a:ext>
            </a:extLst>
          </p:cNvPr>
          <p:cNvSpPr txBox="1"/>
          <p:nvPr/>
        </p:nvSpPr>
        <p:spPr>
          <a:xfrm>
            <a:off x="514350" y="1210483"/>
            <a:ext cx="11417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 결과뿐 아니라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특정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구간의 이상 신호를 추적하여 공정 </a:t>
            </a: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drift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나 </a:t>
            </a:r>
            <a:endParaRPr lang="en-US" altLang="ko-KR" sz="24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en-US" altLang="ko-KR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chamber conditioning </a:t>
            </a:r>
            <a:r>
              <a:rPr lang="ko-KR" altLang="en-US" sz="24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문제를 해석할 수 있음</a:t>
            </a:r>
            <a:endParaRPr lang="ko-KR" altLang="en-US" sz="24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3E4B9F6-2764-585F-D26D-43569969C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78"/>
          <a:stretch>
            <a:fillRect/>
          </a:stretch>
        </p:blipFill>
        <p:spPr>
          <a:xfrm>
            <a:off x="3402093" y="2041480"/>
            <a:ext cx="5387814" cy="445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46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5BEF-45FB-8718-46E3-0C64AB81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35ACD932-CEDD-3169-40D9-FB21D05396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F96CB4B-55F5-5EF7-D36E-6FD6293D8AD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24CA4E-5BB3-B5BE-27DE-6554AE6E996F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3A0230B-D3CD-0C55-E182-DDC03B0CF0D0}"/>
              </a:ext>
            </a:extLst>
          </p:cNvPr>
          <p:cNvGrpSpPr/>
          <p:nvPr/>
        </p:nvGrpSpPr>
        <p:grpSpPr>
          <a:xfrm>
            <a:off x="4178352" y="1995555"/>
            <a:ext cx="3835296" cy="1921442"/>
            <a:chOff x="1066220" y="3475353"/>
            <a:chExt cx="3835296" cy="1921442"/>
          </a:xfrm>
        </p:grpSpPr>
        <p:sp>
          <p:nvSpPr>
            <p:cNvPr id="18" name="Rounded Rectangle 4">
              <a:extLst>
                <a:ext uri="{FF2B5EF4-FFF2-40B4-BE49-F238E27FC236}">
                  <a16:creationId xmlns:a16="http://schemas.microsoft.com/office/drawing/2014/main" id="{F47F4C10-36A9-B5CA-1E67-954678AD547D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BC670B7-20F7-907E-F841-EA3FEB25CB8E}"/>
                </a:ext>
              </a:extLst>
            </p:cNvPr>
            <p:cNvGrpSpPr/>
            <p:nvPr/>
          </p:nvGrpSpPr>
          <p:grpSpPr>
            <a:xfrm>
              <a:off x="1129812" y="3812310"/>
              <a:ext cx="3708113" cy="1292976"/>
              <a:chOff x="1129812" y="3450849"/>
              <a:chExt cx="3708113" cy="1292976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7319D0-D80A-EC70-7074-64455464D396}"/>
                  </a:ext>
                </a:extLst>
              </p:cNvPr>
              <p:cNvSpPr txBox="1"/>
              <p:nvPr/>
            </p:nvSpPr>
            <p:spPr>
              <a:xfrm>
                <a:off x="1945764" y="3450849"/>
                <a:ext cx="2076209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BOSCH DRIE</a:t>
                </a:r>
                <a:endParaRPr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6ACCA8-73C9-B7A1-0794-3E745D4BF348}"/>
                  </a:ext>
                </a:extLst>
              </p:cNvPr>
              <p:cNvSpPr txBox="1"/>
              <p:nvPr/>
            </p:nvSpPr>
            <p:spPr>
              <a:xfrm>
                <a:off x="1129812" y="4035939"/>
                <a:ext cx="370811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SF6 </a:t>
                </a:r>
                <a:r>
                  <a:rPr 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Etch</a:t>
                </a:r>
                <a:r>
                  <a:rPr 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+ C4F8 </a:t>
                </a:r>
                <a:r>
                  <a:rPr 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Passivation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이</a:t>
                </a:r>
                <a:b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반복되는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23E1381-F899-2D86-C242-D2B9560913ED}"/>
              </a:ext>
            </a:extLst>
          </p:cNvPr>
          <p:cNvSpPr txBox="1"/>
          <p:nvPr/>
        </p:nvSpPr>
        <p:spPr>
          <a:xfrm>
            <a:off x="514350" y="1210483"/>
            <a:ext cx="700063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OES/Process signal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인코딩하고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간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drift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학습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lang="en-US" altLang="ko-KR" sz="2000" b="1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-&gt;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다른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공정으로의 확장 가능성</a:t>
            </a:r>
            <a:endParaRPr lang="en-US" altLang="ko-KR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defRPr sz="2500" b="1">
                <a:solidFill>
                  <a:srgbClr val="202A3F"/>
                </a:solidFill>
                <a:latin typeface="Malgun Gothic"/>
              </a:defRPr>
            </a:pPr>
            <a:endParaRPr lang="ko-KR" altLang="en-US" sz="2000" b="1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2EFC4C2-9A78-AC9A-449E-ECFFEC807A38}"/>
              </a:ext>
            </a:extLst>
          </p:cNvPr>
          <p:cNvGrpSpPr/>
          <p:nvPr/>
        </p:nvGrpSpPr>
        <p:grpSpPr>
          <a:xfrm>
            <a:off x="4178352" y="4422208"/>
            <a:ext cx="3835296" cy="1921442"/>
            <a:chOff x="1066220" y="3475353"/>
            <a:chExt cx="3835296" cy="1921442"/>
          </a:xfrm>
        </p:grpSpPr>
        <p:sp>
          <p:nvSpPr>
            <p:cNvPr id="66" name="Rounded Rectangle 4">
              <a:extLst>
                <a:ext uri="{FF2B5EF4-FFF2-40B4-BE49-F238E27FC236}">
                  <a16:creationId xmlns:a16="http://schemas.microsoft.com/office/drawing/2014/main" id="{B3909AEE-935A-EADD-50FF-4EC26DD55656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20D761F7-827C-8DB2-0330-5E040E84D793}"/>
                </a:ext>
              </a:extLst>
            </p:cNvPr>
            <p:cNvGrpSpPr/>
            <p:nvPr/>
          </p:nvGrpSpPr>
          <p:grpSpPr>
            <a:xfrm>
              <a:off x="1129812" y="3812310"/>
              <a:ext cx="3708113" cy="1292976"/>
              <a:chOff x="1129812" y="3450849"/>
              <a:chExt cx="3708113" cy="1292976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87908EF-97C9-9614-108B-D6336A3C3DA5}"/>
                  </a:ext>
                </a:extLst>
              </p:cNvPr>
              <p:cNvSpPr txBox="1"/>
              <p:nvPr/>
            </p:nvSpPr>
            <p:spPr>
              <a:xfrm>
                <a:off x="2386589" y="3450849"/>
                <a:ext cx="1194558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PEALD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C43F31C-69D8-00DE-C4BB-484713467C0B}"/>
                  </a:ext>
                </a:extLst>
              </p:cNvPr>
              <p:cNvSpPr txBox="1"/>
              <p:nvPr/>
            </p:nvSpPr>
            <p:spPr>
              <a:xfrm>
                <a:off x="1129812" y="4035939"/>
                <a:ext cx="370811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Gas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Plasma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처리가 </a:t>
                </a:r>
                <a:b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반복되며 박막을 쌓는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37433CD3-33AA-3376-448F-0E513C00DE05}"/>
              </a:ext>
            </a:extLst>
          </p:cNvPr>
          <p:cNvGrpSpPr/>
          <p:nvPr/>
        </p:nvGrpSpPr>
        <p:grpSpPr>
          <a:xfrm>
            <a:off x="121009" y="4422208"/>
            <a:ext cx="3835296" cy="1921442"/>
            <a:chOff x="1066220" y="3475353"/>
            <a:chExt cx="3835296" cy="1921442"/>
          </a:xfrm>
        </p:grpSpPr>
        <p:sp>
          <p:nvSpPr>
            <p:cNvPr id="71" name="Rounded Rectangle 4">
              <a:extLst>
                <a:ext uri="{FF2B5EF4-FFF2-40B4-BE49-F238E27FC236}">
                  <a16:creationId xmlns:a16="http://schemas.microsoft.com/office/drawing/2014/main" id="{CB74A364-847B-294F-85E7-47BE97A136D6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506C2188-6A61-F14F-ED0F-CEF1F7D75BEC}"/>
                </a:ext>
              </a:extLst>
            </p:cNvPr>
            <p:cNvGrpSpPr/>
            <p:nvPr/>
          </p:nvGrpSpPr>
          <p:grpSpPr>
            <a:xfrm>
              <a:off x="1129812" y="3812310"/>
              <a:ext cx="3708113" cy="1292976"/>
              <a:chOff x="1129812" y="3450849"/>
              <a:chExt cx="3708113" cy="1292976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F73664B-92EA-43F4-BC65-ADAA6DE2DDB6}"/>
                  </a:ext>
                </a:extLst>
              </p:cNvPr>
              <p:cNvSpPr txBox="1"/>
              <p:nvPr/>
            </p:nvSpPr>
            <p:spPr>
              <a:xfrm>
                <a:off x="2581354" y="3450849"/>
                <a:ext cx="805029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ALD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06EE005-C697-A59C-77EB-DF055BE6CA26}"/>
                  </a:ext>
                </a:extLst>
              </p:cNvPr>
              <p:cNvSpPr txBox="1"/>
              <p:nvPr/>
            </p:nvSpPr>
            <p:spPr>
              <a:xfrm>
                <a:off x="1129812" y="4035939"/>
                <a:ext cx="370811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Gas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공급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Purge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반복되며 </a:t>
                </a:r>
                <a:b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</a:b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박막을 쌓는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DF02228-B1AD-AD68-6739-58CF77D9E9FF}"/>
              </a:ext>
            </a:extLst>
          </p:cNvPr>
          <p:cNvGrpSpPr/>
          <p:nvPr/>
        </p:nvGrpSpPr>
        <p:grpSpPr>
          <a:xfrm>
            <a:off x="8235695" y="4422208"/>
            <a:ext cx="3835297" cy="1921442"/>
            <a:chOff x="1066220" y="3475353"/>
            <a:chExt cx="3835297" cy="1921442"/>
          </a:xfrm>
        </p:grpSpPr>
        <p:sp>
          <p:nvSpPr>
            <p:cNvPr id="76" name="Rounded Rectangle 4">
              <a:extLst>
                <a:ext uri="{FF2B5EF4-FFF2-40B4-BE49-F238E27FC236}">
                  <a16:creationId xmlns:a16="http://schemas.microsoft.com/office/drawing/2014/main" id="{3AAB1D13-7F26-B37F-9720-7967F4908D78}"/>
                </a:ext>
              </a:extLst>
            </p:cNvPr>
            <p:cNvSpPr/>
            <p:nvPr/>
          </p:nvSpPr>
          <p:spPr>
            <a:xfrm>
              <a:off x="1066220" y="3475353"/>
              <a:ext cx="3835296" cy="1921442"/>
            </a:xfrm>
            <a:prstGeom prst="roundRect">
              <a:avLst/>
            </a:prstGeom>
            <a:solidFill>
              <a:srgbClr val="F8FAFD"/>
            </a:solidFill>
            <a:ln w="15240">
              <a:solidFill>
                <a:srgbClr val="ACC6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A347FC96-12BC-7ABB-D79A-80737A7E3F45}"/>
                </a:ext>
              </a:extLst>
            </p:cNvPr>
            <p:cNvGrpSpPr/>
            <p:nvPr/>
          </p:nvGrpSpPr>
          <p:grpSpPr>
            <a:xfrm>
              <a:off x="1066221" y="3812310"/>
              <a:ext cx="3835296" cy="1292976"/>
              <a:chOff x="1066221" y="3450849"/>
              <a:chExt cx="3835296" cy="1292976"/>
            </a:xfrm>
          </p:grpSpPr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014885-0DFD-72DF-B888-131E56CDE43E}"/>
                  </a:ext>
                </a:extLst>
              </p:cNvPr>
              <p:cNvSpPr txBox="1"/>
              <p:nvPr/>
            </p:nvSpPr>
            <p:spPr>
              <a:xfrm>
                <a:off x="2599789" y="3450849"/>
                <a:ext cx="768159" cy="4770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500" b="1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en-US" altLang="ko-KR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ALE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858CD7E-0408-E3C6-AFC5-8136144DB49F}"/>
                  </a:ext>
                </a:extLst>
              </p:cNvPr>
              <p:cNvSpPr txBox="1"/>
              <p:nvPr/>
            </p:nvSpPr>
            <p:spPr>
              <a:xfrm>
                <a:off x="1066221" y="4035939"/>
                <a:ext cx="38352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800"/>
                  </a:spcAft>
                  <a:defRPr sz="1600">
                    <a:solidFill>
                      <a:srgbClr val="202A3F"/>
                    </a:solidFill>
                    <a:latin typeface="Malgun Gothic"/>
                  </a:defRPr>
                </a:pP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표면 처리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</a:t>
                </a:r>
                <a:r>
                  <a:rPr lang="en-US" altLang="ko-KR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+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얇은 층 제거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가 반복되며 </a:t>
                </a:r>
                <a:r>
                  <a:rPr lang="ko-KR" altLang="en-US" sz="2000" dirty="0" err="1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원자층</a:t>
                </a:r>
                <a:r>
                  <a:rPr lang="ko-KR" altLang="en-US" sz="2000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단위로 깎는 </a:t>
                </a:r>
                <a:r>
                  <a:rPr lang="en-US" altLang="ko-KR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cycle </a:t>
                </a:r>
                <a:r>
                  <a:rPr lang="ko-KR" altLang="en-US" sz="2000" b="1" dirty="0"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공정</a:t>
                </a:r>
                <a:endParaRPr lang="en-US" altLang="ko-KR" sz="2000" b="1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</p:grpSp>
      </p:grp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2B84462-3F49-CE0C-5FCD-B4B271BF9878}"/>
              </a:ext>
            </a:extLst>
          </p:cNvPr>
          <p:cNvCxnSpPr>
            <a:cxnSpLocks/>
          </p:cNvCxnSpPr>
          <p:nvPr/>
        </p:nvCxnSpPr>
        <p:spPr>
          <a:xfrm>
            <a:off x="6096000" y="3975989"/>
            <a:ext cx="0" cy="397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262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3289-818A-FB45-C1D5-8AC32108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6D0ECFE9-58A8-0699-9F2C-6202DD1C1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F732AE54-5F66-248D-7E05-C952721B81D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995517-015B-5884-3C45-9C1BFD5B1534}"/>
              </a:ext>
            </a:extLst>
          </p:cNvPr>
          <p:cNvSpPr txBox="1"/>
          <p:nvPr/>
        </p:nvSpPr>
        <p:spPr>
          <a:xfrm>
            <a:off x="885227" y="1444038"/>
            <a:ext cx="104215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[1] M. A. Sayyed, T. Seifert, S. Zieger, S. Schwarzenberg, A. Deshmukh, M. Haase, and J. Langer, "A multi-model dataset for BOSCH plasma-etching: Optical emission spectra, process parameters, and wafer measurements for data-driven plasma modeling," </a:t>
            </a:r>
            <a:r>
              <a:rPr lang="en-US" altLang="ko-KR" dirty="0" err="1"/>
              <a:t>Zenodo</a:t>
            </a:r>
            <a:r>
              <a:rPr lang="en-US" altLang="ko-KR" dirty="0"/>
              <a:t>, 2025. [Online]. Available: </a:t>
            </a:r>
            <a:r>
              <a:rPr lang="en-US" altLang="ko-KR" dirty="0">
                <a:hlinkClick r:id="rId5"/>
              </a:rPr>
              <a:t>https://doi.org/10.5281/zenodo.17122442</a:t>
            </a:r>
            <a:endParaRPr lang="en-US" altLang="ko-KR" dirty="0"/>
          </a:p>
          <a:p>
            <a:r>
              <a:rPr lang="en-US" altLang="ko-KR" dirty="0"/>
              <a:t>[2] S. Lynn, J. Ringwood, E. </a:t>
            </a:r>
            <a:r>
              <a:rPr lang="en-US" altLang="ko-KR" dirty="0" err="1"/>
              <a:t>Ragnoli</a:t>
            </a:r>
            <a:r>
              <a:rPr lang="en-US" altLang="ko-KR" dirty="0"/>
              <a:t>, S. McLoone, and N. </a:t>
            </a:r>
            <a:r>
              <a:rPr lang="en-US" altLang="ko-KR" dirty="0" err="1"/>
              <a:t>MacGearailt</a:t>
            </a:r>
            <a:r>
              <a:rPr lang="en-US" altLang="ko-KR" dirty="0"/>
              <a:t>, "Virtual metrology for plasma etch using tool variables," in </a:t>
            </a:r>
            <a:r>
              <a:rPr lang="en-US" altLang="ko-KR" i="1" dirty="0"/>
              <a:t>Proc. IEEE/SEMI Adv. </a:t>
            </a:r>
            <a:r>
              <a:rPr lang="en-US" altLang="ko-KR" i="1" dirty="0" err="1"/>
              <a:t>Semicond</a:t>
            </a:r>
            <a:r>
              <a:rPr lang="en-US" altLang="ko-KR" i="1" dirty="0"/>
              <a:t>. Manuf. Conf. (ASMC)</a:t>
            </a:r>
            <a:r>
              <a:rPr lang="en-US" altLang="ko-KR" dirty="0"/>
              <a:t>, 2009.</a:t>
            </a:r>
          </a:p>
          <a:p>
            <a:r>
              <a:rPr lang="en-US" altLang="ko-KR" dirty="0"/>
              <a:t>[3] S. A. Lynn, J. Ringwood, and N. </a:t>
            </a:r>
            <a:r>
              <a:rPr lang="en-US" altLang="ko-KR" dirty="0" err="1"/>
              <a:t>MacGearailt</a:t>
            </a:r>
            <a:r>
              <a:rPr lang="en-US" altLang="ko-KR" dirty="0"/>
              <a:t>, "Global and local virtual metrology models for a plasma etch process," </a:t>
            </a:r>
            <a:r>
              <a:rPr lang="en-US" altLang="ko-KR" i="1" dirty="0"/>
              <a:t>IEEE Trans. </a:t>
            </a:r>
            <a:r>
              <a:rPr lang="en-US" altLang="ko-KR" i="1" dirty="0" err="1"/>
              <a:t>Semicond</a:t>
            </a:r>
            <a:r>
              <a:rPr lang="en-US" altLang="ko-KR" i="1" dirty="0"/>
              <a:t>. Manuf.</a:t>
            </a:r>
            <a:r>
              <a:rPr lang="en-US" altLang="ko-KR" dirty="0"/>
              <a:t>, vol. 25, no. 1, pp. 94–103, 2012.</a:t>
            </a:r>
          </a:p>
          <a:p>
            <a:r>
              <a:rPr lang="en-US" altLang="ko-KR" dirty="0"/>
              <a:t>[4] G. A. </a:t>
            </a:r>
            <a:r>
              <a:rPr lang="en-US" altLang="ko-KR" dirty="0" err="1"/>
              <a:t>Susto</a:t>
            </a:r>
            <a:r>
              <a:rPr lang="en-US" altLang="ko-KR" dirty="0"/>
              <a:t>, S. </a:t>
            </a:r>
            <a:r>
              <a:rPr lang="en-US" altLang="ko-KR" dirty="0" err="1"/>
              <a:t>Pampuri</a:t>
            </a:r>
            <a:r>
              <a:rPr lang="en-US" altLang="ko-KR" dirty="0"/>
              <a:t>, A. Schirru, A. </a:t>
            </a:r>
            <a:r>
              <a:rPr lang="en-US" altLang="ko-KR" dirty="0" err="1"/>
              <a:t>Beghi</a:t>
            </a:r>
            <a:r>
              <a:rPr lang="en-US" altLang="ko-KR" dirty="0"/>
              <a:t>, and G. De Nicolao, "Multi-step virtual metrology for semiconductor manufacturing: A multilevel and regularization methods-based approach," </a:t>
            </a:r>
            <a:r>
              <a:rPr lang="en-US" altLang="ko-KR" i="1" dirty="0" err="1"/>
              <a:t>Comput</a:t>
            </a:r>
            <a:r>
              <a:rPr lang="en-US" altLang="ko-KR" i="1" dirty="0"/>
              <a:t>. Oper. Res.</a:t>
            </a:r>
            <a:r>
              <a:rPr lang="en-US" altLang="ko-KR" dirty="0"/>
              <a:t>, vol. 53, pp. 328–337, 2015.</a:t>
            </a:r>
          </a:p>
          <a:p>
            <a:r>
              <a:rPr lang="en-US" altLang="ko-KR" dirty="0"/>
              <a:t>[5] S. Hochreiter and J. </a:t>
            </a:r>
            <a:r>
              <a:rPr lang="en-US" altLang="ko-KR" dirty="0" err="1"/>
              <a:t>Schmidhuber</a:t>
            </a:r>
            <a:r>
              <a:rPr lang="en-US" altLang="ko-KR" dirty="0"/>
              <a:t>, "Long short-term memory," </a:t>
            </a:r>
            <a:r>
              <a:rPr lang="en-US" altLang="ko-KR" i="1" dirty="0"/>
              <a:t>Neural </a:t>
            </a:r>
            <a:r>
              <a:rPr lang="en-US" altLang="ko-KR" i="1" dirty="0" err="1"/>
              <a:t>Comput</a:t>
            </a:r>
            <a:r>
              <a:rPr lang="en-US" altLang="ko-KR" i="1" dirty="0"/>
              <a:t>.</a:t>
            </a:r>
            <a:r>
              <a:rPr lang="en-US" altLang="ko-KR" dirty="0"/>
              <a:t>, vol. 9, no. 8, pp. 1735–1780, 1997.</a:t>
            </a:r>
          </a:p>
          <a:p>
            <a:r>
              <a:rPr lang="en-US" altLang="ko-KR" dirty="0"/>
              <a:t>[6] M. Schuster and K. K. Paliwal, "Bidirectional recurrent neural networks," </a:t>
            </a:r>
            <a:r>
              <a:rPr lang="en-US" altLang="ko-KR" i="1" dirty="0"/>
              <a:t>IEEE Trans. Signal Process.</a:t>
            </a:r>
            <a:r>
              <a:rPr lang="en-US" altLang="ko-KR" dirty="0"/>
              <a:t>, vol. 45, no. 11, pp. 2673–2681, 1997.</a:t>
            </a:r>
          </a:p>
          <a:p>
            <a:r>
              <a:rPr lang="en-US" altLang="ko-KR" dirty="0"/>
              <a:t>[7] S. Ioffe and C. Szegedy, "Batch normalization: Accelerating deep network training by reducing internal covariate shift," in </a:t>
            </a:r>
            <a:r>
              <a:rPr lang="en-US" altLang="ko-KR" i="1" dirty="0"/>
              <a:t>Proc. 32nd Int. Conf. Mach. Learn. (ICML)</a:t>
            </a:r>
            <a:r>
              <a:rPr lang="en-US" altLang="ko-KR" dirty="0"/>
              <a:t>, vol. 37, 2015, pp. 448–456.</a:t>
            </a:r>
          </a:p>
          <a:p>
            <a:r>
              <a:rPr lang="en-US" altLang="ko-KR" dirty="0"/>
              <a:t>[8] D. Hendrycks and K. Gimpel, "Gaussian error linear units (GELUs)," </a:t>
            </a:r>
            <a:r>
              <a:rPr lang="en-US" altLang="ko-KR" i="1" dirty="0"/>
              <a:t>arXiv:1606.08415</a:t>
            </a:r>
            <a:r>
              <a:rPr lang="en-US" altLang="ko-KR" dirty="0"/>
              <a:t>, 2016.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86FEE54-56EE-59A5-29DD-47E331DB6EF0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526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F182-0493-3F0A-FFF4-702900EC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91E39123-EEC7-8FCA-5EA0-EF09CC80EB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E5D2ECD-CEA1-0E90-7134-383667158A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77606F-EE07-04BC-A039-0098FC172C49}"/>
              </a:ext>
            </a:extLst>
          </p:cNvPr>
          <p:cNvSpPr txBox="1"/>
          <p:nvPr/>
        </p:nvSpPr>
        <p:spPr>
          <a:xfrm>
            <a:off x="885227" y="1683749"/>
            <a:ext cx="104215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[9] E. Perez, F. Strub, H. de Vries, V. Dumoulin, and A. Courville, "</a:t>
            </a:r>
            <a:r>
              <a:rPr lang="en-US" altLang="ko-KR" dirty="0" err="1"/>
              <a:t>FiLM</a:t>
            </a:r>
            <a:r>
              <a:rPr lang="en-US" altLang="ko-KR" dirty="0"/>
              <a:t>: Visual reasoning with a general conditioning layer," in </a:t>
            </a:r>
            <a:r>
              <a:rPr lang="en-US" altLang="ko-KR" i="1" dirty="0"/>
              <a:t>Proc. 32nd AAAI Conf. </a:t>
            </a:r>
            <a:r>
              <a:rPr lang="en-US" altLang="ko-KR" i="1" dirty="0" err="1"/>
              <a:t>Artif</a:t>
            </a:r>
            <a:r>
              <a:rPr lang="en-US" altLang="ko-KR" i="1" dirty="0"/>
              <a:t>. Intell. (AAAI)</a:t>
            </a:r>
            <a:r>
              <a:rPr lang="en-US" altLang="ko-KR" dirty="0"/>
              <a:t>, 2018.</a:t>
            </a:r>
          </a:p>
          <a:p>
            <a:r>
              <a:rPr lang="en-US" altLang="ko-KR" dirty="0"/>
              <a:t>[10] M. </a:t>
            </a:r>
            <a:r>
              <a:rPr lang="en-US" altLang="ko-KR" dirty="0" err="1"/>
              <a:t>Tancik</a:t>
            </a:r>
            <a:r>
              <a:rPr lang="en-US" altLang="ko-KR" dirty="0"/>
              <a:t>, P. P. Srinivasan, B. Mildenhall, S. </a:t>
            </a:r>
            <a:r>
              <a:rPr lang="en-US" altLang="ko-KR" dirty="0" err="1"/>
              <a:t>Fridovich</a:t>
            </a:r>
            <a:r>
              <a:rPr lang="en-US" altLang="ko-KR" dirty="0"/>
              <a:t>-Keil, N. Raghavan, U. Singhal, R. Ramamoorthi, J. T. Barron, and R. Ng, "Fourier features let networks learn high frequency functions in low dimensional domains," in </a:t>
            </a:r>
            <a:r>
              <a:rPr lang="en-US" altLang="ko-KR" i="1" dirty="0"/>
              <a:t>Adv. Neural Inf. Process. Syst. (</a:t>
            </a:r>
            <a:r>
              <a:rPr lang="en-US" altLang="ko-KR" i="1" dirty="0" err="1"/>
              <a:t>NeurIPS</a:t>
            </a:r>
            <a:r>
              <a:rPr lang="en-US" altLang="ko-KR" i="1" dirty="0"/>
              <a:t>)</a:t>
            </a:r>
            <a:r>
              <a:rPr lang="en-US" altLang="ko-KR" dirty="0"/>
              <a:t>, vol. 33, 2020.</a:t>
            </a:r>
          </a:p>
          <a:p>
            <a:r>
              <a:rPr lang="en-US" altLang="ko-KR" dirty="0"/>
              <a:t>[11] R. Caruana, "Multitask learning," </a:t>
            </a:r>
            <a:r>
              <a:rPr lang="en-US" altLang="ko-KR" i="1" dirty="0"/>
              <a:t>Mach. Learn.</a:t>
            </a:r>
            <a:r>
              <a:rPr lang="en-US" altLang="ko-KR" dirty="0"/>
              <a:t>, vol. 28, no. 1, pp. 41–75, 1997.</a:t>
            </a:r>
          </a:p>
          <a:p>
            <a:r>
              <a:rPr lang="en-US" altLang="ko-KR" dirty="0"/>
              <a:t>[12] B. T. Polyak and A. B. </a:t>
            </a:r>
            <a:r>
              <a:rPr lang="en-US" altLang="ko-KR" dirty="0" err="1"/>
              <a:t>Juditsky</a:t>
            </a:r>
            <a:r>
              <a:rPr lang="en-US" altLang="ko-KR" dirty="0"/>
              <a:t>, "Acceleration of stochastic approximation by averaging," </a:t>
            </a:r>
            <a:r>
              <a:rPr lang="en-US" altLang="ko-KR" i="1" dirty="0"/>
              <a:t>SIAM J. Control </a:t>
            </a:r>
            <a:r>
              <a:rPr lang="en-US" altLang="ko-KR" i="1" dirty="0" err="1"/>
              <a:t>Optim</a:t>
            </a:r>
            <a:r>
              <a:rPr lang="en-US" altLang="ko-KR" i="1" dirty="0"/>
              <a:t>.</a:t>
            </a:r>
            <a:r>
              <a:rPr lang="en-US" altLang="ko-KR" dirty="0"/>
              <a:t>, vol. 30, no. 4, pp. 838–855, 1992.</a:t>
            </a:r>
          </a:p>
          <a:p>
            <a:r>
              <a:rPr lang="en-US" altLang="ko-KR" dirty="0"/>
              <a:t>[13] N. Srivastava, G. Hinton, A. </a:t>
            </a:r>
            <a:r>
              <a:rPr lang="en-US" altLang="ko-KR" dirty="0" err="1"/>
              <a:t>Krizhevsky</a:t>
            </a:r>
            <a:r>
              <a:rPr lang="en-US" altLang="ko-KR" dirty="0"/>
              <a:t>, I. </a:t>
            </a:r>
            <a:r>
              <a:rPr lang="en-US" altLang="ko-KR" dirty="0" err="1"/>
              <a:t>Sutskever</a:t>
            </a:r>
            <a:r>
              <a:rPr lang="en-US" altLang="ko-KR" dirty="0"/>
              <a:t>, and R. </a:t>
            </a:r>
            <a:r>
              <a:rPr lang="en-US" altLang="ko-KR" dirty="0" err="1"/>
              <a:t>Salakhutdinov</a:t>
            </a:r>
            <a:r>
              <a:rPr lang="en-US" altLang="ko-KR" dirty="0"/>
              <a:t>, "Dropout: A simple way to prevent neural networks from overfitting," </a:t>
            </a:r>
            <a:r>
              <a:rPr lang="en-US" altLang="ko-KR" i="1" dirty="0"/>
              <a:t>J. Mach. Learn. Res.</a:t>
            </a:r>
            <a:r>
              <a:rPr lang="en-US" altLang="ko-KR" dirty="0"/>
              <a:t>, vol. 15, no. 1, pp. 1929–1958, 2014.</a:t>
            </a:r>
          </a:p>
          <a:p>
            <a:r>
              <a:rPr lang="en-US" altLang="ko-KR" dirty="0"/>
              <a:t>[14] I. Loshchilov and F. Hutter, "SGDR: Stochastic gradient descent with warm restarts," in </a:t>
            </a:r>
            <a:r>
              <a:rPr lang="en-US" altLang="ko-KR" i="1" dirty="0"/>
              <a:t>Proc. Int. Conf. Learn. Represent. (ICLR)</a:t>
            </a:r>
            <a:r>
              <a:rPr lang="en-US" altLang="ko-KR" dirty="0"/>
              <a:t>, 2017.</a:t>
            </a:r>
          </a:p>
          <a:p>
            <a:r>
              <a:rPr lang="en-US" altLang="ko-KR" dirty="0"/>
              <a:t>[15] H. Zhang, M. Cisse, Y. N. Dauphin, and D. Lopez-Paz, "</a:t>
            </a:r>
            <a:r>
              <a:rPr lang="en-US" altLang="ko-KR" dirty="0" err="1"/>
              <a:t>mixup</a:t>
            </a:r>
            <a:r>
              <a:rPr lang="en-US" altLang="ko-KR" dirty="0"/>
              <a:t>: Beyond empirical risk minimization," in </a:t>
            </a:r>
            <a:r>
              <a:rPr lang="en-US" altLang="ko-KR" i="1" dirty="0"/>
              <a:t>Proc. Int. Conf. Learn. Represent. (ICLR)</a:t>
            </a:r>
            <a:r>
              <a:rPr lang="en-US" altLang="ko-KR" dirty="0"/>
              <a:t>, 2018.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3482620-C769-E021-BA69-2CBB57105C28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490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E3C1-8F99-A26D-48F8-19659DCE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D4B68E7B-F9DC-E61E-A6E8-DAB0C91317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16456F25-C0D9-FFA3-4C66-EA4C72E6E1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D59CDE-F2AF-FA82-E123-4A782753DB22}"/>
              </a:ext>
            </a:extLst>
          </p:cNvPr>
          <p:cNvSpPr txBox="1"/>
          <p:nvPr/>
        </p:nvSpPr>
        <p:spPr>
          <a:xfrm>
            <a:off x="751412" y="1268251"/>
            <a:ext cx="104215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[16] I. Loshchilov and F. Hutter, "Decoupled weight decay regularization," in </a:t>
            </a:r>
            <a:r>
              <a:rPr lang="en-US" altLang="ko-KR" i="1" dirty="0"/>
              <a:t>Proc. Int. Conf. Learn. Represent. (ICLR)</a:t>
            </a:r>
            <a:r>
              <a:rPr lang="en-US" altLang="ko-KR" dirty="0"/>
              <a:t>, 2019.</a:t>
            </a:r>
          </a:p>
          <a:p>
            <a:r>
              <a:rPr lang="en-US" altLang="ko-KR" dirty="0"/>
              <a:t>[17] T. Chen and C. </a:t>
            </a:r>
            <a:r>
              <a:rPr lang="en-US" altLang="ko-KR" dirty="0" err="1"/>
              <a:t>Guestrin</a:t>
            </a:r>
            <a:r>
              <a:rPr lang="en-US" altLang="ko-KR" dirty="0"/>
              <a:t>, "</a:t>
            </a:r>
            <a:r>
              <a:rPr lang="en-US" altLang="ko-KR" dirty="0" err="1"/>
              <a:t>XGBoost</a:t>
            </a:r>
            <a:r>
              <a:rPr lang="en-US" altLang="ko-KR" dirty="0"/>
              <a:t>: A scalable tree boosting system," in </a:t>
            </a:r>
            <a:r>
              <a:rPr lang="en-US" altLang="ko-KR" i="1" dirty="0"/>
              <a:t>Proc. 22nd ACM SIGKDD Int. Conf. </a:t>
            </a:r>
            <a:r>
              <a:rPr lang="en-US" altLang="ko-KR" i="1" dirty="0" err="1"/>
              <a:t>Knowl</a:t>
            </a:r>
            <a:r>
              <a:rPr lang="en-US" altLang="ko-KR" i="1" dirty="0"/>
              <a:t>. </a:t>
            </a:r>
            <a:r>
              <a:rPr lang="en-US" altLang="ko-KR" i="1" dirty="0" err="1"/>
              <a:t>Discov</a:t>
            </a:r>
            <a:r>
              <a:rPr lang="en-US" altLang="ko-KR" i="1" dirty="0"/>
              <a:t>. Data Min. (KDD)</a:t>
            </a:r>
            <a:r>
              <a:rPr lang="en-US" altLang="ko-KR" dirty="0"/>
              <a:t>, 2016, pp. 785–794.</a:t>
            </a:r>
          </a:p>
          <a:p>
            <a:r>
              <a:rPr lang="en-US" altLang="ko-KR" dirty="0"/>
              <a:t>[18] S. M. Lundberg and S.-I. Lee, "A unified approach to interpreting model predictions," in </a:t>
            </a:r>
            <a:r>
              <a:rPr lang="en-US" altLang="ko-KR" i="1" dirty="0"/>
              <a:t>Adv. Neural Inf. Process. Syst. (</a:t>
            </a:r>
            <a:r>
              <a:rPr lang="en-US" altLang="ko-KR" i="1" dirty="0" err="1"/>
              <a:t>NeurIPS</a:t>
            </a:r>
            <a:r>
              <a:rPr lang="en-US" altLang="ko-KR" i="1" dirty="0"/>
              <a:t>)</a:t>
            </a:r>
            <a:r>
              <a:rPr lang="en-US" altLang="ko-KR" dirty="0"/>
              <a:t>, vol. 30, 2017.</a:t>
            </a:r>
          </a:p>
          <a:p>
            <a:r>
              <a:rPr lang="en-US" altLang="ko-KR" dirty="0"/>
              <a:t>[19] L. van der </a:t>
            </a:r>
            <a:r>
              <a:rPr lang="en-US" altLang="ko-KR" dirty="0" err="1"/>
              <a:t>Maaten</a:t>
            </a:r>
            <a:r>
              <a:rPr lang="en-US" altLang="ko-KR" dirty="0"/>
              <a:t> and G. Hinton, "Visualizing data using t-SNE," </a:t>
            </a:r>
            <a:r>
              <a:rPr lang="en-US" altLang="ko-KR" i="1" dirty="0"/>
              <a:t>J. Mach. Learn. Res.</a:t>
            </a:r>
            <a:r>
              <a:rPr lang="en-US" altLang="ko-KR" dirty="0"/>
              <a:t>, vol. 9, pp. 2579–2605, 2008.</a:t>
            </a:r>
          </a:p>
          <a:p>
            <a:r>
              <a:rPr lang="en-US" altLang="ko-KR" dirty="0"/>
              <a:t>[20] L. McInnes, J. Healy, and J. Melville, "UMAP: Uniform manifold approximation and projection for dimension reduction," </a:t>
            </a:r>
            <a:r>
              <a:rPr lang="en-US" altLang="ko-KR" i="1" dirty="0"/>
              <a:t>arXiv:1802.03426</a:t>
            </a:r>
            <a:r>
              <a:rPr lang="en-US" altLang="ko-KR" dirty="0"/>
              <a:t>, 2018.</a:t>
            </a:r>
          </a:p>
          <a:p>
            <a:r>
              <a:rPr lang="en-US" altLang="ko-KR" dirty="0"/>
              <a:t>[21] F. Pedregosa, G. </a:t>
            </a:r>
            <a:r>
              <a:rPr lang="en-US" altLang="ko-KR" dirty="0" err="1"/>
              <a:t>Varoquaux</a:t>
            </a:r>
            <a:r>
              <a:rPr lang="en-US" altLang="ko-KR" dirty="0"/>
              <a:t>, A. </a:t>
            </a:r>
            <a:r>
              <a:rPr lang="en-US" altLang="ko-KR" dirty="0" err="1"/>
              <a:t>Gramfort</a:t>
            </a:r>
            <a:r>
              <a:rPr lang="en-US" altLang="ko-KR" dirty="0"/>
              <a:t>, V. Michel, B. Thirion, O. Grisel, et al., "Scikit-learn: Machine learning in Python," </a:t>
            </a:r>
            <a:r>
              <a:rPr lang="en-US" altLang="ko-KR" i="1" dirty="0"/>
              <a:t>J. Mach. Learn. Res.</a:t>
            </a:r>
            <a:r>
              <a:rPr lang="en-US" altLang="ko-KR" dirty="0"/>
              <a:t>, vol. 12, pp. 2825–2830, 2011.</a:t>
            </a:r>
          </a:p>
          <a:p>
            <a:r>
              <a:rPr lang="en-US" altLang="ko-KR" dirty="0"/>
              <a:t>[22] A. </a:t>
            </a:r>
            <a:r>
              <a:rPr lang="en-US" altLang="ko-KR" dirty="0" err="1"/>
              <a:t>Paszke</a:t>
            </a:r>
            <a:r>
              <a:rPr lang="en-US" altLang="ko-KR" dirty="0"/>
              <a:t>, S. Gross, F. Massa, A. Lerer, J. Bradbury, G. Chanan, et al., "</a:t>
            </a:r>
            <a:r>
              <a:rPr lang="en-US" altLang="ko-KR" dirty="0" err="1"/>
              <a:t>PyTorch</a:t>
            </a:r>
            <a:r>
              <a:rPr lang="en-US" altLang="ko-KR" dirty="0"/>
              <a:t>: An imperative style, high-performance deep learning library," in </a:t>
            </a:r>
            <a:r>
              <a:rPr lang="en-US" altLang="ko-KR" i="1" dirty="0"/>
              <a:t>Adv. Neural Inf. Process. Syst. (</a:t>
            </a:r>
            <a:r>
              <a:rPr lang="en-US" altLang="ko-KR" i="1" dirty="0" err="1"/>
              <a:t>NeurIPS</a:t>
            </a:r>
            <a:r>
              <a:rPr lang="en-US" altLang="ko-KR" i="1" dirty="0"/>
              <a:t>)</a:t>
            </a:r>
            <a:r>
              <a:rPr lang="en-US" altLang="ko-KR" dirty="0"/>
              <a:t>, vol. 32, 2019.</a:t>
            </a:r>
          </a:p>
          <a:p>
            <a:r>
              <a:rPr lang="en-US" altLang="ko-KR" dirty="0"/>
              <a:t>[23] T. Akiba, S. Sano, T. Yanase, T. Ohta, and M. Koyama, "</a:t>
            </a:r>
            <a:r>
              <a:rPr lang="en-US" altLang="ko-KR" dirty="0" err="1"/>
              <a:t>Optuna</a:t>
            </a:r>
            <a:r>
              <a:rPr lang="en-US" altLang="ko-KR" dirty="0"/>
              <a:t>: A next-generation hyperparameter optimization framework," in </a:t>
            </a:r>
            <a:r>
              <a:rPr lang="en-US" altLang="ko-KR" i="1" dirty="0"/>
              <a:t>Proc. 25th ACM SIGKDD Int. Conf. </a:t>
            </a:r>
            <a:r>
              <a:rPr lang="en-US" altLang="ko-KR" i="1" dirty="0" err="1"/>
              <a:t>Knowl</a:t>
            </a:r>
            <a:r>
              <a:rPr lang="en-US" altLang="ko-KR" i="1" dirty="0"/>
              <a:t>. </a:t>
            </a:r>
            <a:r>
              <a:rPr lang="en-US" altLang="ko-KR" i="1" dirty="0" err="1"/>
              <a:t>Discov</a:t>
            </a:r>
            <a:r>
              <a:rPr lang="en-US" altLang="ko-KR" i="1" dirty="0"/>
              <a:t>. Data Min. (KDD)</a:t>
            </a:r>
            <a:r>
              <a:rPr lang="en-US" altLang="ko-KR" dirty="0"/>
              <a:t>, 2019, pp. 2623–2631.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7C004E6-52AF-C7E2-161B-5144D2EA6D83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3313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DC015-A604-1D83-0FA9-622B9E31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014D2E61-DEC1-9B3F-42E2-C80B4ACA8E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82207CE-475E-AA25-44C2-68727791FD1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768D4A-64F3-7974-7A58-DBA66990C957}"/>
              </a:ext>
            </a:extLst>
          </p:cNvPr>
          <p:cNvSpPr txBox="1"/>
          <p:nvPr/>
        </p:nvSpPr>
        <p:spPr>
          <a:xfrm>
            <a:off x="837004" y="1477492"/>
            <a:ext cx="104215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[24] K.-C. Chien, C.-H. Chang, and D. </a:t>
            </a:r>
            <a:r>
              <a:rPr lang="en-US" altLang="ko-KR" dirty="0" err="1"/>
              <a:t>Djurdjanovic</a:t>
            </a:r>
            <a:r>
              <a:rPr lang="en-US" altLang="ko-KR" dirty="0"/>
              <a:t>, "Virtual metrology modeling of reactive ion etching based on statistics-based and dynamics-inspired spectral features," </a:t>
            </a:r>
            <a:r>
              <a:rPr lang="en-US" altLang="ko-KR" i="1" dirty="0"/>
              <a:t>J. Vac. Sci. Technol. B</a:t>
            </a:r>
            <a:r>
              <a:rPr lang="en-US" altLang="ko-KR" dirty="0"/>
              <a:t>, vol. 39, no. 6, 064003, 2021.</a:t>
            </a:r>
          </a:p>
          <a:p>
            <a:r>
              <a:rPr lang="en-US" altLang="ko-KR" dirty="0"/>
              <a:t>[25] M. Maggipinto, A. </a:t>
            </a:r>
            <a:r>
              <a:rPr lang="en-US" altLang="ko-KR" dirty="0" err="1"/>
              <a:t>Beghi</a:t>
            </a:r>
            <a:r>
              <a:rPr lang="en-US" altLang="ko-KR" dirty="0"/>
              <a:t>, S. McLoone, and G. A. </a:t>
            </a:r>
            <a:r>
              <a:rPr lang="en-US" altLang="ko-KR" dirty="0" err="1"/>
              <a:t>Susto</a:t>
            </a:r>
            <a:r>
              <a:rPr lang="en-US" altLang="ko-KR" dirty="0"/>
              <a:t>, "</a:t>
            </a:r>
            <a:r>
              <a:rPr lang="en-US" altLang="ko-KR" dirty="0" err="1"/>
              <a:t>DeepVM</a:t>
            </a:r>
            <a:r>
              <a:rPr lang="en-US" altLang="ko-KR" dirty="0"/>
              <a:t>: A deep learning-based approach with automatic feature extraction for 2D input data virtual metrology," </a:t>
            </a:r>
            <a:r>
              <a:rPr lang="en-US" altLang="ko-KR" i="1" dirty="0"/>
              <a:t>J. Process Control</a:t>
            </a:r>
            <a:r>
              <a:rPr lang="en-US" altLang="ko-KR" dirty="0"/>
              <a:t>, vol. 84, pp. 24–34, 2019.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95BE3A6-5FE3-5D58-779C-CDFF5DED968C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746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20728903">
            <a:off x="495300" y="-1727200"/>
            <a:ext cx="11423650" cy="646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246973">
            <a:off x="495300" y="1797050"/>
            <a:ext cx="11423650" cy="646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89200" y="2647950"/>
            <a:ext cx="7213600" cy="1778000"/>
          </a:xfrm>
          <a:prstGeom prst="rect">
            <a:avLst/>
          </a:prstGeom>
        </p:spPr>
        <p:txBody>
          <a:bodyPr lIns="0" tIns="165100" rIns="0" bIns="0" rtlCol="0" anchor="t"/>
          <a:lstStyle/>
          <a:p>
            <a:pPr marL="0" marR="0" lvl="0" indent="0" algn="ctr" defTabSz="914400" rtl="0" eaLnBrk="1" fontAlgn="auto" latinLnBrk="1" hangingPunct="1">
              <a:lnSpc>
                <a:spcPct val="946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0" i="0" u="none" strike="noStrike" kern="1200" cap="none" spc="0" normalizeH="0" baseline="0" noProof="0" dirty="0">
                <a:ln>
                  <a:noFill/>
                </a:ln>
                <a:solidFill>
                  <a:srgbClr val="202A3E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Thank You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3AB0-2877-4383-E2BC-000C1ABD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9F89A53-9154-005B-59AA-1D7991122227}"/>
              </a:ext>
            </a:extLst>
          </p:cNvPr>
          <p:cNvSpPr txBox="1"/>
          <p:nvPr/>
        </p:nvSpPr>
        <p:spPr>
          <a:xfrm>
            <a:off x="514350" y="314637"/>
            <a:ext cx="7346950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Limitation </a:t>
            </a: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해결방안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FB481238-1623-C1F0-366B-108A8A1ABB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BC6665F-92E9-49DB-53D2-C8AC86D71F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CD77BC39-68E8-EDFE-BCA7-93877BC62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29" y="3859005"/>
            <a:ext cx="5563554" cy="2454985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EFC14503-ED9C-5778-19F4-CDAB1599E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116" y="3960839"/>
            <a:ext cx="5563554" cy="2454985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48BE9F1F-F775-5F44-3FB0-CA0D44078A33}"/>
              </a:ext>
            </a:extLst>
          </p:cNvPr>
          <p:cNvGrpSpPr/>
          <p:nvPr/>
        </p:nvGrpSpPr>
        <p:grpSpPr>
          <a:xfrm>
            <a:off x="420329" y="1116849"/>
            <a:ext cx="5563554" cy="2454985"/>
            <a:chOff x="420329" y="1116849"/>
            <a:chExt cx="5563554" cy="2454985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7235763-6185-29EE-3B78-406000A59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0329" y="1116849"/>
              <a:ext cx="5563554" cy="24549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C51966-C382-46BF-7367-25ECC5BD8989}"/>
                </a:ext>
              </a:extLst>
            </p:cNvPr>
            <p:cNvSpPr txBox="1"/>
            <p:nvPr/>
          </p:nvSpPr>
          <p:spPr>
            <a:xfrm>
              <a:off x="467340" y="1605677"/>
              <a:ext cx="5469533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800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1. </a:t>
              </a:r>
              <a:r>
                <a:rPr lang="ko-KR" altLang="en-US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 규모와 공정 조건 다양성의 한계</a:t>
              </a:r>
              <a:endPara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•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추가 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lot / recipe / chamber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데이터 확보</a:t>
              </a:r>
            </a:p>
            <a:p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• maintenance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전후 데이터 포함한 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external validation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수행</a:t>
              </a:r>
            </a:p>
            <a:p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• LOO-Lot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검증으로 </a:t>
              </a:r>
              <a:r>
                <a:rPr lang="en-US" altLang="ko-KR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lot-level </a:t>
              </a:r>
              <a:r>
                <a:rPr lang="ko-KR" altLang="en-US" sz="18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일반화 성능 평가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8A18B39-49A3-4605-56E9-E4F463BBD435}"/>
              </a:ext>
            </a:extLst>
          </p:cNvPr>
          <p:cNvGrpSpPr/>
          <p:nvPr/>
        </p:nvGrpSpPr>
        <p:grpSpPr>
          <a:xfrm>
            <a:off x="6208116" y="1116849"/>
            <a:ext cx="5563554" cy="2454985"/>
            <a:chOff x="6208116" y="1116849"/>
            <a:chExt cx="5563554" cy="24549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B4DE2A9-9E34-ADA1-E281-152C9A8B5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8116" y="1116849"/>
              <a:ext cx="5563554" cy="245498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62AE35-B5BC-6BF7-A9CF-5B34E0761C56}"/>
                </a:ext>
              </a:extLst>
            </p:cNvPr>
            <p:cNvSpPr txBox="1"/>
            <p:nvPr/>
          </p:nvSpPr>
          <p:spPr>
            <a:xfrm>
              <a:off x="6208116" y="1605677"/>
              <a:ext cx="556355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800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2. </a:t>
              </a:r>
              <a:r>
                <a:rPr lang="ko-KR" altLang="en-US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모델 구조 탐색이 아직 불완전</a:t>
              </a:r>
              <a:endPara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• sequence encoder, pooling 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방식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cycle representation 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추가 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ablation</a:t>
              </a:r>
            </a:p>
            <a:p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• top-k OES 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선택 기준 및 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wavelength window 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크기 비교</a:t>
              </a:r>
            </a:p>
            <a:p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• aux loss, </a:t>
              </a:r>
              <a:r>
                <a:rPr lang="en-US" altLang="ko-KR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mixup</a:t>
              </a:r>
              <a:r>
                <a:rPr lang="en-US" altLang="ko-KR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EMA </a:t>
              </a:r>
              <a:r>
                <a:rPr lang="ko-KR" altLang="en-US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각각의 기여도 분리 검증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5DFDCE0-DE40-0C48-1C9E-6685D963C497}"/>
              </a:ext>
            </a:extLst>
          </p:cNvPr>
          <p:cNvSpPr txBox="1"/>
          <p:nvPr/>
        </p:nvSpPr>
        <p:spPr>
          <a:xfrm>
            <a:off x="514349" y="4347833"/>
            <a:ext cx="54073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VM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실제 운영 관점 검증 부족</a:t>
            </a:r>
            <a:endParaRPr lang="en-US" altLang="ko-KR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wafer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별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inference speed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및 실시간 예측 가능성 평가</a:t>
            </a: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이상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wafer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탐지 결과와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VM </a:t>
            </a:r>
            <a:r>
              <a:rPr lang="ko-KR" altLang="en-US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예측값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연계</a:t>
            </a: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공정 모니터링 시스템 적용을 위한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threshold / alarm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기준 검토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5B5021-591E-65BF-1968-A9232589BD4A}"/>
              </a:ext>
            </a:extLst>
          </p:cNvPr>
          <p:cNvSpPr txBox="1"/>
          <p:nvPr/>
        </p:nvSpPr>
        <p:spPr>
          <a:xfrm>
            <a:off x="6208116" y="4034169"/>
            <a:ext cx="54403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해석 분석이 아직 최종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best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 전체로 확장되지 않음</a:t>
            </a:r>
            <a:endParaRPr lang="en-US" altLang="ko-KR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최종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best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모델 기준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5-fold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전체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feature importance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분석</a:t>
            </a: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주요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OES wavelength, cycle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구간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process sensor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기여도 정리</a:t>
            </a: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fold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별 중요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feature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일관성 비교 및 물리적 해석 보강</a:t>
            </a:r>
          </a:p>
          <a:p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ALD · PEALD · ALE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등의 다른 공정에도 반복 </a:t>
            </a:r>
            <a:r>
              <a:rPr lang="en-US" altLang="ko-KR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cycle </a:t>
            </a:r>
            <a:r>
              <a:rPr lang="ko-KR" altLang="en-US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공정으로 확장</a:t>
            </a:r>
          </a:p>
        </p:txBody>
      </p:sp>
    </p:spTree>
    <p:extLst>
      <p:ext uri="{BB962C8B-B14F-4D97-AF65-F5344CB8AC3E}">
        <p14:creationId xmlns:p14="http://schemas.microsoft.com/office/powerpoint/2010/main" val="3256494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4388</Words>
  <Application>Microsoft Office PowerPoint</Application>
  <PresentationFormat>와이드스크린</PresentationFormat>
  <Paragraphs>284</Paragraphs>
  <Slides>38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7" baseType="lpstr">
      <vt:lpstr>Pretendard Black</vt:lpstr>
      <vt:lpstr>맑은 고딕</vt:lpstr>
      <vt:lpstr>Wingdings</vt:lpstr>
      <vt:lpstr>Arial</vt:lpstr>
      <vt:lpstr>Pretendard ExtraBold</vt:lpstr>
      <vt:lpstr>Pretendard SemiBold</vt:lpstr>
      <vt:lpstr>Pretendard Medium</vt:lpstr>
      <vt:lpstr>Pretendard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이준서</dc:creator>
  <cp:lastModifiedBy>이준서</cp:lastModifiedBy>
  <cp:revision>13</cp:revision>
  <dcterms:created xsi:type="dcterms:W3CDTF">2026-05-28T15:40:42Z</dcterms:created>
  <dcterms:modified xsi:type="dcterms:W3CDTF">2026-05-29T03:13:09Z</dcterms:modified>
</cp:coreProperties>
</file>