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362" r:id="rId2"/>
    <p:sldId id="282" r:id="rId3"/>
    <p:sldId id="339" r:id="rId4"/>
    <p:sldId id="284" r:id="rId5"/>
    <p:sldId id="279" r:id="rId6"/>
    <p:sldId id="287" r:id="rId7"/>
    <p:sldId id="295" r:id="rId8"/>
    <p:sldId id="341" r:id="rId9"/>
    <p:sldId id="288" r:id="rId10"/>
    <p:sldId id="262" r:id="rId11"/>
    <p:sldId id="294" r:id="rId12"/>
    <p:sldId id="342" r:id="rId13"/>
    <p:sldId id="345" r:id="rId14"/>
    <p:sldId id="344" r:id="rId15"/>
    <p:sldId id="343" r:id="rId16"/>
    <p:sldId id="257" r:id="rId17"/>
    <p:sldId id="346" r:id="rId18"/>
    <p:sldId id="347" r:id="rId19"/>
    <p:sldId id="348" r:id="rId20"/>
    <p:sldId id="350" r:id="rId21"/>
    <p:sldId id="349" r:id="rId22"/>
    <p:sldId id="351" r:id="rId23"/>
    <p:sldId id="352" r:id="rId24"/>
    <p:sldId id="353" r:id="rId25"/>
    <p:sldId id="354" r:id="rId26"/>
    <p:sldId id="358" r:id="rId27"/>
    <p:sldId id="355" r:id="rId28"/>
    <p:sldId id="356" r:id="rId29"/>
    <p:sldId id="357" r:id="rId30"/>
    <p:sldId id="359" r:id="rId31"/>
    <p:sldId id="361" r:id="rId32"/>
    <p:sldId id="360" r:id="rId33"/>
    <p:sldId id="340" r:id="rId34"/>
    <p:sldId id="364" r:id="rId35"/>
    <p:sldId id="365" r:id="rId36"/>
    <p:sldId id="363" r:id="rId3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78303" autoAdjust="0"/>
  </p:normalViewPr>
  <p:slideViewPr>
    <p:cSldViewPr snapToGrid="0">
      <p:cViewPr varScale="1">
        <p:scale>
          <a:sx n="124" d="100"/>
          <a:sy n="124" d="100"/>
        </p:scale>
        <p:origin x="16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DB55F4-A6FF-42DF-ABA7-A03E940C9C57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44285C-6431-4B5D-85A4-FDC3389443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2607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반도체 제조 공정에서 웨이퍼의 품질은 식각 깊이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산화막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두께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등의 물리적인 측정값에 따라 달라집니다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그러나 이를 실제로 측정하려면 비용과 시간이 많이 소요되고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웨이퍼에 대해 수행하기 어렵다는 문제가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VM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공정 중에 수집되는 센서 데이터로부터 이러한 물리적 측정값을 예측하는 기술로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전수 검사를 가능하게 하고 공정 제어의 실시간성을 높일 수 있다는 장점이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000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E3102-3E0D-5D92-3BDE-31765BBF7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8F72A1-EB47-C499-E2C7-EE2A1DB9C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D0942F-6B04-CDD2-4660-CF7EFC768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기존 반도체 식각 공정의 </a:t>
            </a:r>
            <a:r>
              <a:rPr lang="en-US" altLang="ko-KR" dirty="0"/>
              <a:t>VM </a:t>
            </a:r>
            <a:r>
              <a:rPr lang="ko-KR" altLang="en-US" dirty="0"/>
              <a:t>연구에서는 </a:t>
            </a:r>
            <a:r>
              <a:rPr lang="en-US" altLang="ko-KR" dirty="0"/>
              <a:t>OES </a:t>
            </a:r>
            <a:r>
              <a:rPr lang="ko-KR" altLang="en-US" dirty="0"/>
              <a:t>데이터를 이용하여 식각 후 </a:t>
            </a:r>
            <a:r>
              <a:rPr lang="en-US" altLang="ko-KR" dirty="0"/>
              <a:t>critical dimension(CD), etch rate </a:t>
            </a:r>
            <a:r>
              <a:rPr lang="ko-KR" altLang="en-US" dirty="0"/>
              <a:t>등을 예측하는 연구가 활발히 진행되어 왔습니다</a:t>
            </a:r>
            <a:r>
              <a:rPr lang="en-US" altLang="ko-KR" dirty="0"/>
              <a:t>. </a:t>
            </a:r>
            <a:r>
              <a:rPr lang="ko-KR" altLang="en-US" dirty="0"/>
              <a:t>특히 </a:t>
            </a:r>
            <a:r>
              <a:rPr lang="en-US" altLang="ko-KR" dirty="0"/>
              <a:t>OES</a:t>
            </a:r>
            <a:r>
              <a:rPr lang="ko-KR" altLang="en-US" dirty="0"/>
              <a:t>의 주요 </a:t>
            </a:r>
            <a:r>
              <a:rPr lang="en-US" altLang="ko-KR" dirty="0"/>
              <a:t>wavelength</a:t>
            </a:r>
            <a:r>
              <a:rPr lang="ko-KR" altLang="en-US" dirty="0"/>
              <a:t>를 선택한 뒤 평균</a:t>
            </a:r>
            <a:r>
              <a:rPr lang="en-US" altLang="ko-KR" dirty="0"/>
              <a:t>, </a:t>
            </a:r>
            <a:r>
              <a:rPr lang="ko-KR" altLang="en-US" dirty="0"/>
              <a:t>최대값</a:t>
            </a:r>
            <a:r>
              <a:rPr lang="en-US" altLang="ko-KR" dirty="0"/>
              <a:t>, </a:t>
            </a:r>
            <a:r>
              <a:rPr lang="ko-KR" altLang="en-US" dirty="0"/>
              <a:t>분산 등의 통계 기반 </a:t>
            </a:r>
            <a:r>
              <a:rPr lang="en-US" altLang="ko-KR" dirty="0"/>
              <a:t>feature</a:t>
            </a:r>
            <a:r>
              <a:rPr lang="ko-KR" altLang="en-US" dirty="0"/>
              <a:t>를 추출하여 </a:t>
            </a:r>
            <a:r>
              <a:rPr lang="en-US" altLang="ko-KR" dirty="0"/>
              <a:t>PLS</a:t>
            </a:r>
            <a:r>
              <a:rPr lang="ko-KR" altLang="en-US" dirty="0"/>
              <a:t>나 </a:t>
            </a:r>
            <a:r>
              <a:rPr lang="en-US" altLang="ko-KR" dirty="0"/>
              <a:t>SVR </a:t>
            </a:r>
            <a:r>
              <a:rPr lang="ko-KR" altLang="en-US" dirty="0"/>
              <a:t>같은 </a:t>
            </a:r>
            <a:r>
              <a:rPr lang="ko-KR" altLang="en-US" dirty="0" err="1"/>
              <a:t>머신러닝</a:t>
            </a:r>
            <a:r>
              <a:rPr lang="ko-KR" altLang="en-US" dirty="0"/>
              <a:t> 모델에 입력하는 방식이 주로 사용되었습니다</a:t>
            </a:r>
            <a:r>
              <a:rPr lang="en-US" altLang="ko-KR" dirty="0"/>
              <a:t>. </a:t>
            </a:r>
            <a:r>
              <a:rPr lang="ko-KR" altLang="en-US" dirty="0"/>
              <a:t>예를 들면 </a:t>
            </a:r>
            <a:r>
              <a:rPr lang="en-US" altLang="ko-KR" dirty="0"/>
              <a:t>PCA</a:t>
            </a:r>
            <a:r>
              <a:rPr lang="ko-KR" altLang="en-US" dirty="0"/>
              <a:t>를 이용해 주요 </a:t>
            </a:r>
            <a:r>
              <a:rPr lang="en-US" altLang="ko-KR" dirty="0"/>
              <a:t>wavelength</a:t>
            </a:r>
            <a:r>
              <a:rPr lang="ko-KR" altLang="en-US" dirty="0"/>
              <a:t>를 선택하고</a:t>
            </a:r>
            <a:r>
              <a:rPr lang="en-US" altLang="ko-KR" dirty="0"/>
              <a:t>, integration band </a:t>
            </a:r>
            <a:r>
              <a:rPr lang="ko-KR" altLang="en-US" dirty="0"/>
              <a:t>및 </a:t>
            </a:r>
            <a:r>
              <a:rPr lang="en-US" altLang="ko-KR" dirty="0"/>
              <a:t>statistics-based / dynamics-inspired feature</a:t>
            </a:r>
            <a:r>
              <a:rPr lang="ko-KR" altLang="en-US" dirty="0"/>
              <a:t>를 추출하여 </a:t>
            </a:r>
            <a:r>
              <a:rPr lang="en-US" altLang="ko-KR" dirty="0"/>
              <a:t>VM </a:t>
            </a:r>
            <a:r>
              <a:rPr lang="ko-KR" altLang="en-US" dirty="0"/>
              <a:t>모델을 구축하여 기존 </a:t>
            </a:r>
            <a:r>
              <a:rPr lang="en-US" altLang="ko-KR" dirty="0"/>
              <a:t>handcrafted feature </a:t>
            </a:r>
            <a:r>
              <a:rPr lang="ko-KR" altLang="en-US" dirty="0"/>
              <a:t>기반 방식보다 더 높은 예측 성능을 달성한 연구 결과도 있습니다</a:t>
            </a:r>
            <a:r>
              <a:rPr lang="en-US" altLang="ko-KR" dirty="0"/>
              <a:t>. </a:t>
            </a:r>
            <a:r>
              <a:rPr lang="ko-KR" altLang="en-US" dirty="0"/>
              <a:t>하지만 기존 방식은 여전히 </a:t>
            </a:r>
            <a:r>
              <a:rPr lang="en-US" altLang="ko-KR" dirty="0"/>
              <a:t>OES</a:t>
            </a:r>
            <a:r>
              <a:rPr lang="ko-KR" altLang="en-US" dirty="0"/>
              <a:t>의 고차원 </a:t>
            </a:r>
            <a:r>
              <a:rPr lang="en-US" altLang="ko-KR" dirty="0"/>
              <a:t>temporal signal</a:t>
            </a:r>
            <a:r>
              <a:rPr lang="ko-KR" altLang="en-US" dirty="0"/>
              <a:t>을 </a:t>
            </a:r>
            <a:r>
              <a:rPr lang="en-US" altLang="ko-KR" dirty="0"/>
              <a:t>feature engineering </a:t>
            </a:r>
            <a:r>
              <a:rPr lang="ko-KR" altLang="en-US" dirty="0"/>
              <a:t>과정에서 축약하여 사용하기 때문에</a:t>
            </a:r>
            <a:r>
              <a:rPr lang="en-US" altLang="ko-KR" dirty="0"/>
              <a:t>, BOSCH </a:t>
            </a:r>
            <a:r>
              <a:rPr lang="ko-KR" altLang="en-US" dirty="0"/>
              <a:t>공정의 </a:t>
            </a:r>
            <a:r>
              <a:rPr lang="en-US" altLang="ko-KR" dirty="0"/>
              <a:t>cycle-to-cycle dynamics</a:t>
            </a:r>
            <a:r>
              <a:rPr lang="ko-KR" altLang="en-US" dirty="0"/>
              <a:t>나 </a:t>
            </a:r>
            <a:r>
              <a:rPr lang="en-US" altLang="ko-KR" dirty="0"/>
              <a:t>temporal variation</a:t>
            </a:r>
            <a:r>
              <a:rPr lang="ko-KR" altLang="en-US" dirty="0"/>
              <a:t>과 같은 중요한 정보가 일부 손실된다는 한계가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이후에는 </a:t>
            </a:r>
            <a:r>
              <a:rPr lang="en-US" altLang="ko-KR" dirty="0"/>
              <a:t>OES </a:t>
            </a:r>
            <a:r>
              <a:rPr lang="ko-KR" altLang="en-US" dirty="0"/>
              <a:t>데이터가 시간</a:t>
            </a:r>
            <a:r>
              <a:rPr lang="en-US" altLang="ko-KR" dirty="0"/>
              <a:t>(time)</a:t>
            </a:r>
            <a:r>
              <a:rPr lang="ko-KR" altLang="en-US" dirty="0"/>
              <a:t>과 </a:t>
            </a:r>
            <a:r>
              <a:rPr lang="en-US" altLang="ko-KR" dirty="0"/>
              <a:t>wavelength </a:t>
            </a:r>
            <a:r>
              <a:rPr lang="ko-KR" altLang="en-US" dirty="0"/>
              <a:t>축을 동시에 가지는 </a:t>
            </a:r>
            <a:r>
              <a:rPr lang="en-US" altLang="ko-KR" dirty="0"/>
              <a:t>2</a:t>
            </a:r>
            <a:r>
              <a:rPr lang="ko-KR" altLang="en-US" dirty="0"/>
              <a:t>차원 시계열 데이터라는 점에 주목하여</a:t>
            </a:r>
            <a:r>
              <a:rPr lang="en-US" altLang="ko-KR" dirty="0"/>
              <a:t>, CNN </a:t>
            </a:r>
            <a:r>
              <a:rPr lang="ko-KR" altLang="en-US" dirty="0"/>
              <a:t>및 </a:t>
            </a:r>
            <a:r>
              <a:rPr lang="en-US" altLang="ko-KR" dirty="0"/>
              <a:t>Autoencoder </a:t>
            </a:r>
            <a:r>
              <a:rPr lang="ko-KR" altLang="en-US" dirty="0"/>
              <a:t>기반의 </a:t>
            </a:r>
            <a:r>
              <a:rPr lang="en-US" altLang="ko-KR" dirty="0"/>
              <a:t>Deep Learning VM </a:t>
            </a:r>
            <a:r>
              <a:rPr lang="ko-KR" altLang="en-US" dirty="0"/>
              <a:t>연구가 등장하였습니다</a:t>
            </a:r>
            <a:r>
              <a:rPr lang="en-US" altLang="ko-KR" dirty="0"/>
              <a:t>. </a:t>
            </a:r>
            <a:r>
              <a:rPr lang="ko-KR" altLang="en-US" dirty="0"/>
              <a:t>대표적으로 </a:t>
            </a:r>
            <a:r>
              <a:rPr lang="en-US" altLang="ko-KR" dirty="0" err="1"/>
              <a:t>DeepVM</a:t>
            </a:r>
            <a:r>
              <a:rPr lang="en-US" altLang="ko-KR" dirty="0"/>
              <a:t> </a:t>
            </a:r>
            <a:r>
              <a:rPr lang="ko-KR" altLang="en-US" dirty="0"/>
              <a:t>연구에서는 </a:t>
            </a:r>
            <a:r>
              <a:rPr lang="en-US" altLang="ko-KR" dirty="0"/>
              <a:t>convolutional autoencoder</a:t>
            </a:r>
            <a:r>
              <a:rPr lang="ko-KR" altLang="en-US" dirty="0"/>
              <a:t>를 이용해 </a:t>
            </a:r>
            <a:r>
              <a:rPr lang="en-US" altLang="ko-KR" dirty="0"/>
              <a:t>OES</a:t>
            </a:r>
            <a:r>
              <a:rPr lang="ko-KR" altLang="en-US" dirty="0"/>
              <a:t>의 </a:t>
            </a:r>
            <a:r>
              <a:rPr lang="en-US" altLang="ko-KR" dirty="0"/>
              <a:t>temporal–spectral structure</a:t>
            </a:r>
            <a:r>
              <a:rPr lang="ko-KR" altLang="en-US" dirty="0"/>
              <a:t>를 자동으로 </a:t>
            </a:r>
            <a:r>
              <a:rPr lang="en-US" altLang="ko-KR" dirty="0"/>
              <a:t>feature extraction</a:t>
            </a:r>
            <a:r>
              <a:rPr lang="ko-KR" altLang="en-US" dirty="0"/>
              <a:t>하여 기존 통계 기반 방법보다 더 높은 예측 성능을 달성하였습니다</a:t>
            </a:r>
            <a:r>
              <a:rPr lang="en-US" altLang="ko-KR" dirty="0"/>
              <a:t>. </a:t>
            </a:r>
            <a:r>
              <a:rPr lang="ko-KR" altLang="en-US" dirty="0"/>
              <a:t>그러나 이 방식도 주로 전체 </a:t>
            </a:r>
            <a:r>
              <a:rPr lang="en-US" altLang="ko-KR" dirty="0"/>
              <a:t>OES </a:t>
            </a:r>
            <a:r>
              <a:rPr lang="ko-KR" altLang="en-US" dirty="0"/>
              <a:t>신호를 압축된 </a:t>
            </a:r>
            <a:r>
              <a:rPr lang="en-US" altLang="ko-KR" dirty="0"/>
              <a:t>representation</a:t>
            </a:r>
            <a:r>
              <a:rPr lang="ko-KR" altLang="en-US" dirty="0"/>
              <a:t>으로 변환하여 사용하였기 때문에</a:t>
            </a:r>
            <a:r>
              <a:rPr lang="en-US" altLang="ko-KR" dirty="0"/>
              <a:t>, BOSCH </a:t>
            </a:r>
            <a:r>
              <a:rPr lang="ko-KR" altLang="en-US" dirty="0"/>
              <a:t>공정의 </a:t>
            </a:r>
            <a:r>
              <a:rPr lang="en-US" altLang="ko-KR" dirty="0"/>
              <a:t>cycle-to-cycle dynamics</a:t>
            </a:r>
            <a:r>
              <a:rPr lang="ko-KR" altLang="en-US" dirty="0"/>
              <a:t>나 </a:t>
            </a:r>
            <a:r>
              <a:rPr lang="en-US" altLang="ko-KR" dirty="0"/>
              <a:t>temporal </a:t>
            </a:r>
            <a:r>
              <a:rPr lang="en-US" altLang="ko-KR" dirty="0" err="1"/>
              <a:t>variatio</a:t>
            </a:r>
            <a:r>
              <a:rPr lang="ko-KR" altLang="en-US" dirty="0"/>
              <a:t>과 같은 세부적인 사이클 구조 정보가 여전히 충분히 반영되지 못한다는 한계가 존재합니다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저희는 이런 사이클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2BEC94-753C-ED12-59BC-8ACAFB583D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7319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저희는 이 논문의 데이터셋을 활용하여 반도체 제조 공정에서의 </a:t>
            </a:r>
            <a:r>
              <a:rPr lang="en-US" altLang="ko-KR" dirty="0"/>
              <a:t>VM</a:t>
            </a:r>
            <a:r>
              <a:rPr lang="ko-KR" altLang="en-US" dirty="0"/>
              <a:t>을 구현하려고 합니다</a:t>
            </a:r>
            <a:r>
              <a:rPr lang="en-US" altLang="ko-KR" dirty="0"/>
              <a:t>.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BOSCH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SF6(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식각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C4F8(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패시베이션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가스를 교대로 사용하는 사이클릭 공정입니다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본 연구에서 활용하는 데이터셋은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BOSCH plasma etching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공정에서 수집한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multimodal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데이터셋입니다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초의 점화 단계 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회의 사이클로 구성되며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웨이퍼에 대해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3,648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파장 채널에서 연속으로 기록됩니다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핵심은 단순 공정 결과만 있는 게 아니라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플라즈마 내부 신호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(OES),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센서값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웨이퍼 측정 결과를 한 번에 같이 제공한다는 점입니다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데이터에는 각 사이클에서의 플라즈마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화학종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변화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챔버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컨디셔닝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효과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drift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 풍부한 공정 정보가 포함되어 있기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때문에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정보를 고려한 예측 방법이 필요합니다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그러나 기존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VM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연구에서는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평균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분산 등으로 축소하여 사용하는 경우가 대부분이며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방식으로는 사이클 간 시간적 변화 패턴이라는 핵심 정보가 손실된다는 문제가 생깁니다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3748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52148-EDAB-19A7-0183-E6E2C426B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06CBA3-6739-E554-1A3A-2FBDDC316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A32357-C938-D204-3126-CC1283912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Dataset </a:t>
            </a:r>
            <a:r>
              <a:rPr lang="ko-KR" altLang="en-US" dirty="0"/>
              <a:t>파트에 대해서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저희가 쓰는 데이터는 독일 연구소에서 실제 플라즈마 식각 장비를 돌리면서 수집한 데이터입니다</a:t>
            </a:r>
            <a:r>
              <a:rPr lang="en-US" altLang="ko-KR" dirty="0"/>
              <a:t>. </a:t>
            </a:r>
            <a:r>
              <a:rPr lang="ko-KR" altLang="en-US" dirty="0"/>
              <a:t>장비는 </a:t>
            </a:r>
            <a:r>
              <a:rPr lang="en-US" altLang="ko-KR" dirty="0"/>
              <a:t>ICP-RIE </a:t>
            </a:r>
            <a:r>
              <a:rPr lang="ko-KR" altLang="en-US" dirty="0"/>
              <a:t>방식이고</a:t>
            </a:r>
            <a:r>
              <a:rPr lang="en-US" altLang="ko-KR" dirty="0"/>
              <a:t>, 200mm </a:t>
            </a:r>
            <a:r>
              <a:rPr lang="ko-KR" altLang="en-US" dirty="0"/>
              <a:t>실리콘 웨이퍼에 </a:t>
            </a:r>
            <a:r>
              <a:rPr lang="en-US" altLang="ko-KR" dirty="0"/>
              <a:t>SF₆</a:t>
            </a:r>
            <a:r>
              <a:rPr lang="ko-KR" altLang="en-US" dirty="0"/>
              <a:t>와 </a:t>
            </a:r>
            <a:r>
              <a:rPr lang="en-US" altLang="ko-KR" dirty="0"/>
              <a:t>C₄F₈</a:t>
            </a:r>
            <a:r>
              <a:rPr lang="ko-KR" altLang="en-US" dirty="0"/>
              <a:t>를 교대로 사용하는 </a:t>
            </a:r>
            <a:r>
              <a:rPr lang="en-US" altLang="ko-KR" dirty="0"/>
              <a:t>BOSCH </a:t>
            </a:r>
            <a:r>
              <a:rPr lang="ko-KR" altLang="en-US" dirty="0"/>
              <a:t>공정 </a:t>
            </a:r>
            <a:r>
              <a:rPr lang="en-US" altLang="ko-KR" dirty="0"/>
              <a:t>100</a:t>
            </a:r>
            <a:r>
              <a:rPr lang="ko-KR" altLang="en-US" dirty="0"/>
              <a:t>사이클을 적용했습니다</a:t>
            </a:r>
            <a:r>
              <a:rPr lang="en-US" altLang="ko-KR" dirty="0"/>
              <a:t>. </a:t>
            </a:r>
            <a:r>
              <a:rPr lang="ko-KR" altLang="en-US" dirty="0"/>
              <a:t>총 </a:t>
            </a:r>
            <a:r>
              <a:rPr lang="en-US" altLang="ko-KR" dirty="0"/>
              <a:t>10</a:t>
            </a:r>
            <a:r>
              <a:rPr lang="ko-KR" altLang="en-US" dirty="0"/>
              <a:t>개 </a:t>
            </a:r>
            <a:r>
              <a:rPr lang="ko-KR" altLang="en-US" dirty="0" err="1"/>
              <a:t>로트</a:t>
            </a:r>
            <a:r>
              <a:rPr lang="en-US" altLang="ko-KR" dirty="0"/>
              <a:t>, </a:t>
            </a:r>
            <a:r>
              <a:rPr lang="ko-KR" altLang="en-US" dirty="0"/>
              <a:t>약 </a:t>
            </a:r>
            <a:r>
              <a:rPr lang="en-US" altLang="ko-KR" dirty="0"/>
              <a:t>100</a:t>
            </a:r>
            <a:r>
              <a:rPr lang="ko-KR" altLang="en-US" dirty="0"/>
              <a:t>개 웨이퍼 규모이고</a:t>
            </a:r>
            <a:r>
              <a:rPr lang="en-US" altLang="ko-KR" dirty="0"/>
              <a:t>, </a:t>
            </a:r>
            <a:r>
              <a:rPr lang="en-US" altLang="ko-KR" dirty="0" err="1"/>
              <a:t>Zenodo</a:t>
            </a:r>
            <a:r>
              <a:rPr lang="ko-KR" altLang="en-US" dirty="0"/>
              <a:t>에 오픈 데이터로 공개되어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데이터의 가장 큰 강점은 세 종류의 데이터가 동시에 수집되었다는 점입니다</a:t>
            </a:r>
            <a:r>
              <a:rPr lang="en-US" altLang="ko-KR" dirty="0"/>
              <a:t>. </a:t>
            </a:r>
            <a:r>
              <a:rPr lang="ko-KR" altLang="en-US" dirty="0"/>
              <a:t>첫째</a:t>
            </a:r>
            <a:r>
              <a:rPr lang="en-US" altLang="ko-KR" dirty="0"/>
              <a:t>, </a:t>
            </a:r>
            <a:r>
              <a:rPr lang="ko-KR" altLang="en-US" dirty="0"/>
              <a:t>플라즈마 안에 어떤 화학종이 있는지 빛으로 측정한 </a:t>
            </a:r>
            <a:r>
              <a:rPr lang="en-US" altLang="ko-KR" dirty="0"/>
              <a:t>OES </a:t>
            </a:r>
            <a:r>
              <a:rPr lang="ko-KR" altLang="en-US" dirty="0"/>
              <a:t>데이터 </a:t>
            </a:r>
            <a:r>
              <a:rPr lang="en-US" altLang="ko-KR" dirty="0"/>
              <a:t>3,648</a:t>
            </a:r>
            <a:r>
              <a:rPr lang="ko-KR" altLang="en-US" dirty="0"/>
              <a:t>채널</a:t>
            </a:r>
            <a:r>
              <a:rPr lang="en-US" altLang="ko-KR" dirty="0"/>
              <a:t>. </a:t>
            </a:r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dirty="0"/>
              <a:t>장비의 센서가 기록한 공정 파라미터 </a:t>
            </a:r>
            <a:r>
              <a:rPr lang="en-US" altLang="ko-KR" dirty="0"/>
              <a:t>31</a:t>
            </a:r>
            <a:r>
              <a:rPr lang="ko-KR" altLang="en-US" dirty="0"/>
              <a:t>개</a:t>
            </a:r>
            <a:r>
              <a:rPr lang="en-US" altLang="ko-KR" dirty="0"/>
              <a:t>. </a:t>
            </a:r>
            <a:r>
              <a:rPr lang="ko-KR" altLang="en-US" dirty="0"/>
              <a:t>셋째</a:t>
            </a:r>
            <a:r>
              <a:rPr lang="en-US" altLang="ko-KR" dirty="0"/>
              <a:t>, </a:t>
            </a:r>
            <a:r>
              <a:rPr lang="ko-KR" altLang="en-US" dirty="0"/>
              <a:t>식각이 끝난 후 실제로 재본 식각 깊이가 웨이퍼 </a:t>
            </a:r>
            <a:r>
              <a:rPr lang="ko-KR" altLang="en-US" dirty="0" err="1"/>
              <a:t>계측값</a:t>
            </a:r>
            <a:r>
              <a:rPr lang="ko-KR" altLang="en-US" dirty="0"/>
              <a:t> </a:t>
            </a:r>
            <a:r>
              <a:rPr lang="en-US" altLang="ko-KR" dirty="0"/>
              <a:t>9</a:t>
            </a:r>
            <a:r>
              <a:rPr lang="ko-KR" altLang="en-US" dirty="0"/>
              <a:t>개 또는 </a:t>
            </a:r>
            <a:r>
              <a:rPr lang="en-US" altLang="ko-KR" dirty="0"/>
              <a:t>89</a:t>
            </a:r>
            <a:r>
              <a:rPr lang="ko-KR" altLang="en-US" dirty="0"/>
              <a:t>개 포인트로 </a:t>
            </a:r>
            <a:r>
              <a:rPr lang="ko-KR" altLang="en-US" dirty="0" err="1"/>
              <a:t>기록되어있습니다</a:t>
            </a:r>
            <a:r>
              <a:rPr lang="en-US" altLang="ko-KR" dirty="0"/>
              <a:t>. </a:t>
            </a:r>
            <a:r>
              <a:rPr lang="ko-KR" altLang="en-US" dirty="0"/>
              <a:t>앞의 둘이 모델의 입력이고</a:t>
            </a:r>
            <a:r>
              <a:rPr lang="en-US" altLang="ko-KR" dirty="0"/>
              <a:t>, </a:t>
            </a:r>
            <a:r>
              <a:rPr lang="ko-KR" altLang="en-US" dirty="0"/>
              <a:t>마지막이 저희가 예측하려는 </a:t>
            </a:r>
            <a:r>
              <a:rPr lang="ko-KR" altLang="en-US" dirty="0" err="1"/>
              <a:t>정답값입니다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6282BC-556C-B8A8-5093-E802B80F17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1ADF3-D9EB-4753-914D-CCE533B33CF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3693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그래서 저희가 예측하려는 것은 실리콘이 얼마나 깊이 </a:t>
            </a:r>
            <a:r>
              <a:rPr lang="ko-KR" altLang="en-US" dirty="0" err="1"/>
              <a:t>파였는지입니다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왼쪽 그림을 보시면</a:t>
            </a:r>
            <a:r>
              <a:rPr lang="en-US" altLang="ko-KR" dirty="0"/>
              <a:t>, </a:t>
            </a:r>
            <a:r>
              <a:rPr lang="ko-KR" altLang="en-US" dirty="0"/>
              <a:t>식각 전에는 </a:t>
            </a:r>
            <a:r>
              <a:rPr lang="en-US" altLang="ko-KR" dirty="0" err="1"/>
              <a:t>SiO</a:t>
            </a:r>
            <a:r>
              <a:rPr lang="en-US" altLang="ko-KR" dirty="0"/>
              <a:t>₂ </a:t>
            </a:r>
            <a:r>
              <a:rPr lang="ko-KR" altLang="en-US" dirty="0"/>
              <a:t>마스크가 위에 덮여 있고 그 아래 실리콘이 평평합니다</a:t>
            </a:r>
            <a:r>
              <a:rPr lang="en-US" altLang="ko-KR" dirty="0"/>
              <a:t>. BOSCH </a:t>
            </a:r>
            <a:r>
              <a:rPr lang="ko-KR" altLang="en-US" dirty="0"/>
              <a:t>공정 </a:t>
            </a:r>
            <a:r>
              <a:rPr lang="en-US" altLang="ko-KR" dirty="0"/>
              <a:t>100</a:t>
            </a:r>
            <a:r>
              <a:rPr lang="ko-KR" altLang="en-US" dirty="0"/>
              <a:t>사이클을 거치면 마스크가 열린 부분으로 약 </a:t>
            </a:r>
            <a:r>
              <a:rPr lang="en-US" altLang="ko-KR" dirty="0"/>
              <a:t>40</a:t>
            </a:r>
            <a:r>
              <a:rPr lang="ko-KR" altLang="en-US" dirty="0"/>
              <a:t>마이크로미터 깊이의 구멍이 파이게 됩니다</a:t>
            </a:r>
            <a:r>
              <a:rPr lang="en-US" altLang="ko-KR" dirty="0"/>
              <a:t>. </a:t>
            </a:r>
            <a:r>
              <a:rPr lang="ko-KR" altLang="en-US" dirty="0"/>
              <a:t>이 </a:t>
            </a:r>
            <a:r>
              <a:rPr lang="en-US" altLang="ko-KR" dirty="0"/>
              <a:t>40</a:t>
            </a:r>
            <a:r>
              <a:rPr lang="ko-KR" altLang="en-US" dirty="0"/>
              <a:t>마이크로미터라는 값이 저희 타겟</a:t>
            </a:r>
            <a:r>
              <a:rPr lang="en-US" altLang="ko-KR" dirty="0"/>
              <a:t>, </a:t>
            </a:r>
            <a:r>
              <a:rPr lang="ko-KR" altLang="en-US" dirty="0"/>
              <a:t>즉 모델이 맞춰야 할 정답입니다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마스크도 일부 소모되어 </a:t>
            </a:r>
            <a:r>
              <a:rPr lang="en-US" altLang="ko-KR" dirty="0"/>
              <a:t>0.45</a:t>
            </a:r>
            <a:r>
              <a:rPr lang="ko-KR" altLang="en-US" dirty="0"/>
              <a:t>마이크로미터로 얇아집니다</a:t>
            </a:r>
            <a:r>
              <a:rPr lang="en-US" altLang="ko-KR" dirty="0"/>
              <a:t>. </a:t>
            </a:r>
            <a:r>
              <a:rPr lang="ko-KR" altLang="en-US" dirty="0"/>
              <a:t>아래 표가 실제 </a:t>
            </a:r>
            <a:r>
              <a:rPr lang="en-US" altLang="ko-KR" dirty="0"/>
              <a:t>CSV </a:t>
            </a:r>
            <a:r>
              <a:rPr lang="ko-KR" altLang="en-US" dirty="0"/>
              <a:t>데이터이고</a:t>
            </a:r>
            <a:r>
              <a:rPr lang="en-US" altLang="ko-KR" dirty="0"/>
              <a:t>, </a:t>
            </a:r>
            <a:r>
              <a:rPr lang="en-US" altLang="ko-KR" dirty="0" err="1"/>
              <a:t>si_etch</a:t>
            </a:r>
            <a:r>
              <a:rPr lang="en-US" altLang="ko-KR" dirty="0"/>
              <a:t> </a:t>
            </a:r>
            <a:r>
              <a:rPr lang="ko-KR" altLang="en-US" dirty="0"/>
              <a:t>열이 저희 타겟입니다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오른쪽은 전체 흐름입니다</a:t>
            </a:r>
            <a:r>
              <a:rPr lang="en-US" altLang="ko-KR" dirty="0"/>
              <a:t>, </a:t>
            </a:r>
            <a:r>
              <a:rPr lang="ko-KR" altLang="en-US" dirty="0"/>
              <a:t>식각 중 실시간으로 기록된 공정 파라미터와 </a:t>
            </a:r>
            <a:r>
              <a:rPr lang="en-US" altLang="ko-KR" dirty="0"/>
              <a:t>OES</a:t>
            </a:r>
            <a:r>
              <a:rPr lang="ko-KR" altLang="en-US" dirty="0"/>
              <a:t>가 입력이 되고</a:t>
            </a:r>
            <a:r>
              <a:rPr lang="en-US" altLang="ko-KR" dirty="0"/>
              <a:t>, </a:t>
            </a:r>
            <a:r>
              <a:rPr lang="ko-KR" altLang="en-US" dirty="0"/>
              <a:t>식각 후에 잰 깊이를 정답으로 매칭해서 모델을 학습시킵니다</a:t>
            </a:r>
            <a:r>
              <a:rPr lang="en-US" altLang="ko-KR" dirty="0"/>
              <a:t>. </a:t>
            </a:r>
            <a:r>
              <a:rPr lang="ko-KR" altLang="en-US" dirty="0"/>
              <a:t>이렇게 하면 나중에는 센서 데이터만 보고도 실제로 재지 않아도 식각 깊이를 예측할 수 있게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1ADF3-D9EB-4753-914D-CCE533B33CF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738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D0DEE-1E2D-974C-F341-70E78AD8D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2E63DE-800B-5B04-AA9F-2C9129BB38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B4DC46-37D6-3A3F-3AF5-A584E7C9F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번째로 소개할 파이프라인은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Baseline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아키텍처입니다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저희가 사용하는 입력 데이터는 크게 세 가지입니다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OES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시계열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약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14,744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타임스텝에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3,648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파장 채널로 구성됩니다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 파라미터 시계열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약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3,245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타임스텝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44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센서 채널입니다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셋째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웨이퍼 내 측정 위치 좌표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89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포인트의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XY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좌표입니다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원시 데이터를 그대로 쓰기엔 차원이 너무 높기 때문에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피처 엔지니어링 단계에서 사이클 단위로 요약합니다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OES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 10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파장 밴드별로 평균을 내고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 파라미터도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 44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채널 평균을 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사이클 시퀀스에 평균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표준편차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최솟값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최댓값 등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통계를 적용하면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최종적으로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 80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352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XY 2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총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434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피처가 만들어집니다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피처 벡터를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Regressor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입력해서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si_etch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oxide_etch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동시에 예측합니다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트리 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max_depth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6,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learning_rate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0.09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설정했습니다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모델이 딥러닝 모델과 비교할 성능 기준선 역할을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A803C6-A892-A0FA-FADF-65BEF41189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08297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초기 구성은 이렇게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3740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02557-5536-FCAB-BE6A-3DB071B2D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EE68BC-54BC-02DB-AB90-2EE62EC083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60EB22-B5EE-6426-48AA-6A82D1769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000" dirty="0"/>
              <a:t>처음에는 </a:t>
            </a:r>
            <a:r>
              <a:rPr lang="en-US" altLang="ko-KR" sz="1000" dirty="0" err="1"/>
              <a:t>XGBoost</a:t>
            </a:r>
            <a:r>
              <a:rPr lang="ko-KR" altLang="en-US" sz="1000" dirty="0"/>
              <a:t>와 </a:t>
            </a:r>
            <a:r>
              <a:rPr lang="en-US" altLang="ko-KR" sz="1000" dirty="0"/>
              <a:t>DL, </a:t>
            </a:r>
            <a:r>
              <a:rPr lang="ko-KR" altLang="en-US" sz="1000" dirty="0"/>
              <a:t>앙상블까지 고려했지만</a:t>
            </a:r>
            <a:endParaRPr lang="en-US" altLang="ko-KR" sz="1000" dirty="0"/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ko-KR" altLang="en-US" sz="1000" dirty="0"/>
              <a:t>교수님 피드백 이후에는 단일 </a:t>
            </a:r>
            <a:r>
              <a:rPr lang="en-US" altLang="ko-KR" sz="1000" dirty="0"/>
              <a:t>DL </a:t>
            </a:r>
            <a:r>
              <a:rPr lang="ko-KR" altLang="en-US" sz="1000" dirty="0"/>
              <a:t>구조가 실제로 의미 있는지 먼저 검증하는 방향으로 정리</a:t>
            </a:r>
            <a:endParaRPr lang="en-US" altLang="ko-KR" sz="1000" dirty="0"/>
          </a:p>
          <a:p>
            <a:pPr marL="0" indent="0">
              <a:buFont typeface="Wingdings" panose="05000000000000000000" pitchFamily="2" charset="2"/>
              <a:buNone/>
            </a:pPr>
            <a:endParaRPr lang="en-US" altLang="ko-KR" sz="1000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ko-KR" sz="1000" dirty="0"/>
              <a:t>**</a:t>
            </a:r>
            <a:r>
              <a:rPr lang="ko-KR" altLang="en-US" sz="1000" dirty="0" err="1"/>
              <a:t>중간발표랑</a:t>
            </a:r>
            <a:r>
              <a:rPr lang="ko-KR" altLang="en-US" sz="1000" dirty="0"/>
              <a:t> 변경점은 </a:t>
            </a:r>
            <a:r>
              <a:rPr lang="en-US" altLang="ko-KR" sz="1000" dirty="0"/>
              <a:t>Spatial </a:t>
            </a:r>
            <a:r>
              <a:rPr lang="ko-KR" altLang="en-US" sz="1000" dirty="0"/>
              <a:t>정보를 따로 빼서 개선한걸 보여주고 싶어서 뺐습니다</a:t>
            </a:r>
            <a:endParaRPr lang="en-US" altLang="ko-KR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EB4BAB-9120-1C08-6AC9-A45A3296D4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7944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근데 이상하게 </a:t>
            </a:r>
            <a:r>
              <a:rPr lang="en-US" altLang="ko-KR" dirty="0"/>
              <a:t>Si</a:t>
            </a:r>
            <a:r>
              <a:rPr lang="ko-KR" altLang="en-US" dirty="0"/>
              <a:t>를 </a:t>
            </a:r>
            <a:r>
              <a:rPr lang="ko-KR" altLang="en-US" dirty="0" err="1"/>
              <a:t>못맞추더라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6683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F7ABA-CDC8-0D3E-F6EB-DA3972CF2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207103-834A-DDB9-CE88-788FB8B5C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2A289F-5C82-159B-1CA1-7709B971A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이상해서 </a:t>
            </a:r>
            <a:r>
              <a:rPr lang="en-US" altLang="ko-KR" dirty="0"/>
              <a:t>EDA </a:t>
            </a:r>
            <a:r>
              <a:rPr lang="ko-KR" altLang="en-US" dirty="0"/>
              <a:t>분석해보니 애초에 </a:t>
            </a:r>
            <a:r>
              <a:rPr lang="en-US" altLang="ko-KR" dirty="0"/>
              <a:t>XY</a:t>
            </a:r>
            <a:r>
              <a:rPr lang="ko-KR" altLang="en-US" dirty="0"/>
              <a:t>에 의존하더라</a:t>
            </a:r>
            <a:r>
              <a:rPr lang="en-US" altLang="ko-KR" dirty="0"/>
              <a:t>~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E5BF82-53B2-F98B-FE91-160D7599E2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9613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02557-5536-FCAB-BE6A-3DB071B2D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EE68BC-54BC-02DB-AB90-2EE62EC083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60EB22-B5EE-6426-48AA-6A82D1769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</a:t>
            </a:r>
            <a:r>
              <a:rPr lang="en-US" altLang="ko-KR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FiLM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적용함</a:t>
            </a:r>
            <a:endParaRPr lang="en-US" altLang="ko-KR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0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 파이프라인은 저희가 핵심 기여로 제안하는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Cycle-Aware DL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아키텍처입니다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2D-CNN, Bidirectional LSTM,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</a:t>
            </a:r>
            <a:r>
              <a:rPr lang="en-US" altLang="ko-KR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FiLM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모듈을 결합한 구조입니다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가장 큰 차이점은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내부의 시간 파형을 그대로 학습에 활용한다는 점입니다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입력은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 128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타임스텝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 3,648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파장으로 구성되고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2D-CNN OES Encoder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통과시켜 사이클당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128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차원 </a:t>
            </a:r>
            <a:r>
              <a:rPr lang="ko-KR" altLang="en-US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임베딩을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얻습니다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 파라미터도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 30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스텝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 31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채널을 동일한 구조의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2D-CNN Process Encoder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처리해 사이클당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64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차원 </a:t>
            </a:r>
            <a:r>
              <a:rPr lang="ko-KR" altLang="en-US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임베딩을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만듭니다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 핵심은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CNN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가중치를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사이클이 공유한다는 점입니다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사이클을 독립적으로 동일한 인코더로 처리하는 구조입니다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</a:t>
            </a:r>
            <a:r>
              <a:rPr lang="ko-KR" altLang="en-US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임베딩을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이어 붙인 뒤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FC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LayerNorm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거쳐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 × 128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시퀀스를 만들고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Bidirectional LSTM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입력합니다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LSTM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사이클 간 시간적 변화를 학습하는 부분입니다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LSTM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출력을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 Pooling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하나의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256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차원 벡터로 압축하고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FiLM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모듈로 </a:t>
            </a:r>
            <a:r>
              <a:rPr lang="ko-KR" altLang="en-US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컨디셔닝합니다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FiLM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γ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β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스케일링 파라미터를 통해 웨이퍼 전체의 공정 상태를 표현하는 역할을 합니다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측정 위치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XY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좌표를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Fourier Encoder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인코딩해서 공간 정보를 결합하고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최종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Regression Head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89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측정 포인트 각각에 대해 </a:t>
            </a:r>
            <a:r>
              <a:rPr lang="en-US" altLang="ko-KR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si_etch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0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oxide_etch</a:t>
            </a:r>
            <a:r>
              <a:rPr lang="ko-KR" alt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예측합니다</a:t>
            </a:r>
            <a:r>
              <a:rPr lang="en-US" altLang="ko-KR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sz="1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EB4BAB-9120-1C08-6AC9-A45A3296D4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7944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원래는 그냥 </a:t>
            </a:r>
            <a:r>
              <a:rPr lang="en-US" altLang="ko-KR" dirty="0" err="1"/>
              <a:t>xy</a:t>
            </a:r>
            <a:r>
              <a:rPr lang="ko-KR" altLang="en-US" dirty="0"/>
              <a:t> </a:t>
            </a:r>
            <a:r>
              <a:rPr lang="en-US" altLang="ko-KR" dirty="0" err="1"/>
              <a:t>concat</a:t>
            </a:r>
            <a:r>
              <a:rPr lang="ko-KR" altLang="en-US" dirty="0"/>
              <a:t>해서 </a:t>
            </a:r>
            <a:r>
              <a:rPr lang="en-US" altLang="ko-KR" dirty="0" err="1"/>
              <a:t>xy</a:t>
            </a:r>
            <a:r>
              <a:rPr lang="en-US" altLang="ko-KR" dirty="0"/>
              <a:t> </a:t>
            </a:r>
            <a:r>
              <a:rPr lang="ko-KR" altLang="en-US" dirty="0"/>
              <a:t>정보가 차지하는 비중이 너무 미미함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근데 </a:t>
            </a:r>
            <a:r>
              <a:rPr lang="en-US" altLang="ko-KR" dirty="0" err="1"/>
              <a:t>FiLM</a:t>
            </a:r>
            <a:r>
              <a:rPr lang="ko-KR" altLang="en-US" dirty="0"/>
              <a:t>은 전체에 투영해서 이를 개선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88995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적용했더니 성능 회복함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8491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시각화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35702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이상치들이 유독 많다</a:t>
            </a:r>
            <a:r>
              <a:rPr lang="en-US" altLang="ko-KR" dirty="0"/>
              <a:t>.</a:t>
            </a:r>
          </a:p>
          <a:p>
            <a:pPr marL="228600" indent="-228600">
              <a:buAutoNum type="arabicPeriod"/>
            </a:pPr>
            <a:r>
              <a:rPr lang="en-US" altLang="ko-KR" dirty="0"/>
              <a:t>Fold4</a:t>
            </a:r>
            <a:r>
              <a:rPr lang="ko-KR" altLang="en-US" dirty="0"/>
              <a:t>의 경우 한</a:t>
            </a:r>
            <a:r>
              <a:rPr lang="en-US" altLang="ko-KR" dirty="0"/>
              <a:t> wafer</a:t>
            </a:r>
            <a:r>
              <a:rPr lang="ko-KR" altLang="en-US" dirty="0"/>
              <a:t>에 대한 예측치를 특정 값 중심으로 뭉쳐버린다</a:t>
            </a:r>
            <a:r>
              <a:rPr lang="en-US" altLang="ko-KR" dirty="0"/>
              <a:t>.</a:t>
            </a:r>
          </a:p>
          <a:p>
            <a:pPr marL="228600" indent="-228600">
              <a:buAutoNum type="arabicPeriod"/>
            </a:pPr>
            <a:r>
              <a:rPr lang="ko-KR" altLang="en-US" dirty="0"/>
              <a:t>학습 초반에 피크를 찍고 계속 감소</a:t>
            </a:r>
            <a:r>
              <a:rPr lang="en-US" altLang="ko-KR" dirty="0"/>
              <a:t>-&gt; overfit </a:t>
            </a:r>
            <a:r>
              <a:rPr lang="ko-KR" altLang="en-US" dirty="0"/>
              <a:t>의심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67897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해결법 적용</a:t>
            </a:r>
            <a:r>
              <a:rPr lang="en-US" altLang="ko-KR" dirty="0"/>
              <a:t>1</a:t>
            </a:r>
          </a:p>
          <a:p>
            <a:r>
              <a:rPr lang="en-US" altLang="ko-KR" dirty="0"/>
              <a:t>Oes top k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fold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 set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에서만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 etch target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 wavelength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summary statistic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correlation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계산하고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상관성이 높은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wavelength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개만 선택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최종 모델에서는 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top_k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=256, stat=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late_mean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사용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wavelength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대해 후반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cycle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구간의 평균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intensity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대표값으로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만들고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 etch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얼마나 관련 있는지 본 뒤 상위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256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channel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남김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79004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Auxiliary wafer-mean loss 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DL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wafer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하나에서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89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개의 측정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예측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-&gt;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방식만 사용하면 모델이 각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오차를 줄이는 데 집중하면서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wafer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etch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 etch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인지 같은 전역적인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wafer-level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상태를 충분히 안정적으로 학습하지 못할 수 있음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-&gt;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특히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fold 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일부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high-mode wafer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들이 거의 비슷한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예측값으로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몰리는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collapse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현상이 있었는데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중간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representation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 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wafer_repr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wafer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 etch level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차이를 잘 구분하지 못한다는 신호로 볼 수 있음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dirty="0"/>
              <a:t>-&gt;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기존에는 최종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 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wafer_repr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XY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이용해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89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예측함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여기에 추가로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wafer_repr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보고 해당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wafer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평균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 etch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값을 예측하는 보조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붙임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-&gt;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total_loss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point_prediction_loss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aux_weight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wafer_mean_loss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-&gt; wafer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etch level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직접적으로 담도록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반영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최종 설정에서는 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aux_weight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0.3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사용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8434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wafer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단위로 적용했다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.(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wafer-level </a:t>
            </a:r>
            <a:r>
              <a:rPr lang="en-US" altLang="ko-K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mixup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wafer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 tensor, Process tensor, XY feature, target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같은 비율로 섞었다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하면 모델은 실제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wafer A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wafer B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보는 것이 아니라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wafer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사이의 중간 상태도 학습하게 된다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54382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학습 </a:t>
            </a:r>
            <a:r>
              <a:rPr lang="en-US" altLang="ko-KR" dirty="0"/>
              <a:t>Weight</a:t>
            </a:r>
            <a:r>
              <a:rPr lang="ko-KR" altLang="en-US" dirty="0"/>
              <a:t>가 너무 들쭉날쭉하면 </a:t>
            </a:r>
            <a:r>
              <a:rPr lang="en-US" altLang="ko-KR" dirty="0"/>
              <a:t>RMSE</a:t>
            </a:r>
            <a:r>
              <a:rPr lang="ko-KR" altLang="en-US" dirty="0"/>
              <a:t>도 요동치게 된다</a:t>
            </a:r>
            <a:r>
              <a:rPr lang="en-US" altLang="ko-KR" dirty="0"/>
              <a:t>. -&gt;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운 좋게 한 번 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noise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바닥을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best epoch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저장할 수 있음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-&gt;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일반화 성능 저하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-&gt;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스무스하게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만든다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EMA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Exponential Moving Average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약자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학습 중인 모델의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weight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그대로 쓰는 대신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과거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weight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들을 지수이동평균으로 누적한 별도의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shadow model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사용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지수이동평균이므로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최근의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weight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더 크게 반영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-&gt;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의도한 효과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946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최종 파이프라인 다이어그램</a:t>
            </a:r>
            <a:endParaRPr lang="en-US" altLang="ko-KR" dirty="0"/>
          </a:p>
          <a:p>
            <a:r>
              <a:rPr lang="ko-KR" altLang="en-US" dirty="0" err="1"/>
              <a:t>아키텍쳐적인</a:t>
            </a:r>
            <a:r>
              <a:rPr lang="ko-KR" altLang="en-US" dirty="0"/>
              <a:t> 개선 </a:t>
            </a:r>
            <a:r>
              <a:rPr lang="en-US" altLang="ko-KR" dirty="0"/>
              <a:t>: Aux</a:t>
            </a:r>
            <a:r>
              <a:rPr lang="ko-KR" altLang="en-US" dirty="0"/>
              <a:t>와 </a:t>
            </a:r>
            <a:r>
              <a:rPr lang="en-US" altLang="ko-KR" dirty="0"/>
              <a:t>OES </a:t>
            </a:r>
            <a:r>
              <a:rPr lang="en-US" altLang="ko-KR" dirty="0" err="1"/>
              <a:t>top_k</a:t>
            </a:r>
            <a:endParaRPr lang="en-US" altLang="ko-KR" dirty="0"/>
          </a:p>
          <a:p>
            <a:r>
              <a:rPr lang="en-US" altLang="ko-KR" dirty="0"/>
              <a:t>Dataset</a:t>
            </a:r>
            <a:r>
              <a:rPr lang="ko-KR" altLang="en-US" dirty="0"/>
              <a:t> </a:t>
            </a:r>
            <a:r>
              <a:rPr lang="ko-KR" altLang="en-US" dirty="0" err="1"/>
              <a:t>전처리</a:t>
            </a:r>
            <a:r>
              <a:rPr lang="ko-KR" altLang="en-US" dirty="0"/>
              <a:t> 및 </a:t>
            </a:r>
            <a:r>
              <a:rPr lang="en-US" altLang="ko-KR" dirty="0"/>
              <a:t>train process </a:t>
            </a:r>
            <a:r>
              <a:rPr lang="ko-KR" altLang="en-US" dirty="0"/>
              <a:t>개선 </a:t>
            </a:r>
            <a:r>
              <a:rPr lang="en-US" altLang="ko-KR" dirty="0"/>
              <a:t>: </a:t>
            </a:r>
            <a:r>
              <a:rPr lang="en-US" altLang="ko-KR" dirty="0" err="1"/>
              <a:t>Mixup</a:t>
            </a:r>
            <a:r>
              <a:rPr lang="en-US" altLang="ko-KR" dirty="0"/>
              <a:t>, EMA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2322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개선 과정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07820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78ECE-6FF5-A40B-EA12-63634100C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A8DC09-E0CB-9E1E-F74B-2255D9063A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C1D777-FB96-4922-5BF6-A659C470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최종 모델의 </a:t>
            </a:r>
            <a:r>
              <a:rPr lang="en-US" altLang="ko-KR" dirty="0"/>
              <a:t>fold </a:t>
            </a:r>
            <a:r>
              <a:rPr lang="ko-KR" altLang="en-US" dirty="0"/>
              <a:t>별 </a:t>
            </a:r>
            <a:r>
              <a:rPr lang="ko-KR" altLang="en-US" dirty="0" err="1"/>
              <a:t>히트맵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F19180-8F1C-D3D9-560C-6499B7EBA7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40620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41AED-87F0-57D5-5554-5FEF6B14D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173A10-0105-C5AA-E1DC-019EA7B2C2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C00C9C-62B1-95DA-6461-E705D42D0E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최종모델의 오차에 대한 통계</a:t>
            </a:r>
            <a:endParaRPr lang="en-US" altLang="ko-KR" dirty="0"/>
          </a:p>
          <a:p>
            <a:r>
              <a:rPr lang="ko-KR" altLang="en-US" dirty="0"/>
              <a:t>만약 </a:t>
            </a:r>
            <a:r>
              <a:rPr lang="en-US" altLang="ko-KR" dirty="0"/>
              <a:t>residual</a:t>
            </a:r>
            <a:r>
              <a:rPr lang="ko-KR" altLang="en-US" dirty="0"/>
              <a:t>이 정규분포가 아니라 한쪽으로 </a:t>
            </a:r>
            <a:r>
              <a:rPr lang="ko-KR" altLang="en-US" dirty="0" err="1"/>
              <a:t>쏠려있었으면</a:t>
            </a:r>
            <a:r>
              <a:rPr lang="ko-KR" altLang="en-US" dirty="0"/>
              <a:t> 그 부분을 공략해볼 수 </a:t>
            </a:r>
            <a:r>
              <a:rPr lang="ko-KR" altLang="en-US" dirty="0" err="1"/>
              <a:t>있었을텐데</a:t>
            </a:r>
            <a:r>
              <a:rPr lang="ko-KR" altLang="en-US" dirty="0"/>
              <a:t> 그렇지는 </a:t>
            </a:r>
            <a:r>
              <a:rPr lang="ko-KR" altLang="en-US" dirty="0" err="1"/>
              <a:t>않은듯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0CCC1F-37BC-0B7A-32A7-7DEB9E32F2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7020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F8171-8F35-C6A5-899E-F796C39B1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FCEE52-1A8E-5522-9424-7BC5D2BFBC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CCEE2D7-CFFC-ECE5-730F-38D7DF823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최종 모델의 </a:t>
            </a:r>
            <a:r>
              <a:rPr lang="ko-KR" altLang="en-US" dirty="0" err="1"/>
              <a:t>에러맵인데</a:t>
            </a:r>
            <a:r>
              <a:rPr lang="ko-KR" altLang="en-US" dirty="0"/>
              <a:t> 여기서 알 수 </a:t>
            </a:r>
            <a:r>
              <a:rPr lang="ko-KR" altLang="en-US" dirty="0" err="1"/>
              <a:t>있는것이</a:t>
            </a:r>
            <a:r>
              <a:rPr lang="ko-KR" altLang="en-US" dirty="0"/>
              <a:t> 딱히 있는지는 모르겠음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그냥 시각화 자료정도의 의미</a:t>
            </a:r>
            <a:r>
              <a:rPr lang="en-US" altLang="ko-KR" dirty="0"/>
              <a:t>..?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3B8B41-3569-DCCE-D138-0EDA185A1F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4343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29AD4-EA67-4321-DA0C-D308256E4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0966D5-BF83-F2EE-E098-AB51B9CDF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BC1095-48A5-98A1-B695-031CD014D6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초기 </a:t>
            </a:r>
            <a:r>
              <a:rPr lang="en-US" altLang="ko-KR" dirty="0"/>
              <a:t>DL</a:t>
            </a:r>
            <a:r>
              <a:rPr lang="ko-KR" altLang="en-US" dirty="0"/>
              <a:t>과의 비교</a:t>
            </a:r>
            <a:endParaRPr lang="en-US" altLang="ko-KR" dirty="0"/>
          </a:p>
          <a:p>
            <a:r>
              <a:rPr lang="en-US" altLang="ko-KR" dirty="0"/>
              <a:t>Fold2, 4</a:t>
            </a:r>
            <a:r>
              <a:rPr lang="ko-KR" altLang="en-US" dirty="0"/>
              <a:t>에서</a:t>
            </a:r>
            <a:r>
              <a:rPr lang="en-US" altLang="ko-KR" dirty="0"/>
              <a:t> </a:t>
            </a:r>
            <a:r>
              <a:rPr lang="ko-KR" altLang="en-US" dirty="0"/>
              <a:t>꽤 유의미한 개선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550BAD-B567-A439-6B61-864CD516CB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8453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0DEEC-1989-DB2C-3585-E30A3A01D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16216A-A50D-26D8-1A98-F8D99F5F35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384E20-F0AC-E45C-EAEA-909887011F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베이스라인인 </a:t>
            </a:r>
            <a:r>
              <a:rPr lang="en-US" altLang="ko-KR" dirty="0"/>
              <a:t>XGB</a:t>
            </a:r>
            <a:r>
              <a:rPr lang="ko-KR" altLang="en-US" dirty="0"/>
              <a:t>와의 비교</a:t>
            </a:r>
            <a:endParaRPr lang="en-US" altLang="ko-KR" dirty="0"/>
          </a:p>
          <a:p>
            <a:r>
              <a:rPr lang="ko-KR" altLang="en-US" dirty="0"/>
              <a:t>꽤 유의미한 상승</a:t>
            </a:r>
            <a:r>
              <a:rPr lang="en-US" altLang="ko-KR" dirty="0"/>
              <a:t>, </a:t>
            </a:r>
            <a:r>
              <a:rPr lang="ko-KR" altLang="en-US" dirty="0"/>
              <a:t>하지만 </a:t>
            </a:r>
            <a:r>
              <a:rPr lang="en-US" altLang="ko-KR" dirty="0"/>
              <a:t>fold4</a:t>
            </a:r>
            <a:r>
              <a:rPr lang="ko-KR" altLang="en-US" dirty="0"/>
              <a:t>에서는 여전히 뒤쳐짐</a:t>
            </a:r>
            <a:endParaRPr lang="en-US" altLang="ko-KR" dirty="0"/>
          </a:p>
          <a:p>
            <a:r>
              <a:rPr lang="en-US" altLang="ko-KR" dirty="0"/>
              <a:t>DL</a:t>
            </a:r>
            <a:r>
              <a:rPr lang="ko-KR" altLang="en-US" dirty="0"/>
              <a:t>에서 상당히 어려워하던 </a:t>
            </a:r>
            <a:r>
              <a:rPr lang="en-US" altLang="ko-KR" dirty="0"/>
              <a:t>fold4</a:t>
            </a:r>
            <a:r>
              <a:rPr lang="ko-KR" altLang="en-US" dirty="0"/>
              <a:t>가 </a:t>
            </a:r>
            <a:r>
              <a:rPr lang="en-US" altLang="ko-KR" dirty="0" err="1"/>
              <a:t>xgb</a:t>
            </a:r>
            <a:r>
              <a:rPr lang="ko-KR" altLang="en-US" dirty="0"/>
              <a:t>는 </a:t>
            </a:r>
            <a:r>
              <a:rPr lang="en-US" altLang="ko-KR" dirty="0"/>
              <a:t>2</a:t>
            </a:r>
            <a:r>
              <a:rPr lang="ko-KR" altLang="en-US" dirty="0"/>
              <a:t>번째로 성능이 </a:t>
            </a:r>
            <a:r>
              <a:rPr lang="ko-KR" altLang="en-US" dirty="0" err="1"/>
              <a:t>높다는것이</a:t>
            </a:r>
            <a:r>
              <a:rPr lang="ko-KR" altLang="en-US" dirty="0"/>
              <a:t> 흥미로운 포인트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10B3C3-F09C-09DF-9A45-8F2B92B9BC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47342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D54A-C977-380B-6708-1EE37F106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91EC3B-0395-9F00-4A04-4D783D0594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6A78AD-3048-37F6-01A9-48FAF76FD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XGB</a:t>
            </a:r>
            <a:r>
              <a:rPr lang="ko-KR" altLang="en-US" dirty="0"/>
              <a:t>와 최종 </a:t>
            </a:r>
            <a:r>
              <a:rPr lang="ko-KR" altLang="en-US" dirty="0" err="1"/>
              <a:t>모델간의</a:t>
            </a:r>
            <a:r>
              <a:rPr lang="ko-KR" altLang="en-US" dirty="0"/>
              <a:t> 모든 포인트 비교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30D093-27D1-C876-B50A-5454371CB8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998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Lot</a:t>
            </a:r>
            <a:r>
              <a:rPr lang="ko-KR" altLang="en-US" dirty="0"/>
              <a:t>단위 강건성 부족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2393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73E14-A277-A2AA-819A-77BEAF7DF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016C25-C025-7F15-56CB-B6EE2EE9B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70FC06-4423-C9A9-ACE4-ECE9C52FA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이외에도 여러 한계점 존재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 슬라이드에 대한 보충 설명 </a:t>
            </a:r>
            <a:r>
              <a:rPr lang="ko-KR" altLang="en-US" dirty="0" err="1"/>
              <a:t>필요할듯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95B7C9-23F7-F7D5-2A92-9DCAF8CC30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4285C-6431-4B5D-85A4-FDC338944384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55098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8D999-0375-9F50-6EF8-CE23066A4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784427-142B-67B9-3E89-77290A1735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082FEBF-9EB1-3AC2-524B-FBB21E5A1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파트도 확장 가능성 이외의</a:t>
            </a:r>
            <a:r>
              <a:rPr lang="en-US" altLang="ko-KR" dirty="0"/>
              <a:t> </a:t>
            </a:r>
            <a:r>
              <a:rPr lang="ko-KR" altLang="en-US" dirty="0"/>
              <a:t>추후과제에 대한 보충이 </a:t>
            </a:r>
            <a:r>
              <a:rPr lang="ko-KR" altLang="en-US" dirty="0" err="1"/>
              <a:t>필요할듯</a:t>
            </a:r>
            <a:r>
              <a:rPr lang="ko-KR" altLang="en-US" dirty="0"/>
              <a:t> 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E99EF7-F65C-E9BE-58C2-F47E352893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5273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5D2D5-2EA2-DA0F-2285-FA2B036BC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37C120-8DFA-A286-78A0-B65821A7D9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C08389-C60C-AB43-E7CC-AD6FC820C4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E90EFE-D925-B8DC-9557-62D0DAE1E2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1979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B35A7-6DE8-E286-CEC5-1D288AE4D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82F28F-E250-6772-AFEC-132AB0F91C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DB4EDB-3DB9-143A-D260-047D4C7413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403931-94AA-2111-8954-D67332723B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9804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60AC1-E284-658E-941A-CCA0DE3F2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B19957-8554-C666-A8C3-B1A835C482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2A8E45-2A1E-3F83-94F7-8F418769D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A63CC4-1CFC-384E-2884-242EB438CC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7723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087E6-1C06-E03E-ADBD-323F02E1C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76D329-BE01-2498-5438-84C9BEB4E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A79B3E-B28C-A7A7-A1F7-22E55A1390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78F05C-8230-F953-854A-F066870316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3149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31B248-B5EF-20AE-07C3-7D70F1F82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CAB29E1-6A58-AD40-1D2F-8411397C64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855D35-158E-A9B8-3044-10F791A5D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724-EC4F-49EC-81DC-705526236843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9C28A6-F9C6-DAEC-EBFA-00BC7F658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C80E62-052C-2C7E-18F0-33B5A6B57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054C-22D5-4CC7-AB16-AE3DD5C977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147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D036EB-D8D6-DE82-EFF2-7CCAE6668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3A6657-85E2-FF34-239A-94CA3BAE8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54499A-54D6-893D-83E3-AF2413352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724-EC4F-49EC-81DC-705526236843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DB95C0-A16E-3BE1-C648-77031E261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D9431B-AEAA-625A-6665-C646B80CC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054C-22D5-4CC7-AB16-AE3DD5C977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358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FAA8A4-C08F-6776-BF1E-7EBF456A7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472443-DCB4-D574-BA54-B0177265E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358DF2-558D-32C2-DA24-D6106917B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724-EC4F-49EC-81DC-705526236843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97C0F8-D4AF-8B5F-5EF1-46EF32DEE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F66D58-6D69-CECD-D1AB-697CC73C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054C-22D5-4CC7-AB16-AE3DD5C977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2714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046ADA-F1DB-0F2C-C9B6-5890087E9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62373D-0A4C-8B25-9DB4-42AB2BB38F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4BC4BB-CE7D-31EE-14E3-081C3589C4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D107F6-2076-C183-6FF7-8AE1E228B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724-EC4F-49EC-81DC-705526236843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B7388A-BE4A-9640-B6AF-17E803931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29A2C4-6A4D-C3A7-0D06-36E7825D6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054C-22D5-4CC7-AB16-AE3DD5C977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5287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2F87E9-724E-CA6A-C94C-6C24A98D7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FFCF54-7A84-8D93-8CF7-8AE7C0400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0498A7-31E2-EEC3-B407-6BB1E4A037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52ACC4B-FC95-96D9-8235-7993D6E31B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1C04156-8A6F-E1C5-290F-7B9AD5CCD4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5230E25-BB9C-DD22-DB54-B0D77FE31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724-EC4F-49EC-81DC-705526236843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804B18E-1573-B1B6-7DF8-3C5D0FF4A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74A2404-9D52-4E7E-1A0B-36DB809FB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054C-22D5-4CC7-AB16-AE3DD5C977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083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CA6456-B0FA-7A53-3902-30B122240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873BA63-D7F8-7CA3-58F1-808592646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724-EC4F-49EC-81DC-705526236843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0F8F31B-A585-627D-1B49-5536D32CF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BEE821-25F2-AB57-1824-4E6A141CF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054C-22D5-4CC7-AB16-AE3DD5C977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090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916D9F7-FDF8-5DC1-7C96-D5D6ED7D1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724-EC4F-49EC-81DC-705526236843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69662E2-1344-7806-5A8A-06DA60D3B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132C85-5D79-52D3-AA25-85BF28474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054C-22D5-4CC7-AB16-AE3DD5C977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4725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156BD3-3055-5E84-1BA1-EE0F0CEB8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1AA770-8901-5184-5795-594BA0C6C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F880CF-5CCA-EA2C-9026-D61A26E57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DA95DB-539F-B3E5-70B0-0C6B71768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724-EC4F-49EC-81DC-705526236843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328567-7F6C-713B-E3BC-8DC9CC6DC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36275E-FCAA-2D9C-5192-21B99AE2F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054C-22D5-4CC7-AB16-AE3DD5C977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2791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098339-1C25-791A-2E61-C122D6647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A0FA65-ED3D-05FB-2E69-58DE29F7E1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DD6928-BA93-95D1-8A87-1D867E730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2A11EA-F3C6-892A-43E5-ECC57614D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724-EC4F-49EC-81DC-705526236843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66AC39-1D9D-0075-AF1A-BD5A0FAA2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CAFE5A-5F66-660A-AA72-642D1D5B5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054C-22D5-4CC7-AB16-AE3DD5C977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803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05FE7C-C879-ACC0-2D23-500E1A574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EF62BF-209A-1E4F-A42A-649C03EBB8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5B9E6F-87DB-3202-D7BD-FE09B5FFA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724-EC4F-49EC-81DC-705526236843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8C7D87-880D-5C91-DBA7-8CCFC02B2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A8D160-E6A3-2D8D-06A2-263ECAD57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054C-22D5-4CC7-AB16-AE3DD5C977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418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B1499A7-B0EA-7722-D7BD-2F848FF2B9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E0FA73-81CD-BE46-5620-067BC8438A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6FB5DA-E233-CA7C-2DF2-03968A289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724-EC4F-49EC-81DC-705526236843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6DB7E6-D961-19C6-82F8-37E060BD5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A7A9B7-810C-44ED-C3E9-EE4A60CC4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054C-22D5-4CC7-AB16-AE3DD5C977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361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D7BF8EF-2560-F75F-528C-82AA77F65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29B2B1-3966-52FF-3FF4-F5019FB89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E03195-3CF6-C59A-2AEE-0C1A90CE89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73E724-EC4F-49EC-81DC-705526236843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C75021-66CA-4200-D097-51C16C80B9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65BD22-D752-BB05-76FF-BDF7E1562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25054C-22D5-4CC7-AB16-AE3DD5C977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616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i.org/10.5281/zenodo.17122442" TargetMode="External"/><Relationship Id="rId4" Type="http://schemas.openxmlformats.org/officeDocument/2006/relationships/image" Target="../media/image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9000"/>
          </a:blip>
          <a:stretch>
            <a:fillRect/>
          </a:stretch>
        </p:blipFill>
        <p:spPr>
          <a:xfrm>
            <a:off x="2838450" y="-158750"/>
            <a:ext cx="9645650" cy="7416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1000"/>
          </a:blip>
          <a:stretch>
            <a:fillRect/>
          </a:stretch>
        </p:blipFill>
        <p:spPr>
          <a:xfrm>
            <a:off x="10483850" y="2298700"/>
            <a:ext cx="2139950" cy="479425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95300" y="1052558"/>
            <a:ext cx="11125200" cy="1784350"/>
          </a:xfrm>
          <a:prstGeom prst="rect">
            <a:avLst/>
          </a:prstGeom>
        </p:spPr>
        <p:txBody>
          <a:bodyPr lIns="0" tIns="114513" rIns="0" bIns="0" rtlCol="0" anchor="t"/>
          <a:lstStyle/>
          <a:p>
            <a:pPr lvl="0">
              <a:lnSpc>
                <a:spcPct val="95449"/>
              </a:lnSpc>
            </a:pPr>
            <a:r>
              <a:rPr lang="ko-KR" altLang="en-US" sz="5400" spc="50" dirty="0">
                <a:solidFill>
                  <a:srgbClr val="202A3E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Pretendard ExtraBold" panose="02000903000000020004" pitchFamily="50" charset="-127"/>
              </a:rPr>
              <a:t>반도체 식각 공정 예측을 위한 </a:t>
            </a:r>
            <a:endParaRPr lang="en-US" altLang="ko-KR" sz="5400" spc="50" dirty="0">
              <a:solidFill>
                <a:srgbClr val="202A3E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  <a:cs typeface="Pretendard ExtraBold" panose="02000903000000020004" pitchFamily="50" charset="-127"/>
            </a:endParaRPr>
          </a:p>
          <a:p>
            <a:pPr lvl="0">
              <a:lnSpc>
                <a:spcPct val="95449"/>
              </a:lnSpc>
            </a:pPr>
            <a:r>
              <a:rPr lang="ko-KR" altLang="en-US" sz="5400" spc="50" dirty="0">
                <a:solidFill>
                  <a:srgbClr val="202A3E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Pretendard ExtraBold" panose="02000903000000020004" pitchFamily="50" charset="-127"/>
              </a:rPr>
              <a:t>시계열 </a:t>
            </a:r>
            <a:r>
              <a:rPr lang="en-US" altLang="ko-KR" sz="5400" spc="50" dirty="0">
                <a:solidFill>
                  <a:srgbClr val="202A3E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Pretendard ExtraBold" panose="02000903000000020004" pitchFamily="50" charset="-127"/>
              </a:rPr>
              <a:t>AI </a:t>
            </a:r>
            <a:r>
              <a:rPr lang="ko-KR" altLang="en-US" sz="5400" spc="50" dirty="0">
                <a:solidFill>
                  <a:srgbClr val="202A3E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Pretendard ExtraBold" panose="02000903000000020004" pitchFamily="50" charset="-127"/>
              </a:rPr>
              <a:t>모델</a:t>
            </a:r>
            <a:endParaRPr lang="en-US" sz="5400" spc="50" dirty="0">
              <a:solidFill>
                <a:srgbClr val="202A3E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  <a:cs typeface="Pretendard ExtraBold" panose="02000903000000020004" pitchFamily="50" charset="-127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alphaModFix amt="79000"/>
          </a:blip>
          <a:stretch>
            <a:fillRect/>
          </a:stretch>
        </p:blipFill>
        <p:spPr>
          <a:xfrm rot="8785357">
            <a:off x="9531350" y="2101850"/>
            <a:ext cx="1333500" cy="3568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52000"/>
          </a:blip>
          <a:stretch>
            <a:fillRect/>
          </a:stretch>
        </p:blipFill>
        <p:spPr>
          <a:xfrm rot="7657234">
            <a:off x="8102600" y="2616200"/>
            <a:ext cx="2000250" cy="3568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 rot="6669180">
            <a:off x="6369050" y="4051300"/>
            <a:ext cx="914400" cy="3390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>
            <a:alphaModFix amt="49000"/>
          </a:blip>
          <a:stretch>
            <a:fillRect/>
          </a:stretch>
        </p:blipFill>
        <p:spPr>
          <a:xfrm rot="14083532">
            <a:off x="9112250" y="1136650"/>
            <a:ext cx="2743200" cy="196215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alphaModFix amt="49000"/>
          </a:blip>
          <a:stretch>
            <a:fillRect/>
          </a:stretch>
        </p:blipFill>
        <p:spPr>
          <a:xfrm rot="4929301">
            <a:off x="5778500" y="5721350"/>
            <a:ext cx="2743200" cy="19621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495300" y="2927350"/>
            <a:ext cx="3695700" cy="571500"/>
          </a:xfrm>
          <a:prstGeom prst="rect">
            <a:avLst/>
          </a:prstGeom>
        </p:spPr>
        <p:txBody>
          <a:bodyPr lIns="0" tIns="22352" rIns="0" bIns="0" rtlCol="0" anchor="t"/>
          <a:lstStyle/>
          <a:p>
            <a:pPr lvl="0" algn="l">
              <a:lnSpc>
                <a:spcPct val="107070"/>
              </a:lnSpc>
            </a:pPr>
            <a:r>
              <a:rPr lang="ko-KR" altLang="en-US" sz="300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종합설계프로젝트 </a:t>
            </a:r>
            <a:r>
              <a:rPr lang="en-US" altLang="ko-KR" sz="300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6</a:t>
            </a:r>
            <a:r>
              <a:rPr lang="ko-KR" altLang="en-US" sz="300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조</a:t>
            </a:r>
            <a:endParaRPr lang="en-US" sz="3000" dirty="0">
              <a:solidFill>
                <a:srgbClr val="202A3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514350"/>
            <a:ext cx="2587665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Motivation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DA313B-3E17-9D4C-A942-A6DCFEE71331}"/>
              </a:ext>
            </a:extLst>
          </p:cNvPr>
          <p:cNvSpPr txBox="1"/>
          <p:nvPr/>
        </p:nvSpPr>
        <p:spPr>
          <a:xfrm>
            <a:off x="884903" y="1517525"/>
            <a:ext cx="10422195" cy="1700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반도체 제조 공정에서 웨이퍼의 품질 관리는 식각 깊이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(etch depth), </a:t>
            </a:r>
            <a:r>
              <a:rPr lang="ko-KR" altLang="en-US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산화막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두께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(oxide thickness)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등의 물리적 측정에 의존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가상 계측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(Virtual Metrology, VM)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은 이러한 물리적 측정값을 예측하는 기술 → 전수 검사 가능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공정 제어의 실시간성 향상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026" name="Picture 2" descr="VM 시스템 구성도">
            <a:extLst>
              <a:ext uri="{FF2B5EF4-FFF2-40B4-BE49-F238E27FC236}">
                <a16:creationId xmlns:a16="http://schemas.microsoft.com/office/drawing/2014/main" id="{031CD703-8FCC-B5F5-F8A0-2520DBD1F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463" y="3548850"/>
            <a:ext cx="8601075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4759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1622B-FCBE-4704-4230-F6CC740D2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>
            <a:extLst>
              <a:ext uri="{FF2B5EF4-FFF2-40B4-BE49-F238E27FC236}">
                <a16:creationId xmlns:a16="http://schemas.microsoft.com/office/drawing/2014/main" id="{9F95E052-3A62-D3DA-B83B-E745C5259D1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85AA350A-FAD3-F88B-43BB-8DCD3E91511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8C08584-2E9C-C377-3516-1F6E79D98CF8}"/>
              </a:ext>
            </a:extLst>
          </p:cNvPr>
          <p:cNvSpPr txBox="1"/>
          <p:nvPr/>
        </p:nvSpPr>
        <p:spPr>
          <a:xfrm>
            <a:off x="837004" y="1477492"/>
            <a:ext cx="10421545" cy="3783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(1) </a:t>
            </a:r>
            <a:r>
              <a:rPr lang="ko-KR" altLang="en-US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기존 </a:t>
            </a:r>
            <a:r>
              <a:rPr lang="en-US" altLang="ko-KR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OES VM</a:t>
            </a:r>
            <a:r>
              <a:rPr lang="ko-KR" altLang="en-US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 한계</a:t>
            </a:r>
            <a:endParaRPr lang="en-US" altLang="ko-KR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OES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는 원래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high-dimensional temporal signal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인데 평균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분산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PCA band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등으로 축약 →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temporal dynamics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손실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PCA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를 이용해 주요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wavelength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를 선택하고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integration band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및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statistics-based / dynamics-inspired feature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를 추출하여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VM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모델을 구축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(Chien et al., 2021)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(2) Deep Learning </a:t>
            </a:r>
            <a:r>
              <a:rPr lang="ko-KR" altLang="en-US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기반 </a:t>
            </a:r>
            <a:r>
              <a:rPr lang="en-US" altLang="ko-KR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VM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기존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handcrafted feature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대신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representation learning, OES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를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2D data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자체로 활용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DeepVM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연구에서는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convolutional autoencoder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를 이용해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OES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temporal–spectral structure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를 자동으로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feature extraction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더 높은 예측 성능을 달성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((Maggipinto et al., 2019)</a:t>
            </a:r>
            <a:endParaRPr lang="ko-KR" altLang="en-US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86C168EC-EFE8-8BC9-33DD-B6B9DF77928D}"/>
              </a:ext>
            </a:extLst>
          </p:cNvPr>
          <p:cNvSpPr txBox="1"/>
          <p:nvPr/>
        </p:nvSpPr>
        <p:spPr>
          <a:xfrm>
            <a:off x="514349" y="514350"/>
            <a:ext cx="3833369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VM</a:t>
            </a:r>
            <a:r>
              <a:rPr lang="ko-KR" alt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선행연구</a:t>
            </a:r>
            <a:endParaRPr lang="en-US" sz="4000" spc="50" dirty="0">
              <a:solidFill>
                <a:srgbClr val="202A3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56249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41915-B615-22FE-2F5A-4E1C2A26D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>
            <a:extLst>
              <a:ext uri="{FF2B5EF4-FFF2-40B4-BE49-F238E27FC236}">
                <a16:creationId xmlns:a16="http://schemas.microsoft.com/office/drawing/2014/main" id="{CD4E7BE9-7134-AC58-91F5-C53DC4AD0D8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C1184E29-6F37-AE44-9F88-EB58D11C08A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7E22FFEF-AD30-69AB-F063-5FA7DE8C3468}"/>
              </a:ext>
            </a:extLst>
          </p:cNvPr>
          <p:cNvGrpSpPr/>
          <p:nvPr/>
        </p:nvGrpSpPr>
        <p:grpSpPr>
          <a:xfrm>
            <a:off x="521110" y="1188093"/>
            <a:ext cx="11149781" cy="5401256"/>
            <a:chOff x="658761" y="1188093"/>
            <a:chExt cx="11149781" cy="5401256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EBCF773-A988-AD12-E920-3DCBC05B3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8761" y="1188093"/>
              <a:ext cx="4119716" cy="5401256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08D8FB8-6DBB-F4E7-7194-CF46FC12EE56}"/>
                </a:ext>
              </a:extLst>
            </p:cNvPr>
            <p:cNvSpPr txBox="1"/>
            <p:nvPr/>
          </p:nvSpPr>
          <p:spPr>
            <a:xfrm>
              <a:off x="4873728" y="1330008"/>
              <a:ext cx="6934814" cy="25374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b="1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BOSCH plasma etching </a:t>
              </a:r>
              <a:r>
                <a:rPr lang="ko-KR" altLang="en-US" b="1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공정에서 수집한 </a:t>
              </a:r>
              <a:r>
                <a:rPr lang="en-US" altLang="ko-KR" b="1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multimodal </a:t>
              </a:r>
              <a:r>
                <a:rPr lang="ko-KR" altLang="en-US" b="1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데이터셋</a:t>
              </a:r>
              <a:r>
                <a:rPr lang="en-US" altLang="ko-KR" b="1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플라즈마 내부 신호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(OES) + 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공정 </a:t>
              </a:r>
              <a:r>
                <a:rPr lang="ko-KR" altLang="en-US" dirty="0" err="1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센서값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+ 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웨이퍼 측정 결과를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한 번에 같이 제공</a:t>
              </a:r>
              <a:endPara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데이터 특성상 사이클 정보를 고려한 예측 방법 필요 → 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VM 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적용</a:t>
              </a:r>
              <a:endPara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기존 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VM 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연구에서는 대부분 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OES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를 축소하여 사용 → 사이클 간 시간적 변화 패턴 정보 손실</a:t>
              </a:r>
            </a:p>
          </p:txBody>
        </p:sp>
      </p:grpSp>
      <p:sp>
        <p:nvSpPr>
          <p:cNvPr id="4" name="TextBox 2">
            <a:extLst>
              <a:ext uri="{FF2B5EF4-FFF2-40B4-BE49-F238E27FC236}">
                <a16:creationId xmlns:a16="http://schemas.microsoft.com/office/drawing/2014/main" id="{130D8BFA-32D3-B344-8672-57DAAFBC1E0D}"/>
              </a:ext>
            </a:extLst>
          </p:cNvPr>
          <p:cNvSpPr txBox="1"/>
          <p:nvPr/>
        </p:nvSpPr>
        <p:spPr>
          <a:xfrm>
            <a:off x="514350" y="514350"/>
            <a:ext cx="2587665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Dataset</a:t>
            </a:r>
          </a:p>
        </p:txBody>
      </p:sp>
    </p:spTree>
    <p:extLst>
      <p:ext uri="{BB962C8B-B14F-4D97-AF65-F5344CB8AC3E}">
        <p14:creationId xmlns:p14="http://schemas.microsoft.com/office/powerpoint/2010/main" val="2645640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C4BD3-8258-09E6-9F29-B0D5E5C18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D5175A3-CAE2-78AC-7F3C-5ABD2B6651A0}"/>
              </a:ext>
            </a:extLst>
          </p:cNvPr>
          <p:cNvSpPr txBox="1"/>
          <p:nvPr/>
        </p:nvSpPr>
        <p:spPr>
          <a:xfrm>
            <a:off x="514350" y="514350"/>
            <a:ext cx="6343650" cy="891540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Dataset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388C114B-3AC7-EBE9-C7AC-4EB919F16AE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26EF98E2-F0CC-D5D0-19E8-9C2AEF4B0B7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65" name="Text 1">
            <a:extLst>
              <a:ext uri="{FF2B5EF4-FFF2-40B4-BE49-F238E27FC236}">
                <a16:creationId xmlns:a16="http://schemas.microsoft.com/office/drawing/2014/main" id="{C76549A1-8B2F-7EDD-76F1-3382C5E71804}"/>
              </a:ext>
            </a:extLst>
          </p:cNvPr>
          <p:cNvSpPr/>
          <p:nvPr/>
        </p:nvSpPr>
        <p:spPr>
          <a:xfrm>
            <a:off x="699201" y="1458767"/>
            <a:ext cx="7300184" cy="1024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dirty="0">
                <a:solidFill>
                  <a:srgbClr val="1A2744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BOSCH Plasma Etch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4400" dirty="0">
                <a:solidFill>
                  <a:srgbClr val="1A2744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Multi-Model Dataset</a:t>
            </a:r>
            <a:endParaRPr lang="en-US" sz="44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66" name="Text 2">
            <a:extLst>
              <a:ext uri="{FF2B5EF4-FFF2-40B4-BE49-F238E27FC236}">
                <a16:creationId xmlns:a16="http://schemas.microsoft.com/office/drawing/2014/main" id="{CEA37905-CB69-3F73-1797-88B7F27F6C07}"/>
              </a:ext>
            </a:extLst>
          </p:cNvPr>
          <p:cNvSpPr/>
          <p:nvPr/>
        </p:nvSpPr>
        <p:spPr>
          <a:xfrm>
            <a:off x="730470" y="269052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Zenodo  |  DOI: 10.5281/zenodo.17122442  |  CC-BY 4.0</a:t>
            </a:r>
            <a:endParaRPr lang="en-US" sz="16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4791599E-F482-0367-C555-78470E80C074}"/>
              </a:ext>
            </a:extLst>
          </p:cNvPr>
          <p:cNvGrpSpPr/>
          <p:nvPr/>
        </p:nvGrpSpPr>
        <p:grpSpPr>
          <a:xfrm>
            <a:off x="8055731" y="667223"/>
            <a:ext cx="3437068" cy="2437453"/>
            <a:chOff x="8379904" y="667223"/>
            <a:chExt cx="2931997" cy="2437453"/>
          </a:xfrm>
        </p:grpSpPr>
        <p:sp>
          <p:nvSpPr>
            <p:cNvPr id="68" name="Shape 18">
              <a:extLst>
                <a:ext uri="{FF2B5EF4-FFF2-40B4-BE49-F238E27FC236}">
                  <a16:creationId xmlns:a16="http://schemas.microsoft.com/office/drawing/2014/main" id="{26AA0AE7-0318-72A1-377B-F161F68AA40A}"/>
                </a:ext>
              </a:extLst>
            </p:cNvPr>
            <p:cNvSpPr/>
            <p:nvPr/>
          </p:nvSpPr>
          <p:spPr>
            <a:xfrm>
              <a:off x="8379904" y="667223"/>
              <a:ext cx="2931997" cy="2437453"/>
            </a:xfrm>
            <a:prstGeom prst="rect">
              <a:avLst/>
            </a:prstGeom>
            <a:solidFill>
              <a:srgbClr val="F0F4FA"/>
            </a:solidFill>
            <a:ln/>
          </p:spPr>
          <p:txBody>
            <a:bodyPr/>
            <a:lstStyle/>
            <a:p>
              <a:endPara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69" name="Shape 19">
              <a:extLst>
                <a:ext uri="{FF2B5EF4-FFF2-40B4-BE49-F238E27FC236}">
                  <a16:creationId xmlns:a16="http://schemas.microsoft.com/office/drawing/2014/main" id="{8B2CE18E-0D5E-7CFC-6191-AEFA98696748}"/>
                </a:ext>
              </a:extLst>
            </p:cNvPr>
            <p:cNvSpPr/>
            <p:nvPr/>
          </p:nvSpPr>
          <p:spPr>
            <a:xfrm>
              <a:off x="8379904" y="667223"/>
              <a:ext cx="70368" cy="2437453"/>
            </a:xfrm>
            <a:prstGeom prst="rect">
              <a:avLst/>
            </a:prstGeom>
            <a:solidFill>
              <a:srgbClr val="1A2744"/>
            </a:solidFill>
            <a:ln/>
          </p:spPr>
          <p:txBody>
            <a:bodyPr/>
            <a:lstStyle/>
            <a:p>
              <a:endParaRPr lang="ko-KR" altLang="en-US" sz="24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477ED4E6-6886-6690-F7A4-BBF95B613D1E}"/>
              </a:ext>
            </a:extLst>
          </p:cNvPr>
          <p:cNvGrpSpPr/>
          <p:nvPr/>
        </p:nvGrpSpPr>
        <p:grpSpPr>
          <a:xfrm>
            <a:off x="8318158" y="843549"/>
            <a:ext cx="2887137" cy="2084801"/>
            <a:chOff x="8673104" y="770944"/>
            <a:chExt cx="2462877" cy="2084801"/>
          </a:xfrm>
        </p:grpSpPr>
        <p:sp>
          <p:nvSpPr>
            <p:cNvPr id="70" name="Text 20">
              <a:extLst>
                <a:ext uri="{FF2B5EF4-FFF2-40B4-BE49-F238E27FC236}">
                  <a16:creationId xmlns:a16="http://schemas.microsoft.com/office/drawing/2014/main" id="{112754D7-2A2F-FC04-2AF3-DD21B05EB8A2}"/>
                </a:ext>
              </a:extLst>
            </p:cNvPr>
            <p:cNvSpPr/>
            <p:nvPr/>
          </p:nvSpPr>
          <p:spPr>
            <a:xfrm>
              <a:off x="8673104" y="770944"/>
              <a:ext cx="2462877" cy="1866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563E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장비</a:t>
              </a:r>
              <a:endParaRPr lang="en-US" sz="105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1" name="Text 21">
              <a:extLst>
                <a:ext uri="{FF2B5EF4-FFF2-40B4-BE49-F238E27FC236}">
                  <a16:creationId xmlns:a16="http://schemas.microsoft.com/office/drawing/2014/main" id="{DB4A70D9-4018-DF93-720A-2825A451A88B}"/>
                </a:ext>
              </a:extLst>
            </p:cNvPr>
            <p:cNvSpPr/>
            <p:nvPr/>
          </p:nvSpPr>
          <p:spPr>
            <a:xfrm>
              <a:off x="8673104" y="993530"/>
              <a:ext cx="2462877" cy="363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SPTS Omega i2L</a:t>
              </a:r>
              <a:endParaRPr 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DSi Rapier (ICP-RIE)</a:t>
              </a:r>
              <a:endParaRPr 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2" name="Text 22">
              <a:extLst>
                <a:ext uri="{FF2B5EF4-FFF2-40B4-BE49-F238E27FC236}">
                  <a16:creationId xmlns:a16="http://schemas.microsoft.com/office/drawing/2014/main" id="{9FF4F9A7-9F79-08B8-414E-4A98D3AABA51}"/>
                </a:ext>
              </a:extLst>
            </p:cNvPr>
            <p:cNvSpPr/>
            <p:nvPr/>
          </p:nvSpPr>
          <p:spPr>
            <a:xfrm>
              <a:off x="8673104" y="1392442"/>
              <a:ext cx="2462877" cy="1866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563E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웨이퍼</a:t>
              </a:r>
              <a:endParaRPr lang="en-US" sz="105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3" name="Text 23">
              <a:extLst>
                <a:ext uri="{FF2B5EF4-FFF2-40B4-BE49-F238E27FC236}">
                  <a16:creationId xmlns:a16="http://schemas.microsoft.com/office/drawing/2014/main" id="{430A32F0-DFE8-8DB9-F013-1E6F342EDA8F}"/>
                </a:ext>
              </a:extLst>
            </p:cNvPr>
            <p:cNvSpPr/>
            <p:nvPr/>
          </p:nvSpPr>
          <p:spPr>
            <a:xfrm>
              <a:off x="8673104" y="1615028"/>
              <a:ext cx="2462877" cy="1740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200mm Si &lt;100&gt;</a:t>
              </a:r>
              <a:endParaRPr 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4" name="Text 24">
              <a:extLst>
                <a:ext uri="{FF2B5EF4-FFF2-40B4-BE49-F238E27FC236}">
                  <a16:creationId xmlns:a16="http://schemas.microsoft.com/office/drawing/2014/main" id="{F375F0CE-DB53-6BAB-A0D0-226B21CA9ECE}"/>
                </a:ext>
              </a:extLst>
            </p:cNvPr>
            <p:cNvSpPr/>
            <p:nvPr/>
          </p:nvSpPr>
          <p:spPr>
            <a:xfrm>
              <a:off x="8673104" y="1824962"/>
              <a:ext cx="2462877" cy="1866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563E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공정</a:t>
              </a:r>
              <a:endParaRPr lang="en-US" sz="105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5" name="Text 25">
              <a:extLst>
                <a:ext uri="{FF2B5EF4-FFF2-40B4-BE49-F238E27FC236}">
                  <a16:creationId xmlns:a16="http://schemas.microsoft.com/office/drawing/2014/main" id="{863526F0-56B1-4647-5FDC-72093A6D0764}"/>
                </a:ext>
              </a:extLst>
            </p:cNvPr>
            <p:cNvSpPr/>
            <p:nvPr/>
          </p:nvSpPr>
          <p:spPr>
            <a:xfrm>
              <a:off x="8673104" y="2047548"/>
              <a:ext cx="2462877" cy="363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BOSCH (SF₆/C₄F₈)</a:t>
              </a:r>
              <a:endParaRPr 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100 cycles</a:t>
              </a:r>
              <a:endParaRPr 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6" name="Text 26">
              <a:extLst>
                <a:ext uri="{FF2B5EF4-FFF2-40B4-BE49-F238E27FC236}">
                  <a16:creationId xmlns:a16="http://schemas.microsoft.com/office/drawing/2014/main" id="{8BB8B4AA-53A1-B5D9-2C92-FCD61E32DA7A}"/>
                </a:ext>
              </a:extLst>
            </p:cNvPr>
            <p:cNvSpPr/>
            <p:nvPr/>
          </p:nvSpPr>
          <p:spPr>
            <a:xfrm>
              <a:off x="8673104" y="2446460"/>
              <a:ext cx="2462877" cy="1866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563E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규모</a:t>
              </a:r>
              <a:endParaRPr lang="en-US" sz="105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7" name="Text 27">
              <a:extLst>
                <a:ext uri="{FF2B5EF4-FFF2-40B4-BE49-F238E27FC236}">
                  <a16:creationId xmlns:a16="http://schemas.microsoft.com/office/drawing/2014/main" id="{C8F35BCC-120A-D69A-42DD-5711AFCFCC6F}"/>
                </a:ext>
              </a:extLst>
            </p:cNvPr>
            <p:cNvSpPr/>
            <p:nvPr/>
          </p:nvSpPr>
          <p:spPr>
            <a:xfrm>
              <a:off x="8673104" y="2669046"/>
              <a:ext cx="2462877" cy="1866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10 lots × 10 wafers ≈ 100</a:t>
              </a:r>
              <a:endParaRPr 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sp>
        <p:nvSpPr>
          <p:cNvPr id="78" name="Shape 3">
            <a:extLst>
              <a:ext uri="{FF2B5EF4-FFF2-40B4-BE49-F238E27FC236}">
                <a16:creationId xmlns:a16="http://schemas.microsoft.com/office/drawing/2014/main" id="{A87DA584-9C91-660C-4DF1-D7522F565041}"/>
              </a:ext>
            </a:extLst>
          </p:cNvPr>
          <p:cNvSpPr/>
          <p:nvPr/>
        </p:nvSpPr>
        <p:spPr>
          <a:xfrm>
            <a:off x="699201" y="3417003"/>
            <a:ext cx="3437068" cy="1989881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ko-KR" altLang="en-US" sz="24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9" name="Shape 4">
            <a:extLst>
              <a:ext uri="{FF2B5EF4-FFF2-40B4-BE49-F238E27FC236}">
                <a16:creationId xmlns:a16="http://schemas.microsoft.com/office/drawing/2014/main" id="{CE630992-ABC6-2981-08F7-B45E223D9202}"/>
              </a:ext>
            </a:extLst>
          </p:cNvPr>
          <p:cNvSpPr/>
          <p:nvPr/>
        </p:nvSpPr>
        <p:spPr>
          <a:xfrm>
            <a:off x="699201" y="3417003"/>
            <a:ext cx="72359" cy="1989881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0" name="Text 5">
            <a:extLst>
              <a:ext uri="{FF2B5EF4-FFF2-40B4-BE49-F238E27FC236}">
                <a16:creationId xmlns:a16="http://schemas.microsoft.com/office/drawing/2014/main" id="{905CF016-786C-7FC1-91CA-98CAC4E94343}"/>
              </a:ext>
            </a:extLst>
          </p:cNvPr>
          <p:cNvSpPr/>
          <p:nvPr/>
        </p:nvSpPr>
        <p:spPr>
          <a:xfrm>
            <a:off x="1000698" y="3477302"/>
            <a:ext cx="2894373" cy="663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2744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3,648</a:t>
            </a:r>
            <a:endParaRPr lang="en-US" sz="40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81" name="Text 6">
            <a:extLst>
              <a:ext uri="{FF2B5EF4-FFF2-40B4-BE49-F238E27FC236}">
                <a16:creationId xmlns:a16="http://schemas.microsoft.com/office/drawing/2014/main" id="{6833D00E-BC3E-48D7-00A5-FBF74C15569C}"/>
              </a:ext>
            </a:extLst>
          </p:cNvPr>
          <p:cNvSpPr/>
          <p:nvPr/>
        </p:nvSpPr>
        <p:spPr>
          <a:xfrm>
            <a:off x="1000698" y="4080297"/>
            <a:ext cx="2894373" cy="36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채널</a:t>
            </a:r>
            <a:endParaRPr lang="en-US" sz="1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2" name="Text 7">
            <a:extLst>
              <a:ext uri="{FF2B5EF4-FFF2-40B4-BE49-F238E27FC236}">
                <a16:creationId xmlns:a16="http://schemas.microsoft.com/office/drawing/2014/main" id="{19D64436-F667-AE40-209C-2B0358F16CD7}"/>
              </a:ext>
            </a:extLst>
          </p:cNvPr>
          <p:cNvSpPr/>
          <p:nvPr/>
        </p:nvSpPr>
        <p:spPr>
          <a:xfrm>
            <a:off x="1000698" y="4442093"/>
            <a:ext cx="2894373" cy="84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광학 방출 스펙트럼</a:t>
            </a:r>
            <a:endParaRPr lang="en-US" sz="11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185 ~ 884 nm, 25Hz</a:t>
            </a:r>
            <a:endParaRPr lang="en-US" sz="11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3" name="Shape 8">
            <a:extLst>
              <a:ext uri="{FF2B5EF4-FFF2-40B4-BE49-F238E27FC236}">
                <a16:creationId xmlns:a16="http://schemas.microsoft.com/office/drawing/2014/main" id="{1097DBC8-1F23-2319-4E1A-BBBED0ED86A7}"/>
              </a:ext>
            </a:extLst>
          </p:cNvPr>
          <p:cNvSpPr/>
          <p:nvPr/>
        </p:nvSpPr>
        <p:spPr>
          <a:xfrm>
            <a:off x="4377466" y="3417003"/>
            <a:ext cx="3437068" cy="1989881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ko-KR" altLang="en-US" sz="24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4" name="Shape 9">
            <a:extLst>
              <a:ext uri="{FF2B5EF4-FFF2-40B4-BE49-F238E27FC236}">
                <a16:creationId xmlns:a16="http://schemas.microsoft.com/office/drawing/2014/main" id="{AA290658-5265-9386-05CC-062CFA5E8F4B}"/>
              </a:ext>
            </a:extLst>
          </p:cNvPr>
          <p:cNvSpPr/>
          <p:nvPr/>
        </p:nvSpPr>
        <p:spPr>
          <a:xfrm>
            <a:off x="4377466" y="3417003"/>
            <a:ext cx="72359" cy="1989881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5" name="Text 10">
            <a:extLst>
              <a:ext uri="{FF2B5EF4-FFF2-40B4-BE49-F238E27FC236}">
                <a16:creationId xmlns:a16="http://schemas.microsoft.com/office/drawing/2014/main" id="{C0136110-2D90-0A9A-4743-BD9DCB9636B5}"/>
              </a:ext>
            </a:extLst>
          </p:cNvPr>
          <p:cNvSpPr/>
          <p:nvPr/>
        </p:nvSpPr>
        <p:spPr>
          <a:xfrm>
            <a:off x="4678963" y="3477302"/>
            <a:ext cx="2894373" cy="663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2744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31</a:t>
            </a:r>
            <a:endParaRPr lang="en-US" sz="40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86" name="Text 11">
            <a:extLst>
              <a:ext uri="{FF2B5EF4-FFF2-40B4-BE49-F238E27FC236}">
                <a16:creationId xmlns:a16="http://schemas.microsoft.com/office/drawing/2014/main" id="{7A79F0E9-9147-2411-6057-44AD7DC6F2F4}"/>
              </a:ext>
            </a:extLst>
          </p:cNvPr>
          <p:cNvSpPr/>
          <p:nvPr/>
        </p:nvSpPr>
        <p:spPr>
          <a:xfrm>
            <a:off x="4678963" y="4080297"/>
            <a:ext cx="2894373" cy="36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파라미터</a:t>
            </a:r>
            <a:endParaRPr lang="en-US" sz="1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7" name="Text 12">
            <a:extLst>
              <a:ext uri="{FF2B5EF4-FFF2-40B4-BE49-F238E27FC236}">
                <a16:creationId xmlns:a16="http://schemas.microsoft.com/office/drawing/2014/main" id="{631EDC92-6F5D-B534-5FBD-49C326B8E7FD}"/>
              </a:ext>
            </a:extLst>
          </p:cNvPr>
          <p:cNvSpPr/>
          <p:nvPr/>
        </p:nvSpPr>
        <p:spPr>
          <a:xfrm>
            <a:off x="4678963" y="4442093"/>
            <a:ext cx="2894373" cy="84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공정 센서 데이터</a:t>
            </a:r>
            <a:endParaRPr lang="en-US" sz="11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RF Power, 가스, 압력 등</a:t>
            </a:r>
            <a:endParaRPr lang="en-US" sz="11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8" name="Shape 13">
            <a:extLst>
              <a:ext uri="{FF2B5EF4-FFF2-40B4-BE49-F238E27FC236}">
                <a16:creationId xmlns:a16="http://schemas.microsoft.com/office/drawing/2014/main" id="{04A0249C-FC33-94D0-4F31-806F9F9C8C9B}"/>
              </a:ext>
            </a:extLst>
          </p:cNvPr>
          <p:cNvSpPr/>
          <p:nvPr/>
        </p:nvSpPr>
        <p:spPr>
          <a:xfrm>
            <a:off x="8055731" y="3417003"/>
            <a:ext cx="3437068" cy="1989881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ko-KR" altLang="en-US" sz="24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9" name="Shape 14">
            <a:extLst>
              <a:ext uri="{FF2B5EF4-FFF2-40B4-BE49-F238E27FC236}">
                <a16:creationId xmlns:a16="http://schemas.microsoft.com/office/drawing/2014/main" id="{8F82E976-B295-8372-45B7-F338C8361671}"/>
              </a:ext>
            </a:extLst>
          </p:cNvPr>
          <p:cNvSpPr/>
          <p:nvPr/>
        </p:nvSpPr>
        <p:spPr>
          <a:xfrm>
            <a:off x="8055731" y="3417003"/>
            <a:ext cx="72359" cy="1989881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0" name="Text 15">
            <a:extLst>
              <a:ext uri="{FF2B5EF4-FFF2-40B4-BE49-F238E27FC236}">
                <a16:creationId xmlns:a16="http://schemas.microsoft.com/office/drawing/2014/main" id="{FA4CE38C-0840-EEDC-2662-9AE3ABEAA832}"/>
              </a:ext>
            </a:extLst>
          </p:cNvPr>
          <p:cNvSpPr/>
          <p:nvPr/>
        </p:nvSpPr>
        <p:spPr>
          <a:xfrm>
            <a:off x="8357229" y="3477302"/>
            <a:ext cx="2894373" cy="663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2744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9/89</a:t>
            </a:r>
            <a:endParaRPr lang="en-US" sz="40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91" name="Text 16">
            <a:extLst>
              <a:ext uri="{FF2B5EF4-FFF2-40B4-BE49-F238E27FC236}">
                <a16:creationId xmlns:a16="http://schemas.microsoft.com/office/drawing/2014/main" id="{77F824DA-C4E1-FD42-16C8-C5565321DF28}"/>
              </a:ext>
            </a:extLst>
          </p:cNvPr>
          <p:cNvSpPr/>
          <p:nvPr/>
        </p:nvSpPr>
        <p:spPr>
          <a:xfrm>
            <a:off x="8357229" y="4080297"/>
            <a:ext cx="2894373" cy="36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포인트</a:t>
            </a:r>
            <a:endParaRPr lang="en-US" sz="1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2" name="Text 17">
            <a:extLst>
              <a:ext uri="{FF2B5EF4-FFF2-40B4-BE49-F238E27FC236}">
                <a16:creationId xmlns:a16="http://schemas.microsoft.com/office/drawing/2014/main" id="{A096E610-0F38-450B-EE69-4D2935128EBF}"/>
              </a:ext>
            </a:extLst>
          </p:cNvPr>
          <p:cNvSpPr/>
          <p:nvPr/>
        </p:nvSpPr>
        <p:spPr>
          <a:xfrm>
            <a:off x="8357229" y="4442093"/>
            <a:ext cx="2894373" cy="84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웨이퍼 계측값</a:t>
            </a:r>
            <a:endParaRPr lang="en-US" sz="11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Etch Depth, Oxide 두께</a:t>
            </a:r>
            <a:endParaRPr lang="en-US" sz="11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3" name="Shape 28">
            <a:extLst>
              <a:ext uri="{FF2B5EF4-FFF2-40B4-BE49-F238E27FC236}">
                <a16:creationId xmlns:a16="http://schemas.microsoft.com/office/drawing/2014/main" id="{CBD9AE42-F8EB-B03B-DD52-383040CCB9D0}"/>
              </a:ext>
            </a:extLst>
          </p:cNvPr>
          <p:cNvSpPr/>
          <p:nvPr/>
        </p:nvSpPr>
        <p:spPr>
          <a:xfrm>
            <a:off x="699201" y="5648082"/>
            <a:ext cx="10793598" cy="542695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ko-KR" altLang="en-US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4" name="Text 29">
            <a:extLst>
              <a:ext uri="{FF2B5EF4-FFF2-40B4-BE49-F238E27FC236}">
                <a16:creationId xmlns:a16="http://schemas.microsoft.com/office/drawing/2014/main" id="{C7F23FD0-70B1-9B4F-5CBD-905BE5406E68}"/>
              </a:ext>
            </a:extLst>
          </p:cNvPr>
          <p:cNvSpPr/>
          <p:nvPr/>
        </p:nvSpPr>
        <p:spPr>
          <a:xfrm>
            <a:off x="940399" y="5684262"/>
            <a:ext cx="10130304" cy="458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OES + 공정 파라미터(X)로 Etch Depth(Y)를 예측하는 가상 계측(VM) 모델의 학습 데이터</a:t>
            </a:r>
            <a:endParaRPr lang="en-US" sz="1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6387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A6C42-1A12-C903-5581-6BD58BCA9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>
            <a:extLst>
              <a:ext uri="{FF2B5EF4-FFF2-40B4-BE49-F238E27FC236}">
                <a16:creationId xmlns:a16="http://schemas.microsoft.com/office/drawing/2014/main" id="{23AD093C-1908-2048-CF62-1C2D5797450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D778C96C-7DCB-1C32-D440-3C0A96E7BEF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45" name="TextBox 2">
            <a:extLst>
              <a:ext uri="{FF2B5EF4-FFF2-40B4-BE49-F238E27FC236}">
                <a16:creationId xmlns:a16="http://schemas.microsoft.com/office/drawing/2014/main" id="{65AE0E54-91AE-893D-0489-C5809F6BEB82}"/>
              </a:ext>
            </a:extLst>
          </p:cNvPr>
          <p:cNvSpPr txBox="1"/>
          <p:nvPr/>
        </p:nvSpPr>
        <p:spPr>
          <a:xfrm>
            <a:off x="514350" y="514350"/>
            <a:ext cx="6343650" cy="631544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Dataset</a:t>
            </a:r>
          </a:p>
        </p:txBody>
      </p:sp>
      <p:sp>
        <p:nvSpPr>
          <p:cNvPr id="46" name="Text 0">
            <a:extLst>
              <a:ext uri="{FF2B5EF4-FFF2-40B4-BE49-F238E27FC236}">
                <a16:creationId xmlns:a16="http://schemas.microsoft.com/office/drawing/2014/main" id="{45602636-7D7A-CB53-E760-0E8E09DE401B}"/>
              </a:ext>
            </a:extLst>
          </p:cNvPr>
          <p:cNvSpPr/>
          <p:nvPr/>
        </p:nvSpPr>
        <p:spPr>
          <a:xfrm>
            <a:off x="814859" y="1323925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dirty="0" err="1">
                <a:solidFill>
                  <a:srgbClr val="1A274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타겟</a:t>
            </a:r>
            <a:r>
              <a:rPr lang="en-US" altLang="ko-KR" sz="2400" dirty="0">
                <a:solidFill>
                  <a:srgbClr val="1A274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2400" dirty="0" err="1">
                <a:solidFill>
                  <a:srgbClr val="1A274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변수</a:t>
            </a:r>
            <a:r>
              <a:rPr lang="en-US" altLang="ko-KR" sz="2400" dirty="0">
                <a:solidFill>
                  <a:srgbClr val="1A274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(Y) 및 </a:t>
            </a:r>
            <a:r>
              <a:rPr lang="en-US" altLang="ko-KR" sz="2400" dirty="0" err="1">
                <a:solidFill>
                  <a:srgbClr val="1A274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데이터</a:t>
            </a:r>
            <a:r>
              <a:rPr lang="en-US" altLang="ko-KR" sz="2400" dirty="0">
                <a:solidFill>
                  <a:srgbClr val="1A274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2400" dirty="0" err="1">
                <a:solidFill>
                  <a:srgbClr val="1A274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파이프라인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CCFDA115-F354-C074-FE9F-2C97A671B006}"/>
              </a:ext>
            </a:extLst>
          </p:cNvPr>
          <p:cNvSpPr/>
          <p:nvPr/>
        </p:nvSpPr>
        <p:spPr>
          <a:xfrm>
            <a:off x="814859" y="1781125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dirty="0" err="1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무엇을</a:t>
            </a:r>
            <a:r>
              <a:rPr lang="en-US" altLang="ko-KR" sz="14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400" dirty="0" err="1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예측하고</a:t>
            </a:r>
            <a:r>
              <a:rPr lang="en-US" altLang="ko-KR" sz="14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altLang="ko-KR" sz="1400" dirty="0" err="1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어떻게</a:t>
            </a:r>
            <a:r>
              <a:rPr lang="en-US" altLang="ko-KR" sz="14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400" dirty="0" err="1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모델에</a:t>
            </a:r>
            <a:r>
              <a:rPr lang="en-US" altLang="ko-KR" sz="14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400" dirty="0" err="1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들어가는가</a:t>
            </a:r>
            <a:endParaRPr lang="en-US" altLang="ko-KR" sz="1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29" name="그림 128">
            <a:extLst>
              <a:ext uri="{FF2B5EF4-FFF2-40B4-BE49-F238E27FC236}">
                <a16:creationId xmlns:a16="http://schemas.microsoft.com/office/drawing/2014/main" id="{F6A7FAF9-2122-3731-6D8C-EDE45E2FD0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3200" y="2249510"/>
            <a:ext cx="9245600" cy="383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597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B8620-8EB8-31B3-6E3A-85FF90CD3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11414E6-7E22-65C7-A84A-6061E791464A}"/>
              </a:ext>
            </a:extLst>
          </p:cNvPr>
          <p:cNvSpPr txBox="1"/>
          <p:nvPr/>
        </p:nvSpPr>
        <p:spPr>
          <a:xfrm>
            <a:off x="514350" y="314637"/>
            <a:ext cx="7179541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Pipeline-</a:t>
            </a:r>
            <a:r>
              <a:rPr lang="en-US" sz="4000" spc="50" dirty="0" err="1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XGBoost</a:t>
            </a:r>
            <a:endParaRPr lang="en-US" sz="4000" spc="50" dirty="0">
              <a:solidFill>
                <a:srgbClr val="202A3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3B21766E-55F7-2C36-70FD-4C886C8D753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713BBB68-1F1B-44F0-99B6-EA4F39653C0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C5477D1-F820-6ACC-9B9E-56430084B5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04950" y="1232605"/>
            <a:ext cx="9182100" cy="516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790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F090D1A-7383-E8D7-9DE4-723D879823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439" y="1135022"/>
            <a:ext cx="7211122" cy="5408341"/>
          </a:xfrm>
          <a:prstGeom prst="rect">
            <a:avLst/>
          </a:prstGeom>
        </p:spPr>
      </p:pic>
      <p:sp>
        <p:nvSpPr>
          <p:cNvPr id="4" name="TextBox 2">
            <a:extLst>
              <a:ext uri="{FF2B5EF4-FFF2-40B4-BE49-F238E27FC236}">
                <a16:creationId xmlns:a16="http://schemas.microsoft.com/office/drawing/2014/main" id="{CFD89C4E-55EC-74DE-0A9D-D2BB3DDAD00E}"/>
              </a:ext>
            </a:extLst>
          </p:cNvPr>
          <p:cNvSpPr txBox="1"/>
          <p:nvPr/>
        </p:nvSpPr>
        <p:spPr>
          <a:xfrm>
            <a:off x="514350" y="314637"/>
            <a:ext cx="7179541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Pipeline-DL</a:t>
            </a:r>
          </a:p>
        </p:txBody>
      </p:sp>
    </p:spTree>
    <p:extLst>
      <p:ext uri="{BB962C8B-B14F-4D97-AF65-F5344CB8AC3E}">
        <p14:creationId xmlns:p14="http://schemas.microsoft.com/office/powerpoint/2010/main" val="3265249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780CC-C326-8D79-3F33-72219DE51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02F53D3-41E7-2410-3F31-A41B6BD63443}"/>
              </a:ext>
            </a:extLst>
          </p:cNvPr>
          <p:cNvSpPr txBox="1"/>
          <p:nvPr/>
        </p:nvSpPr>
        <p:spPr>
          <a:xfrm>
            <a:off x="514350" y="314637"/>
            <a:ext cx="5239679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>
              <a:lnSpc>
                <a:spcPct val="103749"/>
              </a:lnSpc>
            </a:pPr>
            <a:r>
              <a:rPr lang="en-US" altLang="ko-KR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Pipeline-DL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E4D09CD9-FD12-6B9E-778C-A556B64BDD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2B8BC640-D965-0DB3-E698-434EE949203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A3FD777-A49A-8D85-0BAE-547AE0B7AE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083" y="1096796"/>
            <a:ext cx="8131834" cy="542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358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471154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D41"/>
                </a:solidFill>
                <a:latin typeface="Malgun Gothic"/>
              </a:defRPr>
            </a:pPr>
            <a:r>
              <a:rPr dirty="0"/>
              <a:t>문제</a:t>
            </a:r>
            <a:r>
              <a:rPr lang="en-US" dirty="0"/>
              <a:t>1.</a:t>
            </a:r>
            <a:r>
              <a:rPr dirty="0"/>
              <a:t> </a:t>
            </a:r>
            <a:r>
              <a:rPr dirty="0" err="1"/>
              <a:t>DL이</a:t>
            </a:r>
            <a:r>
              <a:rPr dirty="0"/>
              <a:t> </a:t>
            </a:r>
            <a:r>
              <a:rPr dirty="0" err="1"/>
              <a:t>Si를</a:t>
            </a:r>
            <a:r>
              <a:rPr dirty="0"/>
              <a:t> 못 맞</a:t>
            </a:r>
            <a:r>
              <a:rPr lang="ko-KR" altLang="en-US" dirty="0"/>
              <a:t>추는 문제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85010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6370"/>
                </a:solidFill>
                <a:latin typeface="Malgun Gothic"/>
              </a:defRPr>
            </a:pPr>
            <a:r>
              <a:rPr sz="2000" dirty="0"/>
              <a:t>XGB </a:t>
            </a:r>
            <a:r>
              <a:rPr sz="2000" dirty="0" err="1"/>
              <a:t>baseline은</a:t>
            </a:r>
            <a:r>
              <a:rPr sz="2000" dirty="0"/>
              <a:t> </a:t>
            </a:r>
            <a:r>
              <a:rPr sz="2000" dirty="0" err="1"/>
              <a:t>Si를</a:t>
            </a:r>
            <a:r>
              <a:rPr sz="2000" dirty="0"/>
              <a:t> </a:t>
            </a:r>
            <a:r>
              <a:rPr sz="2000" dirty="0" err="1"/>
              <a:t>이미</a:t>
            </a:r>
            <a:r>
              <a:rPr sz="2000" dirty="0"/>
              <a:t> </a:t>
            </a:r>
            <a:r>
              <a:rPr sz="2000" dirty="0" err="1"/>
              <a:t>매우</a:t>
            </a:r>
            <a:r>
              <a:rPr sz="2000" dirty="0"/>
              <a:t> 잘 </a:t>
            </a:r>
            <a:r>
              <a:rPr sz="2000" dirty="0" err="1"/>
              <a:t>예측</a:t>
            </a:r>
            <a:endParaRPr sz="2000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77698A1A-5F00-33D0-962D-9CB5170121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61" y="1882120"/>
            <a:ext cx="10659308" cy="42626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0C539-3BF9-F6EA-92C5-A35C5FC25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3911EE9-46CE-CE79-9595-2584950EB688}"/>
              </a:ext>
            </a:extLst>
          </p:cNvPr>
          <p:cNvSpPr txBox="1"/>
          <p:nvPr/>
        </p:nvSpPr>
        <p:spPr>
          <a:xfrm>
            <a:off x="514350" y="314637"/>
            <a:ext cx="5897601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>
              <a:lnSpc>
                <a:spcPct val="103749"/>
              </a:lnSpc>
            </a:pPr>
            <a:r>
              <a:rPr lang="en-US" altLang="ko-KR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EDA - </a:t>
            </a:r>
            <a:r>
              <a:rPr lang="en-US" sz="4000" spc="50" dirty="0" err="1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Si_etch</a:t>
            </a:r>
            <a:endParaRPr lang="en-US" sz="4000" spc="50" dirty="0">
              <a:solidFill>
                <a:srgbClr val="202A3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D7A7D00C-1599-C99D-37E4-96E1C70F7C1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77F6799A-9EA9-F412-7F01-ABD4D0C222F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F883C3AE-9075-65F7-D701-75824F987D9A}"/>
              </a:ext>
            </a:extLst>
          </p:cNvPr>
          <p:cNvGraphicFramePr>
            <a:graphicFrameLocks noGrp="1"/>
          </p:cNvGraphicFramePr>
          <p:nvPr/>
        </p:nvGraphicFramePr>
        <p:xfrm>
          <a:off x="821158" y="1457656"/>
          <a:ext cx="10549683" cy="1543050"/>
        </p:xfrm>
        <a:graphic>
          <a:graphicData uri="http://schemas.openxmlformats.org/drawingml/2006/table">
            <a:tbl>
              <a:tblPr/>
              <a:tblGrid>
                <a:gridCol w="2733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5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5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53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Target</a:t>
                      </a: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7C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Within-wafer std</a:t>
                      </a: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Between-wafer std</a:t>
                      </a: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Pretendard SemiBold" panose="02000703000000020004" pitchFamily="50" charset="-127"/>
                          <a:ea typeface="Pretendard SemiBold" panose="02000703000000020004" pitchFamily="50" charset="-127"/>
                          <a:cs typeface="Pretendard SemiBold" panose="02000703000000020004" pitchFamily="50" charset="-127"/>
                        </a:rPr>
                        <a:t>Spatial baseline R²</a:t>
                      </a: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Si_etch</a:t>
                      </a:r>
                      <a:endParaRPr lang="en-US" b="0" dirty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C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3.61 μ</a:t>
                      </a:r>
                      <a:r>
                        <a:rPr 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 (99%)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0.40 μ</a:t>
                      </a:r>
                      <a:r>
                        <a:rPr 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 (1%)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0.985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 err="1">
                          <a:solidFill>
                            <a:schemeClr val="bg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Oxide_etch</a:t>
                      </a:r>
                      <a:endParaRPr lang="en-US" b="0" dirty="0">
                        <a:solidFill>
                          <a:schemeClr val="bg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>
                    <a:lnL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C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0.064 μ</a:t>
                      </a:r>
                      <a:r>
                        <a:rPr lang="en-US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 (68%)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0.044 μ</a:t>
                      </a:r>
                      <a:r>
                        <a:rPr lang="en-US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m (32%)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0.156</a:t>
                      </a:r>
                    </a:p>
                  </a:txBody>
                  <a:tcPr anchor="ctr">
                    <a:lnL w="6349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45DB962C-3C23-B1DF-A96B-9D1AD47181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4128" y="3196540"/>
            <a:ext cx="8142722" cy="307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440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780CC-C326-8D79-3F33-72219DE51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02F53D3-41E7-2410-3F31-A41B6BD63443}"/>
              </a:ext>
            </a:extLst>
          </p:cNvPr>
          <p:cNvSpPr txBox="1"/>
          <p:nvPr/>
        </p:nvSpPr>
        <p:spPr>
          <a:xfrm>
            <a:off x="514350" y="314637"/>
            <a:ext cx="5986811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>
              <a:lnSpc>
                <a:spcPct val="103749"/>
              </a:lnSpc>
            </a:pPr>
            <a:r>
              <a:rPr lang="en-US" altLang="ko-KR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Pipeline-DL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E4D09CD9-FD12-6B9E-778C-A556B64BDD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2B8BC640-D965-0DB3-E698-434EE949203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41E9A29-332E-5B79-A2CE-1C6EE4F171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2246" y="987274"/>
            <a:ext cx="8487508" cy="5658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29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AD8DBC8-6B35-B273-A0BF-35793A026E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62" y="898064"/>
            <a:ext cx="10360476" cy="5830866"/>
          </a:xfrm>
          <a:prstGeom prst="rect">
            <a:avLst/>
          </a:prstGeom>
        </p:spPr>
      </p:pic>
      <p:sp>
        <p:nvSpPr>
          <p:cNvPr id="4" name="TextBox 2">
            <a:extLst>
              <a:ext uri="{FF2B5EF4-FFF2-40B4-BE49-F238E27FC236}">
                <a16:creationId xmlns:a16="http://schemas.microsoft.com/office/drawing/2014/main" id="{1283DD54-9AE5-603E-1335-1C2835C71D2A}"/>
              </a:ext>
            </a:extLst>
          </p:cNvPr>
          <p:cNvSpPr txBox="1"/>
          <p:nvPr/>
        </p:nvSpPr>
        <p:spPr>
          <a:xfrm>
            <a:off x="436291" y="225427"/>
            <a:ext cx="5986811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>
              <a:lnSpc>
                <a:spcPct val="103749"/>
              </a:lnSpc>
            </a:pPr>
            <a:r>
              <a:rPr lang="en-US" altLang="ko-KR" sz="4000" spc="50" dirty="0" err="1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FiLM</a:t>
            </a:r>
            <a:r>
              <a:rPr lang="en-US" altLang="ko-KR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modulation</a:t>
            </a:r>
          </a:p>
        </p:txBody>
      </p:sp>
    </p:spTree>
    <p:extLst>
      <p:ext uri="{BB962C8B-B14F-4D97-AF65-F5344CB8AC3E}">
        <p14:creationId xmlns:p14="http://schemas.microsoft.com/office/powerpoint/2010/main" val="4184312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47F9C6A-46D3-0CF5-FAD4-58981E464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15" y="1804153"/>
            <a:ext cx="10903348" cy="4560791"/>
          </a:xfrm>
          <a:prstGeom prst="rect">
            <a:avLst/>
          </a:prstGeom>
        </p:spPr>
      </p:pic>
      <p:sp>
        <p:nvSpPr>
          <p:cNvPr id="4" name="TextBox 2">
            <a:extLst>
              <a:ext uri="{FF2B5EF4-FFF2-40B4-BE49-F238E27FC236}">
                <a16:creationId xmlns:a16="http://schemas.microsoft.com/office/drawing/2014/main" id="{68B24748-A83D-9EAA-776E-D47856F6C4AC}"/>
              </a:ext>
            </a:extLst>
          </p:cNvPr>
          <p:cNvSpPr txBox="1"/>
          <p:nvPr/>
        </p:nvSpPr>
        <p:spPr>
          <a:xfrm>
            <a:off x="514350" y="493056"/>
            <a:ext cx="5986811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>
              <a:lnSpc>
                <a:spcPct val="103749"/>
              </a:lnSpc>
            </a:pPr>
            <a:r>
              <a:rPr lang="en-US" altLang="ko-KR" sz="4000" spc="50" dirty="0" err="1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FiLM</a:t>
            </a:r>
            <a:r>
              <a:rPr lang="en-US" altLang="ko-KR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modulation</a:t>
            </a:r>
          </a:p>
        </p:txBody>
      </p:sp>
    </p:spTree>
    <p:extLst>
      <p:ext uri="{BB962C8B-B14F-4D97-AF65-F5344CB8AC3E}">
        <p14:creationId xmlns:p14="http://schemas.microsoft.com/office/powerpoint/2010/main" val="1608759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3077F7E-209E-2E83-90E2-8B47845D2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095063"/>
            <a:ext cx="9448800" cy="5448300"/>
          </a:xfrm>
          <a:prstGeom prst="rect">
            <a:avLst/>
          </a:prstGeom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06B1F02B-0FF7-3253-811F-B5A4DC029616}"/>
              </a:ext>
            </a:extLst>
          </p:cNvPr>
          <p:cNvSpPr txBox="1"/>
          <p:nvPr/>
        </p:nvSpPr>
        <p:spPr>
          <a:xfrm>
            <a:off x="514350" y="314637"/>
            <a:ext cx="5986811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>
              <a:lnSpc>
                <a:spcPct val="103749"/>
              </a:lnSpc>
            </a:pPr>
            <a:r>
              <a:rPr lang="en-US" altLang="ko-KR" sz="4000" spc="50" dirty="0" err="1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Si_etch</a:t>
            </a:r>
            <a:r>
              <a:rPr lang="en-US" altLang="ko-KR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wafer-map</a:t>
            </a:r>
          </a:p>
        </p:txBody>
      </p:sp>
    </p:spTree>
    <p:extLst>
      <p:ext uri="{BB962C8B-B14F-4D97-AF65-F5344CB8AC3E}">
        <p14:creationId xmlns:p14="http://schemas.microsoft.com/office/powerpoint/2010/main" val="3839790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458651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D41"/>
                </a:solidFill>
                <a:latin typeface="Malgun Gothic"/>
              </a:defRPr>
            </a:pPr>
            <a:r>
              <a:rPr lang="ko-KR" altLang="en-US" dirty="0"/>
              <a:t>문제</a:t>
            </a:r>
            <a:r>
              <a:rPr lang="en-US" altLang="ko-KR" dirty="0"/>
              <a:t>2</a:t>
            </a:r>
            <a:r>
              <a:rPr dirty="0"/>
              <a:t>. </a:t>
            </a:r>
            <a:r>
              <a:rPr dirty="0" err="1"/>
              <a:t>특정</a:t>
            </a:r>
            <a:r>
              <a:rPr dirty="0"/>
              <a:t> </a:t>
            </a:r>
            <a:r>
              <a:rPr dirty="0" err="1"/>
              <a:t>Fold에서</a:t>
            </a:r>
            <a:r>
              <a:rPr dirty="0"/>
              <a:t> </a:t>
            </a:r>
            <a:r>
              <a:rPr dirty="0" err="1"/>
              <a:t>성능</a:t>
            </a:r>
            <a:r>
              <a:rPr dirty="0"/>
              <a:t> </a:t>
            </a:r>
            <a:r>
              <a:rPr dirty="0" err="1"/>
              <a:t>붕괴</a:t>
            </a:r>
            <a:endParaRPr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992645D-F06B-3A79-1F54-CC5B785DC0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479" y="1011193"/>
            <a:ext cx="9966369" cy="560906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D8C8577-EDEF-0622-496E-288211D9E8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18" y="2014405"/>
            <a:ext cx="11535964" cy="37953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51EBB9-4D7B-9508-D037-1670F57F4D1D}"/>
              </a:ext>
            </a:extLst>
          </p:cNvPr>
          <p:cNvSpPr txBox="1"/>
          <p:nvPr/>
        </p:nvSpPr>
        <p:spPr>
          <a:xfrm>
            <a:off x="701412" y="817380"/>
            <a:ext cx="152477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D41"/>
                </a:solidFill>
                <a:latin typeface="Malgun Gothic"/>
              </a:defRPr>
            </a:pPr>
            <a:r>
              <a:rPr lang="ko-KR" altLang="en-US" dirty="0"/>
              <a:t>원인 분석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3118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4EEA477-F914-4C10-0498-3A7E0BC638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182" y="1133089"/>
            <a:ext cx="9633636" cy="54461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444F0AE-101F-5F94-6FED-78E884ED770C}"/>
              </a:ext>
            </a:extLst>
          </p:cNvPr>
          <p:cNvSpPr txBox="1"/>
          <p:nvPr/>
        </p:nvSpPr>
        <p:spPr>
          <a:xfrm>
            <a:off x="857528" y="408129"/>
            <a:ext cx="38817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D41"/>
                </a:solidFill>
                <a:latin typeface="Malgun Gothic"/>
              </a:defRPr>
            </a:pPr>
            <a:r>
              <a:rPr lang="en-US" dirty="0"/>
              <a:t>Improve_1 : </a:t>
            </a:r>
            <a:r>
              <a:rPr lang="en-US" dirty="0" err="1"/>
              <a:t>OES_top_k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0942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66D35E-B3B8-1C35-FE1B-36C912F029DD}"/>
              </a:ext>
            </a:extLst>
          </p:cNvPr>
          <p:cNvSpPr txBox="1"/>
          <p:nvPr/>
        </p:nvSpPr>
        <p:spPr>
          <a:xfrm>
            <a:off x="857528" y="408129"/>
            <a:ext cx="61119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D41"/>
                </a:solidFill>
                <a:latin typeface="Malgun Gothic"/>
              </a:defRPr>
            </a:pPr>
            <a:r>
              <a:rPr lang="en-US" dirty="0"/>
              <a:t>Improve_2 : </a:t>
            </a:r>
            <a:r>
              <a:rPr lang="en-US" altLang="ko-KR" sz="2400" dirty="0"/>
              <a:t>Auxiliary wafer-mean loss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E96BC3D-7409-3345-7F73-C340403DA3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734" y="1228500"/>
            <a:ext cx="8990532" cy="5259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400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AA3F29-79B3-0985-4323-42DD1F4A1A5D}"/>
              </a:ext>
            </a:extLst>
          </p:cNvPr>
          <p:cNvSpPr txBox="1"/>
          <p:nvPr/>
        </p:nvSpPr>
        <p:spPr>
          <a:xfrm>
            <a:off x="857528" y="408129"/>
            <a:ext cx="38817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D41"/>
                </a:solidFill>
                <a:latin typeface="Malgun Gothic"/>
              </a:defRPr>
            </a:pPr>
            <a:r>
              <a:rPr lang="en-US" dirty="0"/>
              <a:t>Improve_3 : </a:t>
            </a:r>
            <a:r>
              <a:rPr lang="en-US" dirty="0" err="1"/>
              <a:t>Mixup</a:t>
            </a:r>
            <a:r>
              <a:rPr lang="en-US" dirty="0"/>
              <a:t> </a:t>
            </a:r>
            <a:endParaRPr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A90A378-508A-D9BB-E71D-00F3952458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092" y="1118091"/>
            <a:ext cx="9318992" cy="533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3834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5520E-899E-38CD-FC4F-9D723E10A8B5}"/>
              </a:ext>
            </a:extLst>
          </p:cNvPr>
          <p:cNvSpPr txBox="1"/>
          <p:nvPr/>
        </p:nvSpPr>
        <p:spPr>
          <a:xfrm>
            <a:off x="857528" y="408129"/>
            <a:ext cx="38817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D41"/>
                </a:solidFill>
                <a:latin typeface="Malgun Gothic"/>
              </a:defRPr>
            </a:pPr>
            <a:r>
              <a:rPr lang="en-US" dirty="0"/>
              <a:t>Improve_4 : Weight EMA </a:t>
            </a:r>
            <a:endParaRPr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BE7A778-A7C6-4302-FDA3-C817205B89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954" y="1053372"/>
            <a:ext cx="9232092" cy="539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514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A0DC051-C2FE-820C-3EFD-9CAE60BBAA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825" y="564692"/>
            <a:ext cx="7270349" cy="61313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326C17-7794-E727-6765-DD20956AFFC1}"/>
              </a:ext>
            </a:extLst>
          </p:cNvPr>
          <p:cNvSpPr txBox="1"/>
          <p:nvPr/>
        </p:nvSpPr>
        <p:spPr>
          <a:xfrm>
            <a:off x="668762" y="333860"/>
            <a:ext cx="38817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D41"/>
                </a:solidFill>
                <a:latin typeface="Malgun Gothic"/>
              </a:defRPr>
            </a:pPr>
            <a:r>
              <a:rPr lang="en-US" dirty="0"/>
              <a:t>Final Pipeline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62248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7CC6D4-B428-1ACF-B1BA-E17C9E499A9D}"/>
              </a:ext>
            </a:extLst>
          </p:cNvPr>
          <p:cNvSpPr txBox="1"/>
          <p:nvPr/>
        </p:nvSpPr>
        <p:spPr>
          <a:xfrm>
            <a:off x="857528" y="408129"/>
            <a:ext cx="38817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D41"/>
                </a:solidFill>
                <a:latin typeface="Malgun Gothic"/>
              </a:defRPr>
            </a:pPr>
            <a:r>
              <a:rPr lang="en-US" dirty="0"/>
              <a:t>Results</a:t>
            </a:r>
            <a:endParaRPr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0C08200-295D-F712-3644-E904561ED9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875" y="869794"/>
            <a:ext cx="10428250" cy="537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8898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CBF5D-DF6E-AC74-6883-C963B8370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E5EB73-CC3C-F46F-31A5-A14FAC1F5014}"/>
              </a:ext>
            </a:extLst>
          </p:cNvPr>
          <p:cNvSpPr txBox="1"/>
          <p:nvPr/>
        </p:nvSpPr>
        <p:spPr>
          <a:xfrm>
            <a:off x="857528" y="408129"/>
            <a:ext cx="38817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D41"/>
                </a:solidFill>
                <a:latin typeface="Malgun Gothic"/>
              </a:defRPr>
            </a:pPr>
            <a:r>
              <a:rPr lang="en-US" dirty="0"/>
              <a:t>Results</a:t>
            </a:r>
            <a:endParaRPr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A8896FA-06BA-776E-FCF2-3CE31348BD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931" y="1185360"/>
            <a:ext cx="9914137" cy="514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1579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608EF-1117-D82F-4345-6903BF137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50DBC1-38FD-716E-F338-D7D8D398C186}"/>
              </a:ext>
            </a:extLst>
          </p:cNvPr>
          <p:cNvSpPr txBox="1"/>
          <p:nvPr/>
        </p:nvSpPr>
        <p:spPr>
          <a:xfrm>
            <a:off x="857528" y="408129"/>
            <a:ext cx="38817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D41"/>
                </a:solidFill>
                <a:latin typeface="Malgun Gothic"/>
              </a:defRPr>
            </a:pPr>
            <a:r>
              <a:rPr lang="en-US" dirty="0"/>
              <a:t>Results</a:t>
            </a:r>
            <a:endParaRPr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CA7CA52-11A5-8CEF-E118-6CC3E31277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375" y="927077"/>
            <a:ext cx="9667249" cy="552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7350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323BB-3346-26B2-4557-CF104B88A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DA79BC-B806-A25A-9EA2-B7CBD424A534}"/>
              </a:ext>
            </a:extLst>
          </p:cNvPr>
          <p:cNvSpPr txBox="1"/>
          <p:nvPr/>
        </p:nvSpPr>
        <p:spPr>
          <a:xfrm>
            <a:off x="857528" y="408129"/>
            <a:ext cx="38817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D41"/>
                </a:solidFill>
                <a:latin typeface="Malgun Gothic"/>
              </a:defRPr>
            </a:pPr>
            <a:r>
              <a:rPr lang="en-US" dirty="0"/>
              <a:t>Results</a:t>
            </a:r>
            <a:endParaRPr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829F1EB-0132-2A9D-5AA1-CE9B5A7760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19" y="1181055"/>
            <a:ext cx="10920761" cy="501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1500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E2AD3-88E5-2A0B-F444-11F070EFB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5E5B72-7E13-7F02-0752-8CEF4FA99A00}"/>
              </a:ext>
            </a:extLst>
          </p:cNvPr>
          <p:cNvSpPr txBox="1"/>
          <p:nvPr/>
        </p:nvSpPr>
        <p:spPr>
          <a:xfrm>
            <a:off x="857528" y="408129"/>
            <a:ext cx="38817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D41"/>
                </a:solidFill>
                <a:latin typeface="Malgun Gothic"/>
              </a:defRPr>
            </a:pPr>
            <a:r>
              <a:rPr lang="en-US" dirty="0"/>
              <a:t>Results</a:t>
            </a:r>
            <a:endParaRPr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439F42D-3E0F-11CE-A057-3C8E05B64F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528" y="1107452"/>
            <a:ext cx="10670237" cy="521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8202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0E27D-3C19-5394-6722-505148323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7860CE-1C8C-1E59-544D-B1CC638B5914}"/>
              </a:ext>
            </a:extLst>
          </p:cNvPr>
          <p:cNvSpPr txBox="1"/>
          <p:nvPr/>
        </p:nvSpPr>
        <p:spPr>
          <a:xfrm>
            <a:off x="857528" y="408129"/>
            <a:ext cx="38817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D41"/>
                </a:solidFill>
                <a:latin typeface="Malgun Gothic"/>
              </a:defRPr>
            </a:pPr>
            <a:r>
              <a:rPr lang="en-US" dirty="0"/>
              <a:t>Results</a:t>
            </a:r>
            <a:endParaRPr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7EF2C9F-60FE-14FE-A367-625406FCA5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250" y="1007277"/>
            <a:ext cx="10133499" cy="535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6631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E75C9-928A-FE5B-492A-3DAA4FB2C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2C8FF8-B424-3221-DFBF-CBF48211EE36}"/>
              </a:ext>
            </a:extLst>
          </p:cNvPr>
          <p:cNvSpPr txBox="1"/>
          <p:nvPr/>
        </p:nvSpPr>
        <p:spPr>
          <a:xfrm>
            <a:off x="857528" y="408129"/>
            <a:ext cx="38817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D41"/>
                </a:solidFill>
                <a:latin typeface="Malgun Gothic"/>
              </a:defRPr>
            </a:pPr>
            <a:r>
              <a:rPr lang="en-US" dirty="0"/>
              <a:t>Results</a:t>
            </a:r>
            <a:endParaRPr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4E93C80-7EF6-7F8B-D6C8-BFA6077EA4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911" y="869794"/>
            <a:ext cx="10338178" cy="545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6049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0E375C0-55D5-4FA3-8DD9-3BA9E8179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12" y="1126942"/>
            <a:ext cx="10077976" cy="527547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B5EC60-1691-6BAD-E08C-A6D2752521E1}"/>
              </a:ext>
            </a:extLst>
          </p:cNvPr>
          <p:cNvSpPr txBox="1"/>
          <p:nvPr/>
        </p:nvSpPr>
        <p:spPr>
          <a:xfrm>
            <a:off x="857528" y="408129"/>
            <a:ext cx="38817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D41"/>
                </a:solidFill>
                <a:latin typeface="Malgun Gothic"/>
              </a:defRPr>
            </a:pPr>
            <a:r>
              <a:rPr lang="en-US" dirty="0"/>
              <a:t>Limitation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48762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316CF-8140-ED2C-7CE1-AC9CFC1B4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7C4425-C949-ED09-7FA4-B2474937E4E1}"/>
              </a:ext>
            </a:extLst>
          </p:cNvPr>
          <p:cNvSpPr txBox="1"/>
          <p:nvPr/>
        </p:nvSpPr>
        <p:spPr>
          <a:xfrm>
            <a:off x="857528" y="408129"/>
            <a:ext cx="38817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D41"/>
                </a:solidFill>
                <a:latin typeface="Malgun Gothic"/>
              </a:defRPr>
            </a:pPr>
            <a:r>
              <a:rPr lang="en-US" dirty="0"/>
              <a:t>Limitation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986AE9-075C-70D6-FB66-3F52F1F58907}"/>
              </a:ext>
            </a:extLst>
          </p:cNvPr>
          <p:cNvSpPr txBox="1"/>
          <p:nvPr/>
        </p:nvSpPr>
        <p:spPr>
          <a:xfrm>
            <a:off x="992459" y="1393902"/>
            <a:ext cx="1021451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데이터 규모와 공정 조건 다양성의 한계</a:t>
            </a:r>
            <a:endParaRPr lang="en-US" altLang="ko-KR" b="1" dirty="0"/>
          </a:p>
          <a:p>
            <a:r>
              <a:rPr lang="ko-KR" altLang="en-US" sz="1600" dirty="0"/>
              <a:t>사용 가능한 </a:t>
            </a:r>
            <a:r>
              <a:rPr lang="en-US" altLang="ko-KR" sz="1600" dirty="0"/>
              <a:t>wafer </a:t>
            </a:r>
            <a:r>
              <a:rPr lang="ko-KR" altLang="en-US" sz="1600" dirty="0"/>
              <a:t>수와 공정 조건 범위가 제한되어 있어</a:t>
            </a:r>
            <a:r>
              <a:rPr lang="en-US" altLang="ko-KR" sz="1600" dirty="0"/>
              <a:t>, </a:t>
            </a:r>
            <a:r>
              <a:rPr lang="ko-KR" altLang="en-US" sz="1600" dirty="0"/>
              <a:t>다른 장비나 다른 </a:t>
            </a:r>
            <a:r>
              <a:rPr lang="en-US" altLang="ko-KR" sz="1600" dirty="0"/>
              <a:t>recipe</a:t>
            </a:r>
            <a:r>
              <a:rPr lang="ko-KR" altLang="en-US" sz="1600" dirty="0"/>
              <a:t>에 대한 일반화 성능은 아직 검증되지 않음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실제 양산 환경에서는 </a:t>
            </a:r>
            <a:r>
              <a:rPr lang="en-US" altLang="ko-KR" sz="1600" dirty="0"/>
              <a:t>chamber drift, maintenance </a:t>
            </a:r>
            <a:r>
              <a:rPr lang="ko-KR" altLang="en-US" sz="1600" dirty="0"/>
              <a:t>전후 변화</a:t>
            </a:r>
            <a:r>
              <a:rPr lang="en-US" altLang="ko-KR" sz="1600" dirty="0"/>
              <a:t>, sensor noise </a:t>
            </a:r>
            <a:r>
              <a:rPr lang="ko-KR" altLang="en-US" sz="1600" dirty="0"/>
              <a:t>등이 더 크게 나타날 수 있음</a:t>
            </a:r>
            <a:r>
              <a:rPr lang="en-US" altLang="ko-KR" sz="1600" dirty="0"/>
              <a:t>.</a:t>
            </a:r>
            <a:endParaRPr lang="en-US" altLang="ko-KR" sz="1600" b="1" dirty="0"/>
          </a:p>
          <a:p>
            <a:endParaRPr lang="en-US" altLang="ko-KR" b="1" dirty="0"/>
          </a:p>
          <a:p>
            <a:r>
              <a:rPr lang="ko-KR" altLang="en-US" b="1" dirty="0"/>
              <a:t>모델 구조 탐색이 아직 불완전</a:t>
            </a:r>
            <a:endParaRPr lang="en-US" altLang="ko-KR" b="1" dirty="0"/>
          </a:p>
          <a:p>
            <a:r>
              <a:rPr lang="en-US" altLang="ko-KR" sz="1600" dirty="0"/>
              <a:t>Multimodal </a:t>
            </a:r>
            <a:r>
              <a:rPr lang="en-US" altLang="ko-KR" sz="1600" dirty="0" err="1"/>
              <a:t>FiLM</a:t>
            </a:r>
            <a:r>
              <a:rPr lang="en-US" altLang="ko-KR" sz="1600" dirty="0"/>
              <a:t> + Fourier </a:t>
            </a:r>
            <a:r>
              <a:rPr lang="en-US" altLang="ko-KR" sz="1600" dirty="0" err="1"/>
              <a:t>xy</a:t>
            </a:r>
            <a:r>
              <a:rPr lang="en-US" altLang="ko-KR" sz="1600" dirty="0"/>
              <a:t> + mean pooling </a:t>
            </a:r>
            <a:r>
              <a:rPr lang="ko-KR" altLang="en-US" sz="1600" dirty="0"/>
              <a:t>구조가 현재 가장 좋았지만</a:t>
            </a:r>
            <a:r>
              <a:rPr lang="en-US" altLang="ko-KR" sz="1600" dirty="0"/>
              <a:t>, sequence encoder, pooling </a:t>
            </a:r>
            <a:r>
              <a:rPr lang="ko-KR" altLang="en-US" sz="1600" dirty="0"/>
              <a:t>방식</a:t>
            </a:r>
            <a:r>
              <a:rPr lang="en-US" altLang="ko-KR" sz="1600" dirty="0"/>
              <a:t>, cycle representation</a:t>
            </a:r>
            <a:r>
              <a:rPr lang="ko-KR" altLang="en-US" sz="1600" dirty="0"/>
              <a:t>에 대한 </a:t>
            </a:r>
            <a:r>
              <a:rPr lang="en-US" altLang="ko-KR" sz="1600" dirty="0"/>
              <a:t>ablation</a:t>
            </a:r>
            <a:r>
              <a:rPr lang="ko-KR" altLang="en-US" sz="1600" dirty="0"/>
              <a:t>이 더 필요함</a:t>
            </a:r>
            <a:r>
              <a:rPr lang="en-US" altLang="ko-KR" sz="1600" dirty="0"/>
              <a:t>.</a:t>
            </a:r>
          </a:p>
          <a:p>
            <a:endParaRPr lang="en-US" altLang="ko-KR" b="1" dirty="0"/>
          </a:p>
          <a:p>
            <a:r>
              <a:rPr lang="en-US" altLang="ko-KR" b="1" dirty="0"/>
              <a:t>Virtual Metrology</a:t>
            </a:r>
            <a:r>
              <a:rPr lang="ko-KR" altLang="en-US" b="1" dirty="0"/>
              <a:t>의 실제 운영 관점 검증 부족</a:t>
            </a:r>
            <a:endParaRPr lang="en-US" altLang="ko-KR" b="1" dirty="0"/>
          </a:p>
          <a:p>
            <a:r>
              <a:rPr lang="ko-KR" altLang="en-US" sz="1600" dirty="0"/>
              <a:t>실제 공정 적용을 위해서는 </a:t>
            </a:r>
            <a:r>
              <a:rPr lang="en-US" altLang="ko-KR" sz="1600" dirty="0"/>
              <a:t>inference speed, wafer</a:t>
            </a:r>
            <a:r>
              <a:rPr lang="ko-KR" altLang="en-US" sz="1600" dirty="0"/>
              <a:t>별 실시간 예측 가능성</a:t>
            </a:r>
            <a:r>
              <a:rPr lang="en-US" altLang="ko-KR" sz="1600" dirty="0"/>
              <a:t>, </a:t>
            </a:r>
            <a:r>
              <a:rPr lang="ko-KR" altLang="en-US" sz="1600" dirty="0"/>
              <a:t>이상 </a:t>
            </a:r>
            <a:r>
              <a:rPr lang="en-US" altLang="ko-KR" sz="1600" dirty="0"/>
              <a:t>wafer </a:t>
            </a:r>
            <a:r>
              <a:rPr lang="ko-KR" altLang="en-US" sz="1600" dirty="0"/>
              <a:t>탐지와의 연계 등이 추가로 검토되어야 함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ko-KR" altLang="en-US" b="1" dirty="0"/>
              <a:t>해석 분석이 아직 최종 </a:t>
            </a:r>
            <a:r>
              <a:rPr lang="en-US" altLang="ko-KR" b="1" dirty="0"/>
              <a:t>best </a:t>
            </a:r>
            <a:r>
              <a:rPr lang="ko-KR" altLang="en-US" b="1" dirty="0"/>
              <a:t>모델 전체로 확장되지 않음</a:t>
            </a:r>
            <a:endParaRPr lang="en-US" altLang="ko-KR" sz="1600" dirty="0"/>
          </a:p>
          <a:p>
            <a:r>
              <a:rPr lang="en-US" altLang="ko-KR" sz="1600" dirty="0"/>
              <a:t>SHAP </a:t>
            </a:r>
            <a:r>
              <a:rPr lang="ko-KR" altLang="en-US" sz="1600" dirty="0"/>
              <a:t>및 </a:t>
            </a:r>
            <a:r>
              <a:rPr lang="en-US" altLang="ko-KR" sz="1600" dirty="0"/>
              <a:t>gradient attribution </a:t>
            </a:r>
            <a:r>
              <a:rPr lang="ko-KR" altLang="en-US" sz="1600" dirty="0"/>
              <a:t>분석은 수행되었지만</a:t>
            </a:r>
            <a:r>
              <a:rPr lang="en-US" altLang="ko-KR" sz="1600" dirty="0"/>
              <a:t>, </a:t>
            </a:r>
            <a:r>
              <a:rPr lang="ko-KR" altLang="en-US" sz="1600" dirty="0"/>
              <a:t>최종 </a:t>
            </a:r>
            <a:r>
              <a:rPr lang="en-US" altLang="ko-KR" sz="1600" dirty="0"/>
              <a:t>best </a:t>
            </a:r>
            <a:r>
              <a:rPr lang="ko-KR" altLang="en-US" sz="1600" dirty="0"/>
              <a:t>모델 기준으로 모든 </a:t>
            </a:r>
            <a:r>
              <a:rPr lang="en-US" altLang="ko-KR" sz="1600" dirty="0"/>
              <a:t>fold</a:t>
            </a:r>
            <a:r>
              <a:rPr lang="ko-KR" altLang="en-US" sz="1600" dirty="0"/>
              <a:t>에 대해 일관성 있게 정리되지는 않음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어떤 </a:t>
            </a:r>
            <a:r>
              <a:rPr lang="en-US" altLang="ko-KR" sz="1600" dirty="0"/>
              <a:t>OES wavelength, cycle </a:t>
            </a:r>
            <a:r>
              <a:rPr lang="ko-KR" altLang="en-US" sz="1600" dirty="0"/>
              <a:t>구간</a:t>
            </a:r>
            <a:r>
              <a:rPr lang="en-US" altLang="ko-KR" sz="1600" dirty="0"/>
              <a:t>, process sensor</a:t>
            </a:r>
            <a:r>
              <a:rPr lang="ko-KR" altLang="en-US" sz="1600" dirty="0"/>
              <a:t>가 </a:t>
            </a:r>
            <a:r>
              <a:rPr lang="en-US" altLang="ko-KR" sz="1600" dirty="0"/>
              <a:t>oxide </a:t>
            </a:r>
            <a:r>
              <a:rPr lang="ko-KR" altLang="en-US" sz="1600" dirty="0"/>
              <a:t>예측에 중요한지 더 체계적으로 보여줄 필요가 있음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96098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85BEF-45FB-8718-46E3-0C64AB819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>
            <a:extLst>
              <a:ext uri="{FF2B5EF4-FFF2-40B4-BE49-F238E27FC236}">
                <a16:creationId xmlns:a16="http://schemas.microsoft.com/office/drawing/2014/main" id="{35ACD932-CEDD-3169-40D9-FB21D053962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CF96CB4B-55F5-5EF7-D36E-6FD6293D8AD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ED3658-26E4-C91F-FABA-7C99B794F46D}"/>
              </a:ext>
            </a:extLst>
          </p:cNvPr>
          <p:cNvSpPr txBox="1"/>
          <p:nvPr/>
        </p:nvSpPr>
        <p:spPr>
          <a:xfrm>
            <a:off x="681228" y="664101"/>
            <a:ext cx="3648756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2A3F"/>
                </a:solidFill>
                <a:latin typeface="Malgun Gothic"/>
              </a:defRPr>
            </a:pPr>
            <a:r>
              <a:rPr dirty="0">
                <a:latin typeface="+mj-ea"/>
                <a:ea typeface="+mj-ea"/>
              </a:rPr>
              <a:t>Expected Impact</a:t>
            </a:r>
          </a:p>
        </p:txBody>
      </p:sp>
      <p:sp>
        <p:nvSpPr>
          <p:cNvPr id="3" name="Rounded Rectangle 4">
            <a:extLst>
              <a:ext uri="{FF2B5EF4-FFF2-40B4-BE49-F238E27FC236}">
                <a16:creationId xmlns:a16="http://schemas.microsoft.com/office/drawing/2014/main" id="{047F470B-8483-2D31-A9CC-C7C7695551CD}"/>
              </a:ext>
            </a:extLst>
          </p:cNvPr>
          <p:cNvSpPr/>
          <p:nvPr/>
        </p:nvSpPr>
        <p:spPr>
          <a:xfrm>
            <a:off x="580700" y="2799559"/>
            <a:ext cx="5230368" cy="3767328"/>
          </a:xfrm>
          <a:prstGeom prst="roundRect">
            <a:avLst/>
          </a:prstGeom>
          <a:solidFill>
            <a:srgbClr val="F8FAFD"/>
          </a:solidFill>
          <a:ln w="15240">
            <a:solidFill>
              <a:srgbClr val="ACC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ea"/>
              <a:ea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F65784-6A51-48B6-0F0D-D089A96154D1}"/>
              </a:ext>
            </a:extLst>
          </p:cNvPr>
          <p:cNvSpPr txBox="1"/>
          <p:nvPr/>
        </p:nvSpPr>
        <p:spPr>
          <a:xfrm>
            <a:off x="992180" y="3302479"/>
            <a:ext cx="408797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1">
                <a:solidFill>
                  <a:srgbClr val="202A3F"/>
                </a:solidFill>
                <a:latin typeface="Malgun Gothic"/>
              </a:defRPr>
            </a:pPr>
            <a:r>
              <a:rPr dirty="0">
                <a:latin typeface="+mj-ea"/>
                <a:ea typeface="+mj-ea"/>
              </a:rPr>
              <a:t>Cycle-aware VM </a:t>
            </a:r>
            <a:r>
              <a:rPr dirty="0" err="1">
                <a:latin typeface="+mj-ea"/>
                <a:ea typeface="+mj-ea"/>
              </a:rPr>
              <a:t>모델</a:t>
            </a:r>
            <a:r>
              <a:rPr dirty="0">
                <a:latin typeface="+mj-ea"/>
                <a:ea typeface="+mj-ea"/>
              </a:rPr>
              <a:t> </a:t>
            </a:r>
            <a:r>
              <a:rPr dirty="0" err="1">
                <a:latin typeface="+mj-ea"/>
                <a:ea typeface="+mj-ea"/>
              </a:rPr>
              <a:t>구현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555436-E977-A71F-2B56-F0EA80C29EB6}"/>
              </a:ext>
            </a:extLst>
          </p:cNvPr>
          <p:cNvSpPr txBox="1"/>
          <p:nvPr/>
        </p:nvSpPr>
        <p:spPr>
          <a:xfrm>
            <a:off x="1083620" y="3951442"/>
            <a:ext cx="4224527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A3F"/>
                </a:solidFill>
                <a:latin typeface="Malgun Gothic"/>
              </a:defRPr>
            </a:pPr>
            <a:r>
              <a:rPr sz="2000" dirty="0">
                <a:latin typeface="+mj-ea"/>
                <a:ea typeface="+mj-ea"/>
              </a:rPr>
              <a:t>-  BOSCH </a:t>
            </a:r>
            <a:r>
              <a:rPr sz="2000" dirty="0" err="1">
                <a:latin typeface="+mj-ea"/>
                <a:ea typeface="+mj-ea"/>
              </a:rPr>
              <a:t>공정의</a:t>
            </a:r>
            <a:r>
              <a:rPr sz="2000" dirty="0">
                <a:latin typeface="+mj-ea"/>
                <a:ea typeface="+mj-ea"/>
              </a:rPr>
              <a:t> 100-cycle </a:t>
            </a:r>
            <a:r>
              <a:rPr sz="2000" dirty="0" err="1">
                <a:latin typeface="+mj-ea"/>
                <a:ea typeface="+mj-ea"/>
              </a:rPr>
              <a:t>구조를</a:t>
            </a:r>
            <a:r>
              <a:rPr sz="2000" dirty="0">
                <a:latin typeface="+mj-ea"/>
                <a:ea typeface="+mj-ea"/>
              </a:rPr>
              <a:t> </a:t>
            </a:r>
            <a:r>
              <a:rPr sz="2000" dirty="0" err="1">
                <a:latin typeface="+mj-ea"/>
                <a:ea typeface="+mj-ea"/>
              </a:rPr>
              <a:t>모델에</a:t>
            </a:r>
            <a:r>
              <a:rPr sz="2000" dirty="0">
                <a:latin typeface="+mj-ea"/>
                <a:ea typeface="+mj-ea"/>
              </a:rPr>
              <a:t> </a:t>
            </a:r>
            <a:r>
              <a:rPr sz="2000" dirty="0" err="1">
                <a:latin typeface="+mj-ea"/>
                <a:ea typeface="+mj-ea"/>
              </a:rPr>
              <a:t>직접</a:t>
            </a:r>
            <a:r>
              <a:rPr sz="2000" dirty="0">
                <a:latin typeface="+mj-ea"/>
                <a:ea typeface="+mj-ea"/>
              </a:rPr>
              <a:t> </a:t>
            </a:r>
            <a:r>
              <a:rPr sz="2000" dirty="0" err="1">
                <a:latin typeface="+mj-ea"/>
                <a:ea typeface="+mj-ea"/>
              </a:rPr>
              <a:t>반영</a:t>
            </a:r>
            <a:endParaRPr sz="2000" dirty="0">
              <a:latin typeface="+mj-ea"/>
              <a:ea typeface="+mj-ea"/>
            </a:endParaRPr>
          </a:p>
          <a:p>
            <a:pPr>
              <a:spcAft>
                <a:spcPts val="800"/>
              </a:spcAft>
              <a:defRPr sz="1600">
                <a:solidFill>
                  <a:srgbClr val="202A3F"/>
                </a:solidFill>
                <a:latin typeface="Malgun Gothic"/>
              </a:defRPr>
            </a:pPr>
            <a:r>
              <a:rPr sz="2000" dirty="0">
                <a:latin typeface="+mj-ea"/>
                <a:ea typeface="+mj-ea"/>
              </a:rPr>
              <a:t>-  각 cycle </a:t>
            </a:r>
            <a:r>
              <a:rPr sz="2000" dirty="0" err="1">
                <a:latin typeface="+mj-ea"/>
                <a:ea typeface="+mj-ea"/>
              </a:rPr>
              <a:t>내부의</a:t>
            </a:r>
            <a:r>
              <a:rPr sz="2000" dirty="0">
                <a:latin typeface="+mj-ea"/>
                <a:ea typeface="+mj-ea"/>
              </a:rPr>
              <a:t> OES / Process signal </a:t>
            </a:r>
            <a:r>
              <a:rPr sz="2000" dirty="0" err="1">
                <a:latin typeface="+mj-ea"/>
                <a:ea typeface="+mj-ea"/>
              </a:rPr>
              <a:t>특성을</a:t>
            </a:r>
            <a:r>
              <a:rPr sz="2000" dirty="0">
                <a:latin typeface="+mj-ea"/>
                <a:ea typeface="+mj-ea"/>
              </a:rPr>
              <a:t> </a:t>
            </a:r>
            <a:r>
              <a:rPr sz="2000" dirty="0" err="1">
                <a:latin typeface="+mj-ea"/>
                <a:ea typeface="+mj-ea"/>
              </a:rPr>
              <a:t>인코딩</a:t>
            </a:r>
            <a:endParaRPr lang="en-US" sz="2000" dirty="0">
              <a:latin typeface="+mj-ea"/>
              <a:ea typeface="+mj-ea"/>
            </a:endParaRPr>
          </a:p>
          <a:p>
            <a:pPr>
              <a:spcAft>
                <a:spcPts val="800"/>
              </a:spcAft>
              <a:defRPr sz="1600">
                <a:solidFill>
                  <a:srgbClr val="202A3F"/>
                </a:solidFill>
                <a:latin typeface="Malgun Gothic"/>
              </a:defRPr>
            </a:pPr>
            <a:r>
              <a:rPr lang="en-US" sz="2000" dirty="0">
                <a:latin typeface="+mj-ea"/>
                <a:ea typeface="+mj-ea"/>
              </a:rPr>
              <a:t>- </a:t>
            </a:r>
            <a:r>
              <a:rPr lang="en-US" altLang="ko-KR" sz="2000" dirty="0"/>
              <a:t>cycle </a:t>
            </a:r>
            <a:r>
              <a:rPr lang="ko-KR" altLang="en-US" sz="2000" dirty="0"/>
              <a:t>정보를 반영해 공정 특성</a:t>
            </a:r>
            <a:r>
              <a:rPr lang="en-US" altLang="ko-KR" sz="2000" dirty="0"/>
              <a:t>, drift, chamber conditioning </a:t>
            </a:r>
            <a:r>
              <a:rPr lang="ko-KR" altLang="en-US" sz="2000" dirty="0"/>
              <a:t>패턴을 학습</a:t>
            </a:r>
            <a:endParaRPr sz="2000" dirty="0">
              <a:latin typeface="+mj-ea"/>
              <a:ea typeface="+mj-ea"/>
            </a:endParaRP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E6CEF859-23F0-B9B9-670A-B8E0081DFCC7}"/>
              </a:ext>
            </a:extLst>
          </p:cNvPr>
          <p:cNvSpPr/>
          <p:nvPr/>
        </p:nvSpPr>
        <p:spPr>
          <a:xfrm>
            <a:off x="6222548" y="2799559"/>
            <a:ext cx="5230368" cy="3767328"/>
          </a:xfrm>
          <a:prstGeom prst="roundRect">
            <a:avLst/>
          </a:prstGeom>
          <a:solidFill>
            <a:srgbClr val="F8FAFD"/>
          </a:solidFill>
          <a:ln w="15240">
            <a:solidFill>
              <a:srgbClr val="ACC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ea"/>
              <a:ea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1077F4-9AD3-F1F0-E097-003207D75F58}"/>
              </a:ext>
            </a:extLst>
          </p:cNvPr>
          <p:cNvSpPr txBox="1"/>
          <p:nvPr/>
        </p:nvSpPr>
        <p:spPr>
          <a:xfrm>
            <a:off x="6634028" y="3302479"/>
            <a:ext cx="4301177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1">
                <a:solidFill>
                  <a:srgbClr val="202A3F"/>
                </a:solidFill>
                <a:latin typeface="Malgun Gothic"/>
              </a:defRPr>
            </a:pPr>
            <a:r>
              <a:rPr>
                <a:latin typeface="+mj-ea"/>
                <a:ea typeface="+mj-ea"/>
              </a:rPr>
              <a:t>반복 공정으로의 확장 가능성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4893F5-AECC-5D8B-8363-FB7E75EDAEA0}"/>
              </a:ext>
            </a:extLst>
          </p:cNvPr>
          <p:cNvSpPr txBox="1"/>
          <p:nvPr/>
        </p:nvSpPr>
        <p:spPr>
          <a:xfrm>
            <a:off x="6725468" y="3938626"/>
            <a:ext cx="4224527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A3F"/>
                </a:solidFill>
                <a:latin typeface="Malgun Gothic"/>
              </a:defRPr>
            </a:pPr>
            <a:r>
              <a:rPr sz="2000" dirty="0">
                <a:latin typeface="+mj-ea"/>
                <a:ea typeface="+mj-ea"/>
              </a:rPr>
              <a:t>-  ALD, PEALD, </a:t>
            </a:r>
            <a:r>
              <a:rPr sz="2000" dirty="0" err="1">
                <a:latin typeface="+mj-ea"/>
                <a:ea typeface="+mj-ea"/>
              </a:rPr>
              <a:t>ALE처럼</a:t>
            </a:r>
            <a:r>
              <a:rPr sz="2000" dirty="0">
                <a:latin typeface="+mj-ea"/>
                <a:ea typeface="+mj-ea"/>
              </a:rPr>
              <a:t> </a:t>
            </a:r>
            <a:r>
              <a:rPr sz="2000" dirty="0" err="1">
                <a:latin typeface="+mj-ea"/>
                <a:ea typeface="+mj-ea"/>
              </a:rPr>
              <a:t>반복</a:t>
            </a:r>
            <a:r>
              <a:rPr sz="2000" dirty="0">
                <a:latin typeface="+mj-ea"/>
                <a:ea typeface="+mj-ea"/>
              </a:rPr>
              <a:t> step </a:t>
            </a:r>
            <a:r>
              <a:rPr sz="2000" dirty="0" err="1">
                <a:latin typeface="+mj-ea"/>
                <a:ea typeface="+mj-ea"/>
              </a:rPr>
              <a:t>또는</a:t>
            </a:r>
            <a:r>
              <a:rPr sz="2000" dirty="0">
                <a:latin typeface="+mj-ea"/>
                <a:ea typeface="+mj-ea"/>
              </a:rPr>
              <a:t> cycle </a:t>
            </a:r>
            <a:r>
              <a:rPr sz="2000" dirty="0" err="1">
                <a:latin typeface="+mj-ea"/>
                <a:ea typeface="+mj-ea"/>
              </a:rPr>
              <a:t>구조를</a:t>
            </a:r>
            <a:r>
              <a:rPr sz="2000" dirty="0">
                <a:latin typeface="+mj-ea"/>
                <a:ea typeface="+mj-ea"/>
              </a:rPr>
              <a:t> </a:t>
            </a:r>
            <a:r>
              <a:rPr sz="2000" dirty="0" err="1">
                <a:latin typeface="+mj-ea"/>
                <a:ea typeface="+mj-ea"/>
              </a:rPr>
              <a:t>갖는</a:t>
            </a:r>
            <a:r>
              <a:rPr sz="2000" dirty="0">
                <a:latin typeface="+mj-ea"/>
                <a:ea typeface="+mj-ea"/>
              </a:rPr>
              <a:t> </a:t>
            </a:r>
            <a:r>
              <a:rPr sz="2000" dirty="0" err="1">
                <a:latin typeface="+mj-ea"/>
                <a:ea typeface="+mj-ea"/>
              </a:rPr>
              <a:t>공정에</a:t>
            </a:r>
            <a:r>
              <a:rPr sz="2000" dirty="0">
                <a:latin typeface="+mj-ea"/>
                <a:ea typeface="+mj-ea"/>
              </a:rPr>
              <a:t> </a:t>
            </a:r>
            <a:r>
              <a:rPr sz="2000" dirty="0" err="1">
                <a:latin typeface="+mj-ea"/>
                <a:ea typeface="+mj-ea"/>
              </a:rPr>
              <a:t>적용</a:t>
            </a:r>
            <a:r>
              <a:rPr sz="2000" dirty="0">
                <a:latin typeface="+mj-ea"/>
                <a:ea typeface="+mj-ea"/>
              </a:rPr>
              <a:t> </a:t>
            </a:r>
            <a:r>
              <a:rPr sz="2000" dirty="0" err="1">
                <a:latin typeface="+mj-ea"/>
                <a:ea typeface="+mj-ea"/>
              </a:rPr>
              <a:t>가능</a:t>
            </a:r>
            <a:endParaRPr sz="2000" dirty="0">
              <a:latin typeface="+mj-ea"/>
              <a:ea typeface="+mj-ea"/>
            </a:endParaRPr>
          </a:p>
          <a:p>
            <a:pPr>
              <a:spcAft>
                <a:spcPts val="800"/>
              </a:spcAft>
              <a:defRPr sz="1600">
                <a:solidFill>
                  <a:srgbClr val="202A3F"/>
                </a:solidFill>
                <a:latin typeface="Malgun Gothic"/>
              </a:defRPr>
            </a:pPr>
            <a:r>
              <a:rPr sz="2000" dirty="0">
                <a:latin typeface="+mj-ea"/>
                <a:ea typeface="+mj-ea"/>
              </a:rPr>
              <a:t>-  </a:t>
            </a:r>
            <a:r>
              <a:rPr sz="2000" dirty="0" err="1">
                <a:latin typeface="+mj-ea"/>
                <a:ea typeface="+mj-ea"/>
              </a:rPr>
              <a:t>공정별</a:t>
            </a:r>
            <a:r>
              <a:rPr sz="2000" dirty="0">
                <a:latin typeface="+mj-ea"/>
                <a:ea typeface="+mj-ea"/>
              </a:rPr>
              <a:t> cycle segmentation, sensor alignment, target normalization 후 </a:t>
            </a:r>
            <a:r>
              <a:rPr sz="2000" dirty="0" err="1">
                <a:latin typeface="+mj-ea"/>
                <a:ea typeface="+mj-ea"/>
              </a:rPr>
              <a:t>외부</a:t>
            </a:r>
            <a:r>
              <a:rPr sz="2000" dirty="0">
                <a:latin typeface="+mj-ea"/>
                <a:ea typeface="+mj-ea"/>
              </a:rPr>
              <a:t> dataset </a:t>
            </a:r>
            <a:r>
              <a:rPr sz="2000" dirty="0" err="1">
                <a:latin typeface="+mj-ea"/>
                <a:ea typeface="+mj-ea"/>
              </a:rPr>
              <a:t>검증</a:t>
            </a:r>
            <a:r>
              <a:rPr sz="2000" dirty="0">
                <a:latin typeface="+mj-ea"/>
                <a:ea typeface="+mj-ea"/>
              </a:rPr>
              <a:t> </a:t>
            </a:r>
            <a:r>
              <a:rPr sz="2000" dirty="0" err="1">
                <a:latin typeface="+mj-ea"/>
                <a:ea typeface="+mj-ea"/>
              </a:rPr>
              <a:t>필요</a:t>
            </a:r>
            <a:endParaRPr sz="2000" dirty="0"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345E5A-E2EE-BC9C-6608-7548A19770F2}"/>
              </a:ext>
            </a:extLst>
          </p:cNvPr>
          <p:cNvSpPr txBox="1"/>
          <p:nvPr/>
        </p:nvSpPr>
        <p:spPr>
          <a:xfrm>
            <a:off x="580700" y="1594624"/>
            <a:ext cx="10470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 파트도 확장 가능성 이외의</a:t>
            </a:r>
            <a:r>
              <a:rPr lang="en-US" altLang="ko-KR" dirty="0"/>
              <a:t> </a:t>
            </a:r>
            <a:r>
              <a:rPr lang="ko-KR" altLang="en-US" dirty="0"/>
              <a:t>추후과제에 대한 보충이 </a:t>
            </a:r>
            <a:r>
              <a:rPr lang="ko-KR" altLang="en-US" dirty="0" err="1"/>
              <a:t>필요할듯</a:t>
            </a:r>
            <a:r>
              <a:rPr lang="ko-KR" altLang="en-US" dirty="0"/>
              <a:t> 합니다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02622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03289-818A-FB45-C1D5-8AC321087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>
            <a:extLst>
              <a:ext uri="{FF2B5EF4-FFF2-40B4-BE49-F238E27FC236}">
                <a16:creationId xmlns:a16="http://schemas.microsoft.com/office/drawing/2014/main" id="{6D0ECFE9-58A8-0699-9F2C-6202DD1C1FA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F732AE54-5F66-248D-7E05-C952721B81D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6995517-015B-5884-3C45-9C1BFD5B1534}"/>
              </a:ext>
            </a:extLst>
          </p:cNvPr>
          <p:cNvSpPr txBox="1"/>
          <p:nvPr/>
        </p:nvSpPr>
        <p:spPr>
          <a:xfrm>
            <a:off x="885227" y="1444038"/>
            <a:ext cx="1042154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[1] M. A. Sayyed, T. Seifert, S. Zieger, S. Schwarzenberg, A. Deshmukh, M. Haase, and J. Langer, "A multi-model dataset for BOSCH plasma-etching: Optical emission spectra, process parameters, and wafer measurements for data-driven plasma modeling," </a:t>
            </a:r>
            <a:r>
              <a:rPr lang="en-US" altLang="ko-KR" dirty="0" err="1"/>
              <a:t>Zenodo</a:t>
            </a:r>
            <a:r>
              <a:rPr lang="en-US" altLang="ko-KR" dirty="0"/>
              <a:t>, 2025. [Online]. Available: </a:t>
            </a:r>
            <a:r>
              <a:rPr lang="en-US" altLang="ko-KR" dirty="0">
                <a:hlinkClick r:id="rId5"/>
              </a:rPr>
              <a:t>https://doi.org/10.5281/zenodo.17122442</a:t>
            </a:r>
            <a:endParaRPr lang="en-US" altLang="ko-KR" dirty="0"/>
          </a:p>
          <a:p>
            <a:r>
              <a:rPr lang="en-US" altLang="ko-KR" dirty="0"/>
              <a:t>[2] S. Lynn, J. Ringwood, E. </a:t>
            </a:r>
            <a:r>
              <a:rPr lang="en-US" altLang="ko-KR" dirty="0" err="1"/>
              <a:t>Ragnoli</a:t>
            </a:r>
            <a:r>
              <a:rPr lang="en-US" altLang="ko-KR" dirty="0"/>
              <a:t>, S. McLoone, and N. </a:t>
            </a:r>
            <a:r>
              <a:rPr lang="en-US" altLang="ko-KR" dirty="0" err="1"/>
              <a:t>MacGearailt</a:t>
            </a:r>
            <a:r>
              <a:rPr lang="en-US" altLang="ko-KR" dirty="0"/>
              <a:t>, "Virtual metrology for plasma etch using tool variables," in </a:t>
            </a:r>
            <a:r>
              <a:rPr lang="en-US" altLang="ko-KR" i="1" dirty="0"/>
              <a:t>Proc. IEEE/SEMI Adv. </a:t>
            </a:r>
            <a:r>
              <a:rPr lang="en-US" altLang="ko-KR" i="1" dirty="0" err="1"/>
              <a:t>Semicond</a:t>
            </a:r>
            <a:r>
              <a:rPr lang="en-US" altLang="ko-KR" i="1" dirty="0"/>
              <a:t>. Manuf. Conf. (ASMC)</a:t>
            </a:r>
            <a:r>
              <a:rPr lang="en-US" altLang="ko-KR" dirty="0"/>
              <a:t>, 2009.</a:t>
            </a:r>
          </a:p>
          <a:p>
            <a:r>
              <a:rPr lang="en-US" altLang="ko-KR" dirty="0"/>
              <a:t>[3] S. A. Lynn, J. Ringwood, and N. </a:t>
            </a:r>
            <a:r>
              <a:rPr lang="en-US" altLang="ko-KR" dirty="0" err="1"/>
              <a:t>MacGearailt</a:t>
            </a:r>
            <a:r>
              <a:rPr lang="en-US" altLang="ko-KR" dirty="0"/>
              <a:t>, "Global and local virtual metrology models for a plasma etch process," </a:t>
            </a:r>
            <a:r>
              <a:rPr lang="en-US" altLang="ko-KR" i="1" dirty="0"/>
              <a:t>IEEE Trans. </a:t>
            </a:r>
            <a:r>
              <a:rPr lang="en-US" altLang="ko-KR" i="1" dirty="0" err="1"/>
              <a:t>Semicond</a:t>
            </a:r>
            <a:r>
              <a:rPr lang="en-US" altLang="ko-KR" i="1" dirty="0"/>
              <a:t>. Manuf.</a:t>
            </a:r>
            <a:r>
              <a:rPr lang="en-US" altLang="ko-KR" dirty="0"/>
              <a:t>, vol. 25, no. 1, pp. 94–103, 2012.</a:t>
            </a:r>
          </a:p>
          <a:p>
            <a:r>
              <a:rPr lang="en-US" altLang="ko-KR" dirty="0"/>
              <a:t>[4] G. A. </a:t>
            </a:r>
            <a:r>
              <a:rPr lang="en-US" altLang="ko-KR" dirty="0" err="1"/>
              <a:t>Susto</a:t>
            </a:r>
            <a:r>
              <a:rPr lang="en-US" altLang="ko-KR" dirty="0"/>
              <a:t>, S. </a:t>
            </a:r>
            <a:r>
              <a:rPr lang="en-US" altLang="ko-KR" dirty="0" err="1"/>
              <a:t>Pampuri</a:t>
            </a:r>
            <a:r>
              <a:rPr lang="en-US" altLang="ko-KR" dirty="0"/>
              <a:t>, A. Schirru, A. </a:t>
            </a:r>
            <a:r>
              <a:rPr lang="en-US" altLang="ko-KR" dirty="0" err="1"/>
              <a:t>Beghi</a:t>
            </a:r>
            <a:r>
              <a:rPr lang="en-US" altLang="ko-KR" dirty="0"/>
              <a:t>, and G. De Nicolao, "Multi-step virtual metrology for semiconductor manufacturing: A multilevel and regularization methods-based approach," </a:t>
            </a:r>
            <a:r>
              <a:rPr lang="en-US" altLang="ko-KR" i="1" dirty="0" err="1"/>
              <a:t>Comput</a:t>
            </a:r>
            <a:r>
              <a:rPr lang="en-US" altLang="ko-KR" i="1" dirty="0"/>
              <a:t>. Oper. Res.</a:t>
            </a:r>
            <a:r>
              <a:rPr lang="en-US" altLang="ko-KR" dirty="0"/>
              <a:t>, vol. 53, pp. 328–337, 2015.</a:t>
            </a:r>
          </a:p>
          <a:p>
            <a:r>
              <a:rPr lang="en-US" altLang="ko-KR" dirty="0"/>
              <a:t>[5] S. Hochreiter and J. </a:t>
            </a:r>
            <a:r>
              <a:rPr lang="en-US" altLang="ko-KR" dirty="0" err="1"/>
              <a:t>Schmidhuber</a:t>
            </a:r>
            <a:r>
              <a:rPr lang="en-US" altLang="ko-KR" dirty="0"/>
              <a:t>, "Long short-term memory," </a:t>
            </a:r>
            <a:r>
              <a:rPr lang="en-US" altLang="ko-KR" i="1" dirty="0"/>
              <a:t>Neural </a:t>
            </a:r>
            <a:r>
              <a:rPr lang="en-US" altLang="ko-KR" i="1" dirty="0" err="1"/>
              <a:t>Comput</a:t>
            </a:r>
            <a:r>
              <a:rPr lang="en-US" altLang="ko-KR" i="1" dirty="0"/>
              <a:t>.</a:t>
            </a:r>
            <a:r>
              <a:rPr lang="en-US" altLang="ko-KR" dirty="0"/>
              <a:t>, vol. 9, no. 8, pp. 1735–1780, 1997.</a:t>
            </a:r>
          </a:p>
          <a:p>
            <a:r>
              <a:rPr lang="en-US" altLang="ko-KR" dirty="0"/>
              <a:t>[6] M. Schuster and K. K. Paliwal, "Bidirectional recurrent neural networks," </a:t>
            </a:r>
            <a:r>
              <a:rPr lang="en-US" altLang="ko-KR" i="1" dirty="0"/>
              <a:t>IEEE Trans. Signal Process.</a:t>
            </a:r>
            <a:r>
              <a:rPr lang="en-US" altLang="ko-KR" dirty="0"/>
              <a:t>, vol. 45, no. 11, pp. 2673–2681, 1997.</a:t>
            </a:r>
          </a:p>
          <a:p>
            <a:r>
              <a:rPr lang="en-US" altLang="ko-KR" dirty="0"/>
              <a:t>[7] S. Ioffe and C. Szegedy, "Batch normalization: Accelerating deep network training by reducing internal covariate shift," in </a:t>
            </a:r>
            <a:r>
              <a:rPr lang="en-US" altLang="ko-KR" i="1" dirty="0"/>
              <a:t>Proc. 32nd Int. Conf. Mach. Learn. (ICML)</a:t>
            </a:r>
            <a:r>
              <a:rPr lang="en-US" altLang="ko-KR" dirty="0"/>
              <a:t>, vol. 37, 2015, pp. 448–456.</a:t>
            </a:r>
          </a:p>
          <a:p>
            <a:r>
              <a:rPr lang="en-US" altLang="ko-KR" dirty="0"/>
              <a:t>[8] D. Hendrycks and K. Gimpel, "Gaussian error linear units (GELUs)," </a:t>
            </a:r>
            <a:r>
              <a:rPr lang="en-US" altLang="ko-KR" i="1" dirty="0"/>
              <a:t>arXiv:1606.08415</a:t>
            </a:r>
            <a:r>
              <a:rPr lang="en-US" altLang="ko-KR" dirty="0"/>
              <a:t>, 2016.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A86FEE54-56EE-59A5-29DD-47E331DB6EF0}"/>
              </a:ext>
            </a:extLst>
          </p:cNvPr>
          <p:cNvSpPr txBox="1"/>
          <p:nvPr/>
        </p:nvSpPr>
        <p:spPr>
          <a:xfrm>
            <a:off x="514349" y="514350"/>
            <a:ext cx="3833369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ko-KR" alt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참고문헌</a:t>
            </a:r>
            <a:endParaRPr lang="en-US" sz="4000" spc="50" dirty="0">
              <a:solidFill>
                <a:srgbClr val="202A3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05268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EF182-0493-3F0A-FFF4-702900EC0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>
            <a:extLst>
              <a:ext uri="{FF2B5EF4-FFF2-40B4-BE49-F238E27FC236}">
                <a16:creationId xmlns:a16="http://schemas.microsoft.com/office/drawing/2014/main" id="{91E39123-EEC7-8FCA-5EA0-EF09CC80EB9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BE5D2ECD-CEA1-0E90-7134-383667158AC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277606F-EE07-04BC-A039-0098FC172C49}"/>
              </a:ext>
            </a:extLst>
          </p:cNvPr>
          <p:cNvSpPr txBox="1"/>
          <p:nvPr/>
        </p:nvSpPr>
        <p:spPr>
          <a:xfrm>
            <a:off x="885227" y="1683749"/>
            <a:ext cx="1042154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[9] E. Perez, F. Strub, H. de Vries, V. Dumoulin, and A. Courville, "</a:t>
            </a:r>
            <a:r>
              <a:rPr lang="en-US" altLang="ko-KR" dirty="0" err="1"/>
              <a:t>FiLM</a:t>
            </a:r>
            <a:r>
              <a:rPr lang="en-US" altLang="ko-KR" dirty="0"/>
              <a:t>: Visual reasoning with a general conditioning layer," in </a:t>
            </a:r>
            <a:r>
              <a:rPr lang="en-US" altLang="ko-KR" i="1" dirty="0"/>
              <a:t>Proc. 32nd AAAI Conf. </a:t>
            </a:r>
            <a:r>
              <a:rPr lang="en-US" altLang="ko-KR" i="1" dirty="0" err="1"/>
              <a:t>Artif</a:t>
            </a:r>
            <a:r>
              <a:rPr lang="en-US" altLang="ko-KR" i="1" dirty="0"/>
              <a:t>. Intell. (AAAI)</a:t>
            </a:r>
            <a:r>
              <a:rPr lang="en-US" altLang="ko-KR" dirty="0"/>
              <a:t>, 2018.</a:t>
            </a:r>
          </a:p>
          <a:p>
            <a:r>
              <a:rPr lang="en-US" altLang="ko-KR" dirty="0"/>
              <a:t>[10] M. </a:t>
            </a:r>
            <a:r>
              <a:rPr lang="en-US" altLang="ko-KR" dirty="0" err="1"/>
              <a:t>Tancik</a:t>
            </a:r>
            <a:r>
              <a:rPr lang="en-US" altLang="ko-KR" dirty="0"/>
              <a:t>, P. P. Srinivasan, B. Mildenhall, S. </a:t>
            </a:r>
            <a:r>
              <a:rPr lang="en-US" altLang="ko-KR" dirty="0" err="1"/>
              <a:t>Fridovich</a:t>
            </a:r>
            <a:r>
              <a:rPr lang="en-US" altLang="ko-KR" dirty="0"/>
              <a:t>-Keil, N. Raghavan, U. Singhal, R. Ramamoorthi, J. T. Barron, and R. Ng, "Fourier features let networks learn high frequency functions in low dimensional domains," in </a:t>
            </a:r>
            <a:r>
              <a:rPr lang="en-US" altLang="ko-KR" i="1" dirty="0"/>
              <a:t>Adv. Neural Inf. Process. Syst. (</a:t>
            </a:r>
            <a:r>
              <a:rPr lang="en-US" altLang="ko-KR" i="1" dirty="0" err="1"/>
              <a:t>NeurIPS</a:t>
            </a:r>
            <a:r>
              <a:rPr lang="en-US" altLang="ko-KR" i="1" dirty="0"/>
              <a:t>)</a:t>
            </a:r>
            <a:r>
              <a:rPr lang="en-US" altLang="ko-KR" dirty="0"/>
              <a:t>, vol. 33, 2020.</a:t>
            </a:r>
          </a:p>
          <a:p>
            <a:r>
              <a:rPr lang="en-US" altLang="ko-KR" dirty="0"/>
              <a:t>[11] R. Caruana, "Multitask learning," </a:t>
            </a:r>
            <a:r>
              <a:rPr lang="en-US" altLang="ko-KR" i="1" dirty="0"/>
              <a:t>Mach. Learn.</a:t>
            </a:r>
            <a:r>
              <a:rPr lang="en-US" altLang="ko-KR" dirty="0"/>
              <a:t>, vol. 28, no. 1, pp. 41–75, 1997.</a:t>
            </a:r>
          </a:p>
          <a:p>
            <a:r>
              <a:rPr lang="en-US" altLang="ko-KR" dirty="0"/>
              <a:t>[12] B. T. Polyak and A. B. </a:t>
            </a:r>
            <a:r>
              <a:rPr lang="en-US" altLang="ko-KR" dirty="0" err="1"/>
              <a:t>Juditsky</a:t>
            </a:r>
            <a:r>
              <a:rPr lang="en-US" altLang="ko-KR" dirty="0"/>
              <a:t>, "Acceleration of stochastic approximation by averaging," </a:t>
            </a:r>
            <a:r>
              <a:rPr lang="en-US" altLang="ko-KR" i="1" dirty="0"/>
              <a:t>SIAM J. Control </a:t>
            </a:r>
            <a:r>
              <a:rPr lang="en-US" altLang="ko-KR" i="1" dirty="0" err="1"/>
              <a:t>Optim</a:t>
            </a:r>
            <a:r>
              <a:rPr lang="en-US" altLang="ko-KR" i="1" dirty="0"/>
              <a:t>.</a:t>
            </a:r>
            <a:r>
              <a:rPr lang="en-US" altLang="ko-KR" dirty="0"/>
              <a:t>, vol. 30, no. 4, pp. 838–855, 1992.</a:t>
            </a:r>
          </a:p>
          <a:p>
            <a:r>
              <a:rPr lang="en-US" altLang="ko-KR" dirty="0"/>
              <a:t>[13] N. Srivastava, G. Hinton, A. </a:t>
            </a:r>
            <a:r>
              <a:rPr lang="en-US" altLang="ko-KR" dirty="0" err="1"/>
              <a:t>Krizhevsky</a:t>
            </a:r>
            <a:r>
              <a:rPr lang="en-US" altLang="ko-KR" dirty="0"/>
              <a:t>, I. </a:t>
            </a:r>
            <a:r>
              <a:rPr lang="en-US" altLang="ko-KR" dirty="0" err="1"/>
              <a:t>Sutskever</a:t>
            </a:r>
            <a:r>
              <a:rPr lang="en-US" altLang="ko-KR" dirty="0"/>
              <a:t>, and R. </a:t>
            </a:r>
            <a:r>
              <a:rPr lang="en-US" altLang="ko-KR" dirty="0" err="1"/>
              <a:t>Salakhutdinov</a:t>
            </a:r>
            <a:r>
              <a:rPr lang="en-US" altLang="ko-KR" dirty="0"/>
              <a:t>, "Dropout: A simple way to prevent neural networks from overfitting," </a:t>
            </a:r>
            <a:r>
              <a:rPr lang="en-US" altLang="ko-KR" i="1" dirty="0"/>
              <a:t>J. Mach. Learn. Res.</a:t>
            </a:r>
            <a:r>
              <a:rPr lang="en-US" altLang="ko-KR" dirty="0"/>
              <a:t>, vol. 15, no. 1, pp. 1929–1958, 2014.</a:t>
            </a:r>
          </a:p>
          <a:p>
            <a:r>
              <a:rPr lang="en-US" altLang="ko-KR" dirty="0"/>
              <a:t>[14] I. Loshchilov and F. Hutter, "SGDR: Stochastic gradient descent with warm restarts," in </a:t>
            </a:r>
            <a:r>
              <a:rPr lang="en-US" altLang="ko-KR" i="1" dirty="0"/>
              <a:t>Proc. Int. Conf. Learn. Represent. (ICLR)</a:t>
            </a:r>
            <a:r>
              <a:rPr lang="en-US" altLang="ko-KR" dirty="0"/>
              <a:t>, 2017.</a:t>
            </a:r>
          </a:p>
          <a:p>
            <a:r>
              <a:rPr lang="en-US" altLang="ko-KR" dirty="0"/>
              <a:t>[15] H. Zhang, M. Cisse, Y. N. Dauphin, and D. Lopez-Paz, "</a:t>
            </a:r>
            <a:r>
              <a:rPr lang="en-US" altLang="ko-KR" dirty="0" err="1"/>
              <a:t>mixup</a:t>
            </a:r>
            <a:r>
              <a:rPr lang="en-US" altLang="ko-KR" dirty="0"/>
              <a:t>: Beyond empirical risk minimization," in </a:t>
            </a:r>
            <a:r>
              <a:rPr lang="en-US" altLang="ko-KR" i="1" dirty="0"/>
              <a:t>Proc. Int. Conf. Learn. Represent. (ICLR)</a:t>
            </a:r>
            <a:r>
              <a:rPr lang="en-US" altLang="ko-KR" dirty="0"/>
              <a:t>, 2018.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63482620-C769-E021-BA69-2CBB57105C28}"/>
              </a:ext>
            </a:extLst>
          </p:cNvPr>
          <p:cNvSpPr txBox="1"/>
          <p:nvPr/>
        </p:nvSpPr>
        <p:spPr>
          <a:xfrm>
            <a:off x="514349" y="514350"/>
            <a:ext cx="3833369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ko-KR" alt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참고문헌</a:t>
            </a:r>
            <a:endParaRPr lang="en-US" sz="4000" spc="50" dirty="0">
              <a:solidFill>
                <a:srgbClr val="202A3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14904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9E3C1-8F99-A26D-48F8-19659DCE1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>
            <a:extLst>
              <a:ext uri="{FF2B5EF4-FFF2-40B4-BE49-F238E27FC236}">
                <a16:creationId xmlns:a16="http://schemas.microsoft.com/office/drawing/2014/main" id="{D4B68E7B-F9DC-E61E-A6E8-DAB0C91317F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16456F25-C0D9-FFA3-4C66-EA4C72E6E1D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5D59CDE-F2AF-FA82-E123-4A782753DB22}"/>
              </a:ext>
            </a:extLst>
          </p:cNvPr>
          <p:cNvSpPr txBox="1"/>
          <p:nvPr/>
        </p:nvSpPr>
        <p:spPr>
          <a:xfrm>
            <a:off x="751412" y="1268251"/>
            <a:ext cx="1042154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[16] I. Loshchilov and F. Hutter, "Decoupled weight decay regularization," in </a:t>
            </a:r>
            <a:r>
              <a:rPr lang="en-US" altLang="ko-KR" i="1" dirty="0"/>
              <a:t>Proc. Int. Conf. Learn. Represent. (ICLR)</a:t>
            </a:r>
            <a:r>
              <a:rPr lang="en-US" altLang="ko-KR" dirty="0"/>
              <a:t>, 2019.</a:t>
            </a:r>
          </a:p>
          <a:p>
            <a:r>
              <a:rPr lang="en-US" altLang="ko-KR" dirty="0"/>
              <a:t>[17] T. Chen and C. </a:t>
            </a:r>
            <a:r>
              <a:rPr lang="en-US" altLang="ko-KR" dirty="0" err="1"/>
              <a:t>Guestrin</a:t>
            </a:r>
            <a:r>
              <a:rPr lang="en-US" altLang="ko-KR" dirty="0"/>
              <a:t>, "</a:t>
            </a:r>
            <a:r>
              <a:rPr lang="en-US" altLang="ko-KR" dirty="0" err="1"/>
              <a:t>XGBoost</a:t>
            </a:r>
            <a:r>
              <a:rPr lang="en-US" altLang="ko-KR" dirty="0"/>
              <a:t>: A scalable tree boosting system," in </a:t>
            </a:r>
            <a:r>
              <a:rPr lang="en-US" altLang="ko-KR" i="1" dirty="0"/>
              <a:t>Proc. 22nd ACM SIGKDD Int. Conf. </a:t>
            </a:r>
            <a:r>
              <a:rPr lang="en-US" altLang="ko-KR" i="1" dirty="0" err="1"/>
              <a:t>Knowl</a:t>
            </a:r>
            <a:r>
              <a:rPr lang="en-US" altLang="ko-KR" i="1" dirty="0"/>
              <a:t>. </a:t>
            </a:r>
            <a:r>
              <a:rPr lang="en-US" altLang="ko-KR" i="1" dirty="0" err="1"/>
              <a:t>Discov</a:t>
            </a:r>
            <a:r>
              <a:rPr lang="en-US" altLang="ko-KR" i="1" dirty="0"/>
              <a:t>. Data Min. (KDD)</a:t>
            </a:r>
            <a:r>
              <a:rPr lang="en-US" altLang="ko-KR" dirty="0"/>
              <a:t>, 2016, pp. 785–794.</a:t>
            </a:r>
          </a:p>
          <a:p>
            <a:r>
              <a:rPr lang="en-US" altLang="ko-KR" dirty="0"/>
              <a:t>[18] S. M. Lundberg and S.-I. Lee, "A unified approach to interpreting model predictions," in </a:t>
            </a:r>
            <a:r>
              <a:rPr lang="en-US" altLang="ko-KR" i="1" dirty="0"/>
              <a:t>Adv. Neural Inf. Process. Syst. (</a:t>
            </a:r>
            <a:r>
              <a:rPr lang="en-US" altLang="ko-KR" i="1" dirty="0" err="1"/>
              <a:t>NeurIPS</a:t>
            </a:r>
            <a:r>
              <a:rPr lang="en-US" altLang="ko-KR" i="1" dirty="0"/>
              <a:t>)</a:t>
            </a:r>
            <a:r>
              <a:rPr lang="en-US" altLang="ko-KR" dirty="0"/>
              <a:t>, vol. 30, 2017.</a:t>
            </a:r>
          </a:p>
          <a:p>
            <a:r>
              <a:rPr lang="en-US" altLang="ko-KR" dirty="0"/>
              <a:t>[19] L. van der </a:t>
            </a:r>
            <a:r>
              <a:rPr lang="en-US" altLang="ko-KR" dirty="0" err="1"/>
              <a:t>Maaten</a:t>
            </a:r>
            <a:r>
              <a:rPr lang="en-US" altLang="ko-KR" dirty="0"/>
              <a:t> and G. Hinton, "Visualizing data using t-SNE," </a:t>
            </a:r>
            <a:r>
              <a:rPr lang="en-US" altLang="ko-KR" i="1" dirty="0"/>
              <a:t>J. Mach. Learn. Res.</a:t>
            </a:r>
            <a:r>
              <a:rPr lang="en-US" altLang="ko-KR" dirty="0"/>
              <a:t>, vol. 9, pp. 2579–2605, 2008.</a:t>
            </a:r>
          </a:p>
          <a:p>
            <a:r>
              <a:rPr lang="en-US" altLang="ko-KR" dirty="0"/>
              <a:t>[20] L. McInnes, J. Healy, and J. Melville, "UMAP: Uniform manifold approximation and projection for dimension reduction," </a:t>
            </a:r>
            <a:r>
              <a:rPr lang="en-US" altLang="ko-KR" i="1" dirty="0"/>
              <a:t>arXiv:1802.03426</a:t>
            </a:r>
            <a:r>
              <a:rPr lang="en-US" altLang="ko-KR" dirty="0"/>
              <a:t>, 2018.</a:t>
            </a:r>
          </a:p>
          <a:p>
            <a:r>
              <a:rPr lang="en-US" altLang="ko-KR" dirty="0"/>
              <a:t>[21] F. Pedregosa, G. </a:t>
            </a:r>
            <a:r>
              <a:rPr lang="en-US" altLang="ko-KR" dirty="0" err="1"/>
              <a:t>Varoquaux</a:t>
            </a:r>
            <a:r>
              <a:rPr lang="en-US" altLang="ko-KR" dirty="0"/>
              <a:t>, A. </a:t>
            </a:r>
            <a:r>
              <a:rPr lang="en-US" altLang="ko-KR" dirty="0" err="1"/>
              <a:t>Gramfort</a:t>
            </a:r>
            <a:r>
              <a:rPr lang="en-US" altLang="ko-KR" dirty="0"/>
              <a:t>, V. Michel, B. Thirion, O. Grisel, et al., "Scikit-learn: Machine learning in Python," </a:t>
            </a:r>
            <a:r>
              <a:rPr lang="en-US" altLang="ko-KR" i="1" dirty="0"/>
              <a:t>J. Mach. Learn. Res.</a:t>
            </a:r>
            <a:r>
              <a:rPr lang="en-US" altLang="ko-KR" dirty="0"/>
              <a:t>, vol. 12, pp. 2825–2830, 2011.</a:t>
            </a:r>
          </a:p>
          <a:p>
            <a:r>
              <a:rPr lang="en-US" altLang="ko-KR" dirty="0"/>
              <a:t>[22] A. </a:t>
            </a:r>
            <a:r>
              <a:rPr lang="en-US" altLang="ko-KR" dirty="0" err="1"/>
              <a:t>Paszke</a:t>
            </a:r>
            <a:r>
              <a:rPr lang="en-US" altLang="ko-KR" dirty="0"/>
              <a:t>, S. Gross, F. Massa, A. Lerer, J. Bradbury, G. Chanan, et al., "</a:t>
            </a:r>
            <a:r>
              <a:rPr lang="en-US" altLang="ko-KR" dirty="0" err="1"/>
              <a:t>PyTorch</a:t>
            </a:r>
            <a:r>
              <a:rPr lang="en-US" altLang="ko-KR" dirty="0"/>
              <a:t>: An imperative style, high-performance deep learning library," in </a:t>
            </a:r>
            <a:r>
              <a:rPr lang="en-US" altLang="ko-KR" i="1" dirty="0"/>
              <a:t>Adv. Neural Inf. Process. Syst. (</a:t>
            </a:r>
            <a:r>
              <a:rPr lang="en-US" altLang="ko-KR" i="1" dirty="0" err="1"/>
              <a:t>NeurIPS</a:t>
            </a:r>
            <a:r>
              <a:rPr lang="en-US" altLang="ko-KR" i="1" dirty="0"/>
              <a:t>)</a:t>
            </a:r>
            <a:r>
              <a:rPr lang="en-US" altLang="ko-KR" dirty="0"/>
              <a:t>, vol. 32, 2019.</a:t>
            </a:r>
          </a:p>
          <a:p>
            <a:r>
              <a:rPr lang="en-US" altLang="ko-KR" dirty="0"/>
              <a:t>[23] T. Akiba, S. Sano, T. Yanase, T. Ohta, and M. Koyama, "</a:t>
            </a:r>
            <a:r>
              <a:rPr lang="en-US" altLang="ko-KR" dirty="0" err="1"/>
              <a:t>Optuna</a:t>
            </a:r>
            <a:r>
              <a:rPr lang="en-US" altLang="ko-KR" dirty="0"/>
              <a:t>: A next-generation hyperparameter optimization framework," in </a:t>
            </a:r>
            <a:r>
              <a:rPr lang="en-US" altLang="ko-KR" i="1" dirty="0"/>
              <a:t>Proc. 25th ACM SIGKDD Int. Conf. </a:t>
            </a:r>
            <a:r>
              <a:rPr lang="en-US" altLang="ko-KR" i="1" dirty="0" err="1"/>
              <a:t>Knowl</a:t>
            </a:r>
            <a:r>
              <a:rPr lang="en-US" altLang="ko-KR" i="1" dirty="0"/>
              <a:t>. </a:t>
            </a:r>
            <a:r>
              <a:rPr lang="en-US" altLang="ko-KR" i="1" dirty="0" err="1"/>
              <a:t>Discov</a:t>
            </a:r>
            <a:r>
              <a:rPr lang="en-US" altLang="ko-KR" i="1" dirty="0"/>
              <a:t>. Data Min. (KDD)</a:t>
            </a:r>
            <a:r>
              <a:rPr lang="en-US" altLang="ko-KR" dirty="0"/>
              <a:t>, 2019, pp. 2623–2631.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47C004E6-52AF-C7E2-161B-5144D2EA6D83}"/>
              </a:ext>
            </a:extLst>
          </p:cNvPr>
          <p:cNvSpPr txBox="1"/>
          <p:nvPr/>
        </p:nvSpPr>
        <p:spPr>
          <a:xfrm>
            <a:off x="514349" y="514350"/>
            <a:ext cx="3833369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ko-KR" alt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참고문헌</a:t>
            </a:r>
            <a:endParaRPr lang="en-US" sz="4000" spc="50" dirty="0">
              <a:solidFill>
                <a:srgbClr val="202A3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533138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DC015-A604-1D83-0FA9-622B9E31B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>
            <a:extLst>
              <a:ext uri="{FF2B5EF4-FFF2-40B4-BE49-F238E27FC236}">
                <a16:creationId xmlns:a16="http://schemas.microsoft.com/office/drawing/2014/main" id="{014D2E61-DEC1-9B3F-42E2-C80B4ACA8ED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482207CE-475E-AA25-44C2-68727791FD1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5768D4A-64F3-7974-7A58-DBA66990C957}"/>
              </a:ext>
            </a:extLst>
          </p:cNvPr>
          <p:cNvSpPr txBox="1"/>
          <p:nvPr/>
        </p:nvSpPr>
        <p:spPr>
          <a:xfrm>
            <a:off x="837004" y="1477492"/>
            <a:ext cx="104215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[24] K.-C. Chien, C.-H. Chang, and D. </a:t>
            </a:r>
            <a:r>
              <a:rPr lang="en-US" altLang="ko-KR" dirty="0" err="1"/>
              <a:t>Djurdjanovic</a:t>
            </a:r>
            <a:r>
              <a:rPr lang="en-US" altLang="ko-KR" dirty="0"/>
              <a:t>, "Virtual metrology modeling of reactive ion etching based on statistics-based and dynamics-inspired spectral features," </a:t>
            </a:r>
            <a:r>
              <a:rPr lang="en-US" altLang="ko-KR" i="1" dirty="0"/>
              <a:t>J. Vac. Sci. Technol. B</a:t>
            </a:r>
            <a:r>
              <a:rPr lang="en-US" altLang="ko-KR" dirty="0"/>
              <a:t>, vol. 39, no. 6, 064003, 2021.</a:t>
            </a:r>
          </a:p>
          <a:p>
            <a:r>
              <a:rPr lang="en-US" altLang="ko-KR" dirty="0"/>
              <a:t>[25] M. Maggipinto, A. </a:t>
            </a:r>
            <a:r>
              <a:rPr lang="en-US" altLang="ko-KR" dirty="0" err="1"/>
              <a:t>Beghi</a:t>
            </a:r>
            <a:r>
              <a:rPr lang="en-US" altLang="ko-KR" dirty="0"/>
              <a:t>, S. McLoone, and G. A. </a:t>
            </a:r>
            <a:r>
              <a:rPr lang="en-US" altLang="ko-KR" dirty="0" err="1"/>
              <a:t>Susto</a:t>
            </a:r>
            <a:r>
              <a:rPr lang="en-US" altLang="ko-KR" dirty="0"/>
              <a:t>, "</a:t>
            </a:r>
            <a:r>
              <a:rPr lang="en-US" altLang="ko-KR" dirty="0" err="1"/>
              <a:t>DeepVM</a:t>
            </a:r>
            <a:r>
              <a:rPr lang="en-US" altLang="ko-KR" dirty="0"/>
              <a:t>: A deep learning-based approach with automatic feature extraction for 2D input data virtual metrology," </a:t>
            </a:r>
            <a:r>
              <a:rPr lang="en-US" altLang="ko-KR" i="1" dirty="0"/>
              <a:t>J. Process Control</a:t>
            </a:r>
            <a:r>
              <a:rPr lang="en-US" altLang="ko-KR" dirty="0"/>
              <a:t>, vol. 84, pp. 24–34, 2019.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D95BE3A6-5FE3-5D58-779C-CDFF5DED968C}"/>
              </a:ext>
            </a:extLst>
          </p:cNvPr>
          <p:cNvSpPr txBox="1"/>
          <p:nvPr/>
        </p:nvSpPr>
        <p:spPr>
          <a:xfrm>
            <a:off x="514349" y="514350"/>
            <a:ext cx="3833369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ko-KR" alt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참고문헌</a:t>
            </a:r>
            <a:endParaRPr lang="en-US" sz="4000" spc="50" dirty="0">
              <a:solidFill>
                <a:srgbClr val="202A3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8746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3588</Words>
  <Application>Microsoft Office PowerPoint</Application>
  <PresentationFormat>와이드스크린</PresentationFormat>
  <Paragraphs>249</Paragraphs>
  <Slides>36</Slides>
  <Notes>34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5" baseType="lpstr">
      <vt:lpstr>Noto Sans KR ExtraBold</vt:lpstr>
      <vt:lpstr>Pretendard Black</vt:lpstr>
      <vt:lpstr>Pretendard Light</vt:lpstr>
      <vt:lpstr>Pretendard Medium</vt:lpstr>
      <vt:lpstr>Pretendard SemiBold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이준서</dc:creator>
  <cp:lastModifiedBy>이준서</cp:lastModifiedBy>
  <cp:revision>6</cp:revision>
  <dcterms:created xsi:type="dcterms:W3CDTF">2026-05-28T15:40:42Z</dcterms:created>
  <dcterms:modified xsi:type="dcterms:W3CDTF">2026-05-28T19:17:11Z</dcterms:modified>
</cp:coreProperties>
</file>