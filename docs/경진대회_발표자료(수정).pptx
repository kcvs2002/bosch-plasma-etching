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362" r:id="rId2"/>
    <p:sldId id="282" r:id="rId3"/>
    <p:sldId id="279" r:id="rId4"/>
    <p:sldId id="370" r:id="rId5"/>
    <p:sldId id="351" r:id="rId6"/>
    <p:sldId id="371" r:id="rId7"/>
    <p:sldId id="368" r:id="rId8"/>
    <p:sldId id="369" r:id="rId9"/>
    <p:sldId id="372" r:id="rId10"/>
    <p:sldId id="373" r:id="rId11"/>
    <p:sldId id="356" r:id="rId12"/>
    <p:sldId id="367" r:id="rId13"/>
    <p:sldId id="360" r:id="rId14"/>
    <p:sldId id="278" r:id="rId15"/>
  </p:sldIdLst>
  <p:sldSz cx="12192000" cy="6858000"/>
  <p:notesSz cx="6858000" cy="9144000"/>
  <p:embeddedFontLst>
    <p:embeddedFont>
      <p:font typeface="Pretendard Black" panose="02000A03000000020004" pitchFamily="2" charset="-127"/>
      <p:bold r:id="rId17"/>
    </p:embeddedFont>
    <p:embeddedFont>
      <p:font typeface="Pretendard ExtraBold" panose="02000903000000020004" pitchFamily="2" charset="-127"/>
      <p:bold r:id="rId18"/>
    </p:embeddedFont>
    <p:embeddedFont>
      <p:font typeface="Pretendard Light" panose="02000403000000020004" pitchFamily="2" charset="-127"/>
      <p:regular r:id="rId19"/>
    </p:embeddedFont>
    <p:embeddedFont>
      <p:font typeface="Pretendard Medium" panose="02000603000000020004" pitchFamily="2" charset="-127"/>
      <p:regular r:id="rId20"/>
    </p:embeddedFont>
    <p:embeddedFont>
      <p:font typeface="Pretendard SemiBold" panose="02000703000000020004" pitchFamily="2" charset="-127"/>
      <p:bold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8803" autoAdjust="0"/>
  </p:normalViewPr>
  <p:slideViewPr>
    <p:cSldViewPr snapToGrid="0">
      <p:cViewPr varScale="1">
        <p:scale>
          <a:sx n="87" d="100"/>
          <a:sy n="87" d="100"/>
        </p:scale>
        <p:origin x="14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B55F4-A6FF-42DF-ABA7-A03E940C9C57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4285C-6431-4B5D-85A4-FDC338944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60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반도체 제조 공정에서 웨이퍼의 품질은 식각 깊이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산화막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등의 물리적인 측정값에 따라 달라집니다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이를 실제로 측정하려면 비용과 시간이 많이 소요되고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웨이퍼에 대해 수행하기 어렵다는 문제가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공정 중에 수집되는 센서 데이터로부터 이러한 물리적 측정값을 예측하는 기술로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전수 검사를 가능하게 하고 공정 제어의 실시간성을 높일 수 있다는 장점이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00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2148-EDAB-19A7-0183-E6E2C426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6CBA3-6739-E554-1A3A-2FBDDC316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A32357-C938-D204-3126-CC1283912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Dataset </a:t>
            </a:r>
            <a:r>
              <a:rPr lang="ko-KR" altLang="en-US" dirty="0"/>
              <a:t>파트에 대해서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저희가 쓰는 데이터는 독일 연구소에서 실제 플라즈마 식각 장비를 돌리면서 수집한 데이터입니다</a:t>
            </a:r>
            <a:r>
              <a:rPr lang="en-US" altLang="ko-KR" dirty="0"/>
              <a:t>. </a:t>
            </a:r>
            <a:r>
              <a:rPr lang="ko-KR" altLang="en-US" dirty="0"/>
              <a:t>장비는 </a:t>
            </a:r>
            <a:r>
              <a:rPr lang="en-US" altLang="ko-KR" dirty="0"/>
              <a:t>ICP-RIE </a:t>
            </a:r>
            <a:r>
              <a:rPr lang="ko-KR" altLang="en-US" dirty="0"/>
              <a:t>방식이고</a:t>
            </a:r>
            <a:r>
              <a:rPr lang="en-US" altLang="ko-KR" dirty="0"/>
              <a:t>, 200mm </a:t>
            </a:r>
            <a:r>
              <a:rPr lang="ko-KR" altLang="en-US" dirty="0"/>
              <a:t>실리콘 웨이퍼에 </a:t>
            </a:r>
            <a:r>
              <a:rPr lang="en-US" altLang="ko-KR" dirty="0"/>
              <a:t>SF₆</a:t>
            </a:r>
            <a:r>
              <a:rPr lang="ko-KR" altLang="en-US" dirty="0"/>
              <a:t>와 </a:t>
            </a:r>
            <a:r>
              <a:rPr lang="en-US" altLang="ko-KR" dirty="0"/>
              <a:t>C₄F₈</a:t>
            </a:r>
            <a:r>
              <a:rPr lang="ko-KR" altLang="en-US" dirty="0"/>
              <a:t>를 교대로 사용하는 </a:t>
            </a:r>
            <a:r>
              <a:rPr lang="en-US" altLang="ko-KR" dirty="0"/>
              <a:t>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적용했습니다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개 </a:t>
            </a:r>
            <a:r>
              <a:rPr lang="ko-KR" altLang="en-US" dirty="0" err="1"/>
              <a:t>로트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100</a:t>
            </a:r>
            <a:r>
              <a:rPr lang="ko-KR" altLang="en-US" dirty="0"/>
              <a:t>개 웨이퍼 규모이고</a:t>
            </a:r>
            <a:r>
              <a:rPr lang="en-US" altLang="ko-KR" dirty="0"/>
              <a:t>, </a:t>
            </a:r>
            <a:r>
              <a:rPr lang="en-US" altLang="ko-KR" dirty="0" err="1"/>
              <a:t>Zenodo</a:t>
            </a:r>
            <a:r>
              <a:rPr lang="ko-KR" altLang="en-US" dirty="0"/>
              <a:t>에 오픈 데이터로 공개되어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데이터의 가장 큰 강점은 세 종류의 데이터가 동시에 수집되었다는 점입니다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플라즈마 안에 어떤 화학종이 있는지 빛으로 측정한 </a:t>
            </a:r>
            <a:r>
              <a:rPr lang="en-US" altLang="ko-KR" dirty="0"/>
              <a:t>OES </a:t>
            </a:r>
            <a:r>
              <a:rPr lang="ko-KR" altLang="en-US" dirty="0"/>
              <a:t>데이터 </a:t>
            </a:r>
            <a:r>
              <a:rPr lang="en-US" altLang="ko-KR" dirty="0"/>
              <a:t>3,648</a:t>
            </a:r>
            <a:r>
              <a:rPr lang="ko-KR" altLang="en-US" dirty="0"/>
              <a:t>채널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장비의 센서가 기록한 공정 파라미터 </a:t>
            </a:r>
            <a:r>
              <a:rPr lang="en-US" altLang="ko-KR" dirty="0"/>
              <a:t>31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식각이 끝난 후 실제로 재본 식각 깊이가 웨이퍼 </a:t>
            </a:r>
            <a:r>
              <a:rPr lang="ko-KR" altLang="en-US" dirty="0" err="1"/>
              <a:t>계측값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개 또는 </a:t>
            </a:r>
            <a:r>
              <a:rPr lang="en-US" altLang="ko-KR" dirty="0"/>
              <a:t>89</a:t>
            </a:r>
            <a:r>
              <a:rPr lang="ko-KR" altLang="en-US" dirty="0"/>
              <a:t>개 포인트로 </a:t>
            </a:r>
            <a:r>
              <a:rPr lang="ko-KR" altLang="en-US" dirty="0" err="1"/>
              <a:t>기록되어있습니다</a:t>
            </a:r>
            <a:r>
              <a:rPr lang="en-US" altLang="ko-KR" dirty="0"/>
              <a:t>. </a:t>
            </a:r>
            <a:r>
              <a:rPr lang="ko-KR" altLang="en-US" dirty="0"/>
              <a:t>앞의 둘이 모델의 입력이고</a:t>
            </a:r>
            <a:r>
              <a:rPr lang="en-US" altLang="ko-KR" dirty="0"/>
              <a:t>, </a:t>
            </a:r>
            <a:r>
              <a:rPr lang="ko-KR" altLang="en-US" dirty="0"/>
              <a:t>마지막이 저희가 예측하려는 </a:t>
            </a:r>
            <a:r>
              <a:rPr lang="ko-KR" altLang="en-US" dirty="0" err="1"/>
              <a:t>정답값입니다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282BC-556C-B8A8-5093-E802B80F1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369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0DEE-1E2D-974C-F341-70E78AD8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2E63DE-800B-5B04-AA9F-2C9129BB3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B4DC46-37D6-3A3F-3AF5-A584E7C9F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 소개할 파이프라인은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사용하는 입력 데이터는 크게 세 가지입니다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채널로 구성됩니다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 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3,245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센서 채널입니다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내 측정 위치 좌표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포인트의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원시 데이터를 그대로 쓰기엔 차원이 너무 높기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 엔지니어링 단계에서 사이클 단위로 요약합니다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밴드별로 평균을 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평균을 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 시퀀스에 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표준편차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최솟값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최댓값 등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통계를 적용하면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80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XY 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피처가 만들어집니다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피처 벡터를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Regressor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입력해서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동시에 예측합니다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 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max_depth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learning_rate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0.09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설정했습니다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모델이 딥러닝 모델과 비교할 성능 기준선 역할을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803C6-A892-A0FA-FADF-65BEF411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110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파이프라인 다이어그램</a:t>
            </a:r>
            <a:endParaRPr lang="en-US" altLang="ko-KR" dirty="0"/>
          </a:p>
          <a:p>
            <a:r>
              <a:rPr lang="ko-KR" altLang="en-US" dirty="0" err="1"/>
              <a:t>아키텍쳐적인</a:t>
            </a:r>
            <a:r>
              <a:rPr lang="ko-KR" altLang="en-US" dirty="0"/>
              <a:t> 개선 </a:t>
            </a:r>
            <a:r>
              <a:rPr lang="en-US" altLang="ko-KR" dirty="0"/>
              <a:t>: Aux</a:t>
            </a:r>
            <a:r>
              <a:rPr lang="ko-KR" altLang="en-US" dirty="0"/>
              <a:t>와 </a:t>
            </a:r>
            <a:r>
              <a:rPr lang="en-US" altLang="ko-KR" dirty="0"/>
              <a:t>OES </a:t>
            </a:r>
            <a:r>
              <a:rPr lang="en-US" altLang="ko-KR" dirty="0" err="1"/>
              <a:t>top_k</a:t>
            </a:r>
            <a:endParaRPr lang="en-US" altLang="ko-KR" dirty="0"/>
          </a:p>
          <a:p>
            <a:r>
              <a:rPr lang="en-US" altLang="ko-KR" dirty="0"/>
              <a:t>Dataset</a:t>
            </a:r>
            <a:r>
              <a:rPr lang="ko-KR" altLang="en-US" dirty="0"/>
              <a:t> </a:t>
            </a:r>
            <a:r>
              <a:rPr lang="ko-KR" altLang="en-US" dirty="0" err="1"/>
              <a:t>전처리</a:t>
            </a:r>
            <a:r>
              <a:rPr lang="ko-KR" altLang="en-US" dirty="0"/>
              <a:t> 및 </a:t>
            </a:r>
            <a:r>
              <a:rPr lang="en-US" altLang="ko-KR" dirty="0"/>
              <a:t>train process </a:t>
            </a:r>
            <a:r>
              <a:rPr lang="ko-KR" altLang="en-US" dirty="0"/>
              <a:t>개선 </a:t>
            </a:r>
            <a:r>
              <a:rPr lang="en-US" altLang="ko-KR" dirty="0"/>
              <a:t>: </a:t>
            </a:r>
            <a:r>
              <a:rPr lang="en-US" altLang="ko-KR" dirty="0" err="1"/>
              <a:t>Mixup</a:t>
            </a:r>
            <a:r>
              <a:rPr lang="en-US" altLang="ko-KR" dirty="0"/>
              <a:t>, EMA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232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근데 이상하게 </a:t>
            </a:r>
            <a:r>
              <a:rPr lang="en-US" altLang="ko-KR" dirty="0"/>
              <a:t>Si</a:t>
            </a:r>
            <a:r>
              <a:rPr lang="ko-KR" altLang="en-US" dirty="0"/>
              <a:t>를 </a:t>
            </a:r>
            <a:r>
              <a:rPr lang="ko-KR" altLang="en-US" dirty="0" err="1"/>
              <a:t>못맞추더라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250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적용했더니 성능 회복함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410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시각화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84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83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DEEC-1989-DB2C-3585-E30A3A01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16216A-A50D-26D8-1A98-F8D99F5F3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384E20-F0AC-E45C-EAEA-909887011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베이스라인인 </a:t>
            </a:r>
            <a:r>
              <a:rPr lang="en-US" altLang="ko-KR" dirty="0"/>
              <a:t>XGB</a:t>
            </a:r>
            <a:r>
              <a:rPr lang="ko-KR" altLang="en-US" dirty="0"/>
              <a:t>와의 비교</a:t>
            </a:r>
            <a:endParaRPr lang="en-US" altLang="ko-KR" dirty="0"/>
          </a:p>
          <a:p>
            <a:r>
              <a:rPr lang="ko-KR" altLang="en-US" dirty="0"/>
              <a:t>꽤 유의미한 상승</a:t>
            </a:r>
            <a:r>
              <a:rPr lang="en-US" altLang="ko-KR" dirty="0"/>
              <a:t>, </a:t>
            </a:r>
            <a:r>
              <a:rPr lang="ko-KR" altLang="en-US" dirty="0"/>
              <a:t>하지만 </a:t>
            </a:r>
            <a:r>
              <a:rPr lang="en-US" altLang="ko-KR" dirty="0"/>
              <a:t>fold4</a:t>
            </a:r>
            <a:r>
              <a:rPr lang="ko-KR" altLang="en-US" dirty="0"/>
              <a:t>에서는 여전히 뒤쳐짐</a:t>
            </a:r>
            <a:endParaRPr lang="en-US" altLang="ko-KR" dirty="0"/>
          </a:p>
          <a:p>
            <a:r>
              <a:rPr lang="en-US" altLang="ko-KR" dirty="0"/>
              <a:t>DL</a:t>
            </a:r>
            <a:r>
              <a:rPr lang="ko-KR" altLang="en-US" dirty="0"/>
              <a:t>에서 상당히 어려워하던 </a:t>
            </a:r>
            <a:r>
              <a:rPr lang="en-US" altLang="ko-KR" dirty="0"/>
              <a:t>fold4</a:t>
            </a:r>
            <a:r>
              <a:rPr lang="ko-KR" altLang="en-US" dirty="0"/>
              <a:t>가 </a:t>
            </a:r>
            <a:r>
              <a:rPr lang="en-US" altLang="ko-KR" dirty="0" err="1"/>
              <a:t>xgb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번째로 성능이 </a:t>
            </a:r>
            <a:r>
              <a:rPr lang="ko-KR" altLang="en-US" dirty="0" err="1"/>
              <a:t>높다는것이</a:t>
            </a:r>
            <a:r>
              <a:rPr lang="ko-KR" altLang="en-US" dirty="0"/>
              <a:t> 흥미로운 포인트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0B3C3-F09C-09DF-9A45-8F2B92B9B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34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4519-2210-4882-BC56-D20FE2F3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872607-FE11-4475-BF70-719D39FDD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CE5337-1EC4-A5DF-32ED-DFD5AD79C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 </a:t>
            </a:r>
            <a:r>
              <a:rPr lang="en-US" altLang="ko-KR" dirty="0"/>
              <a:t>VM</a:t>
            </a:r>
            <a:r>
              <a:rPr lang="ko-KR" altLang="en-US" dirty="0"/>
              <a:t>은 보통 </a:t>
            </a:r>
            <a:r>
              <a:rPr lang="ko-KR" altLang="en-US" b="1" dirty="0"/>
              <a:t>결과값 예측</a:t>
            </a:r>
            <a:r>
              <a:rPr lang="ko-KR" altLang="en-US" dirty="0"/>
              <a:t>에서 끝나는데</a:t>
            </a:r>
            <a:r>
              <a:rPr lang="en-US" altLang="ko-KR" dirty="0"/>
              <a:t>, cycle-aware </a:t>
            </a:r>
            <a:r>
              <a:rPr lang="ko-KR" altLang="en-US" dirty="0"/>
              <a:t>모델은 </a:t>
            </a:r>
            <a:r>
              <a:rPr lang="en-US" altLang="ko-KR" dirty="0"/>
              <a:t>cycle </a:t>
            </a:r>
            <a:r>
              <a:rPr lang="ko-KR" altLang="en-US" dirty="0"/>
              <a:t>단위로 입력을 나누니까 </a:t>
            </a:r>
            <a:endParaRPr lang="en-US" altLang="ko-KR" dirty="0"/>
          </a:p>
          <a:p>
            <a:r>
              <a:rPr lang="ko-KR" altLang="en-US" dirty="0"/>
              <a:t>나중에 </a:t>
            </a:r>
            <a:r>
              <a:rPr lang="en-US" altLang="ko-KR" dirty="0"/>
              <a:t>attribution/attention</a:t>
            </a:r>
            <a:r>
              <a:rPr lang="ko-KR" altLang="en-US" dirty="0"/>
              <a:t>을 붙이면</a:t>
            </a:r>
            <a:r>
              <a:rPr lang="en-US" altLang="ko-KR" dirty="0"/>
              <a:t>, </a:t>
            </a:r>
            <a:r>
              <a:rPr lang="ko-KR" altLang="en-US" dirty="0"/>
              <a:t>불량 또는 예측 오차가 발생했을 때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en-US" altLang="ko-KR" dirty="0"/>
              <a:t>cycle </a:t>
            </a:r>
            <a:r>
              <a:rPr lang="ko-KR" altLang="en-US" dirty="0"/>
              <a:t>구간에서 이상 신호가 나타났는지 추적할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B58A6C-E641-72E1-7C5B-FBCF49255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82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D999-0375-9F50-6EF8-CE23066A4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84427-142B-67B9-3E89-77290A173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82FEBF-9EB1-3AC2-524B-FBB21E5A1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dirty="0"/>
              <a:t>ALD: </a:t>
            </a:r>
            <a:r>
              <a:rPr lang="ko-KR" altLang="en-US" b="0" dirty="0"/>
              <a:t>금속 </a:t>
            </a:r>
            <a:r>
              <a:rPr lang="en-US" altLang="ko-KR" b="0" dirty="0"/>
              <a:t>source gas + </a:t>
            </a:r>
            <a:r>
              <a:rPr lang="ko-KR" altLang="en-US" b="0" dirty="0"/>
              <a:t>반응 </a:t>
            </a:r>
            <a:r>
              <a:rPr lang="en-US" altLang="ko-KR" b="0" dirty="0"/>
              <a:t>gas</a:t>
            </a:r>
            <a:r>
              <a:rPr lang="ko-KR" altLang="en-US" b="0" dirty="0"/>
              <a:t>가 번갈아 들어가며 박막을 쌓는 </a:t>
            </a:r>
            <a:r>
              <a:rPr lang="en-US" altLang="ko-KR" b="0" dirty="0"/>
              <a:t>cycle </a:t>
            </a:r>
            <a:r>
              <a:rPr lang="ko-KR" altLang="en-US" b="0" dirty="0"/>
              <a:t>공정</a:t>
            </a:r>
          </a:p>
          <a:p>
            <a:r>
              <a:rPr lang="en-US" altLang="ko-KR" b="0" dirty="0"/>
              <a:t>PEALD: </a:t>
            </a:r>
            <a:r>
              <a:rPr lang="ko-KR" altLang="en-US" b="0" dirty="0"/>
              <a:t>금속 </a:t>
            </a:r>
            <a:r>
              <a:rPr lang="en-US" altLang="ko-KR" b="0" dirty="0"/>
              <a:t>source gas + plasma gas</a:t>
            </a:r>
            <a:r>
              <a:rPr lang="ko-KR" altLang="en-US" b="0" dirty="0"/>
              <a:t>가 번갈아 들어가며 박막을 쌓는 </a:t>
            </a:r>
            <a:r>
              <a:rPr lang="en-US" altLang="ko-KR" b="0" dirty="0"/>
              <a:t>cycle </a:t>
            </a:r>
            <a:r>
              <a:rPr lang="ko-KR" altLang="en-US" b="0" dirty="0"/>
              <a:t>공정</a:t>
            </a:r>
            <a:endParaRPr lang="en-US" altLang="ko-KR" b="0" dirty="0"/>
          </a:p>
          <a:p>
            <a:r>
              <a:rPr lang="en-US" altLang="ko-KR" b="0" dirty="0"/>
              <a:t>ALE: </a:t>
            </a:r>
            <a:r>
              <a:rPr lang="ko-KR" altLang="en-US" b="0" dirty="0"/>
              <a:t>표면을 바꾸는 </a:t>
            </a:r>
            <a:r>
              <a:rPr lang="en-US" altLang="ko-KR" b="0" dirty="0"/>
              <a:t>gas + </a:t>
            </a:r>
            <a:r>
              <a:rPr lang="ko-KR" altLang="en-US" b="0" dirty="0"/>
              <a:t>제거 </a:t>
            </a:r>
            <a:r>
              <a:rPr lang="en-US" altLang="ko-KR" b="0" dirty="0"/>
              <a:t>plasma</a:t>
            </a:r>
            <a:r>
              <a:rPr lang="ko-KR" altLang="en-US" b="0" dirty="0"/>
              <a:t>가 반복되며 </a:t>
            </a:r>
            <a:r>
              <a:rPr lang="ko-KR" altLang="en-US" b="0" dirty="0" err="1"/>
              <a:t>원자층</a:t>
            </a:r>
            <a:r>
              <a:rPr lang="ko-KR" altLang="en-US" b="0" dirty="0"/>
              <a:t> 단위로 깎는 </a:t>
            </a:r>
            <a:r>
              <a:rPr lang="en-US" altLang="ko-KR" b="0" dirty="0"/>
              <a:t>cycle </a:t>
            </a:r>
            <a:r>
              <a:rPr lang="ko-KR" altLang="en-US" b="0" dirty="0"/>
              <a:t>공정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E99EF7-F65C-E9BE-58C2-F47E35289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52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1B248-B5EF-20AE-07C3-7D70F1F82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AB29E1-6A58-AD40-1D2F-8411397C6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855D35-158E-A9B8-3044-10F791A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C28A6-F9C6-DAEC-EBFA-00BC7F65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80E62-052C-2C7E-18F0-33B5A6B5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14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036EB-D8D6-DE82-EFF2-7CCAE666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A6657-85E2-FF34-239A-94CA3BAE8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4499A-54D6-893D-83E3-AF241335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DB95C0-A16E-3BE1-C648-77031E26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D9431B-AEAA-625A-6665-C646B80C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35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AA8A4-C08F-6776-BF1E-7EBF456A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72443-DCB4-D574-BA54-B0177265E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358DF2-558D-32C2-DA24-D6106917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7C0F8-D4AF-8B5F-5EF1-46EF32DE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F66D58-6D69-CECD-D1AB-697CC73C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1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46ADA-F1DB-0F2C-C9B6-5890087E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62373D-0A4C-8B25-9DB4-42AB2BB38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4BC4BB-CE7D-31EE-14E3-081C3589C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D107F6-2076-C183-6FF7-8AE1E228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B7388A-BE4A-9640-B6AF-17E80393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29A2C4-6A4D-C3A7-0D06-36E7825D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28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F87E9-724E-CA6A-C94C-6C24A98D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FFCF54-7A84-8D93-8CF7-8AE7C0400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0498A7-31E2-EEC3-B407-6BB1E4A03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2ACC4B-FC95-96D9-8235-7993D6E31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C04156-8A6F-E1C5-290F-7B9AD5CCD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230E25-BB9C-DD22-DB54-B0D77FE3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04B18E-1573-B1B6-7DF8-3C5D0FF4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4A2404-9D52-4E7E-1A0B-36DB809F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8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A6456-B0FA-7A53-3902-30B122240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73BA63-D7F8-7CA3-58F1-80859264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8F31B-A585-627D-1B49-5536D32C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EE821-25F2-AB57-1824-4E6A141C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09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16D9F7-FDF8-5DC1-7C96-D5D6ED7D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9662E2-1344-7806-5A8A-06DA60D3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32C85-5D79-52D3-AA25-85BF2847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2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56BD3-3055-5E84-1BA1-EE0F0CEB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AA770-8901-5184-5795-594BA0C6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F880CF-5CCA-EA2C-9026-D61A26E57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DA95DB-539F-B3E5-70B0-0C6B7176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328567-7F6C-713B-E3BC-8DC9CC6D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36275E-FCAA-2D9C-5192-21B99AE2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79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98339-1C25-791A-2E61-C122D664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A0FA65-ED3D-05FB-2E69-58DE29F7E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D6928-BA93-95D1-8A87-1D867E730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2A11EA-F3C6-892A-43E5-ECC57614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6AC39-1D9D-0075-AF1A-BD5A0FAA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CAFE5A-5F66-660A-AA72-642D1D5B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0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5FE7C-C879-ACC0-2D23-500E1A57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EF62BF-209A-1E4F-A42A-649C03EBB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B9E6F-87DB-3202-D7BD-FE09B5FF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8C7D87-880D-5C91-DBA7-8CCFC02B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8D160-E6A3-2D8D-06A2-263ECAD5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1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1499A7-B0EA-7722-D7BD-2F848FF2B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E0FA73-81CD-BE46-5620-067BC8438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FB5DA-E233-CA7C-2DF2-03968A28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6DB7E6-D961-19C6-82F8-37E060BD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A7A9B7-810C-44ED-C3E9-EE4A60CC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61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4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7BF8EF-2560-F75F-528C-82AA77F6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29B2B1-3966-52FF-3FF4-F5019FB89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03195-3CF6-C59A-2AEE-0C1A90CE8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3E724-EC4F-49EC-81DC-705526236843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75021-66CA-4200-D097-51C16C80B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65BD22-D752-BB05-76FF-BDF7E1562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61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2838450" y="-158750"/>
            <a:ext cx="964565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10483850" y="2298700"/>
            <a:ext cx="2139950" cy="47942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5300" y="1052558"/>
            <a:ext cx="11125200" cy="1784350"/>
          </a:xfrm>
          <a:prstGeom prst="rect">
            <a:avLst/>
          </a:prstGeom>
        </p:spPr>
        <p:txBody>
          <a:bodyPr lIns="0" tIns="114513" rIns="0" bIns="0" rtlCol="0" anchor="t"/>
          <a:lstStyle/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Pretendard Black" panose="02000A03000000020004" charset="-127"/>
                <a:ea typeface="Pretendard Black" panose="02000A03000000020004" charset="-127"/>
                <a:cs typeface="Pretendard Black" panose="02000A03000000020004" charset="-127"/>
              </a:rPr>
              <a:t>반도체 식각 공정 예측을 위한 </a:t>
            </a:r>
            <a:endParaRPr lang="en-US" altLang="ko-KR" sz="5400" spc="50" dirty="0">
              <a:solidFill>
                <a:srgbClr val="202A3E"/>
              </a:solidFill>
              <a:latin typeface="Pretendard Black" panose="02000A03000000020004" charset="-127"/>
              <a:ea typeface="Pretendard Black" panose="02000A03000000020004" charset="-127"/>
              <a:cs typeface="Pretendard Black" panose="02000A03000000020004" charset="-127"/>
            </a:endParaRPr>
          </a:p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Pretendard Black" panose="02000A03000000020004" charset="-127"/>
                <a:ea typeface="Pretendard Black" panose="02000A03000000020004" charset="-127"/>
                <a:cs typeface="Pretendard Black" panose="02000A03000000020004" charset="-127"/>
              </a:rPr>
              <a:t>시계열 </a:t>
            </a:r>
            <a:r>
              <a:rPr lang="en-US" altLang="ko-KR" sz="5400" spc="50" dirty="0">
                <a:solidFill>
                  <a:srgbClr val="202A3E"/>
                </a:solidFill>
                <a:latin typeface="Pretendard Black" panose="02000A03000000020004" charset="-127"/>
                <a:ea typeface="Pretendard Black" panose="02000A03000000020004" charset="-127"/>
                <a:cs typeface="Pretendard Black" panose="02000A03000000020004" charset="-127"/>
              </a:rPr>
              <a:t>AI </a:t>
            </a:r>
            <a:r>
              <a:rPr lang="ko-KR" altLang="en-US" sz="5400" spc="50" dirty="0">
                <a:solidFill>
                  <a:srgbClr val="202A3E"/>
                </a:solidFill>
                <a:latin typeface="Pretendard Black" panose="02000A03000000020004" charset="-127"/>
                <a:ea typeface="Pretendard Black" panose="02000A03000000020004" charset="-127"/>
                <a:cs typeface="Pretendard Black" panose="02000A03000000020004" charset="-127"/>
              </a:rPr>
              <a:t>모델</a:t>
            </a:r>
            <a:endParaRPr lang="en-US" sz="5400" spc="50" dirty="0">
              <a:solidFill>
                <a:srgbClr val="202A3E"/>
              </a:solidFill>
              <a:latin typeface="Pretendard Black" panose="02000A03000000020004" charset="-127"/>
              <a:ea typeface="Pretendard Black" panose="02000A03000000020004" charset="-127"/>
              <a:cs typeface="Pretendard Black" panose="02000A03000000020004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rot="8785357">
            <a:off x="9531350" y="2101850"/>
            <a:ext cx="1333500" cy="356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2000"/>
          </a:blip>
          <a:stretch>
            <a:fillRect/>
          </a:stretch>
        </p:blipFill>
        <p:spPr>
          <a:xfrm rot="7657234">
            <a:off x="8102600" y="2616200"/>
            <a:ext cx="2000250" cy="356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6669180">
            <a:off x="6369050" y="4051300"/>
            <a:ext cx="914400" cy="339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9000"/>
          </a:blip>
          <a:stretch>
            <a:fillRect/>
          </a:stretch>
        </p:blipFill>
        <p:spPr>
          <a:xfrm rot="14083532">
            <a:off x="9112250" y="1136650"/>
            <a:ext cx="2743200" cy="19621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49000"/>
          </a:blip>
          <a:stretch>
            <a:fillRect/>
          </a:stretch>
        </p:blipFill>
        <p:spPr>
          <a:xfrm rot="4929301">
            <a:off x="5778500" y="5721350"/>
            <a:ext cx="2743200" cy="19621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5300" y="2927350"/>
            <a:ext cx="369570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종합설계프로젝트 </a:t>
            </a:r>
            <a:r>
              <a:rPr lang="en-US" altLang="ko-KR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6</a:t>
            </a: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조</a:t>
            </a:r>
            <a:endParaRPr lang="en-US" sz="300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514350"/>
            <a:ext cx="273029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A313B-3E17-9D4C-A942-A6DCFEE71331}"/>
              </a:ext>
            </a:extLst>
          </p:cNvPr>
          <p:cNvSpPr txBox="1"/>
          <p:nvPr/>
        </p:nvSpPr>
        <p:spPr>
          <a:xfrm>
            <a:off x="884903" y="1517525"/>
            <a:ext cx="10422195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반도체 제조 공정에서 웨이퍼의 품질 관리는 식각 깊이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(etch depth),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산화막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두께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(oxide thickness)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등의 물리적 측정에 의존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가상 계측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(Virtual Metrology, VM)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이러한 물리적 측정값을 예측하는 기술 → 전수 검사 가능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 제어의 실시간성 향상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6" name="Picture 2" descr="VM 시스템 구성도">
            <a:extLst>
              <a:ext uri="{FF2B5EF4-FFF2-40B4-BE49-F238E27FC236}">
                <a16:creationId xmlns:a16="http://schemas.microsoft.com/office/drawing/2014/main" id="{031CD703-8FCC-B5F5-F8A0-2520DBD1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3548850"/>
            <a:ext cx="86010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75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4BD3-8258-09E6-9F29-B0D5E5C1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D5175A3-CAE2-78AC-7F3C-5ABD2B6651A0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88C114B-3AC7-EBE9-C7AC-4EB919F16A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6EF98E2-F0CC-D5D0-19E8-9C2AEF4B0B7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65" name="Text 1">
            <a:extLst>
              <a:ext uri="{FF2B5EF4-FFF2-40B4-BE49-F238E27FC236}">
                <a16:creationId xmlns:a16="http://schemas.microsoft.com/office/drawing/2014/main" id="{C76549A1-8B2F-7EDD-76F1-3382C5E71804}"/>
              </a:ext>
            </a:extLst>
          </p:cNvPr>
          <p:cNvSpPr/>
          <p:nvPr/>
        </p:nvSpPr>
        <p:spPr>
          <a:xfrm>
            <a:off x="699201" y="1458767"/>
            <a:ext cx="7300184" cy="1024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BOSCH Plasma Etch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Multi-Model Dataset</a:t>
            </a:r>
            <a:endParaRPr lang="en-US" sz="44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CEA37905-CB69-3F73-1797-88B7F27F6C07}"/>
              </a:ext>
            </a:extLst>
          </p:cNvPr>
          <p:cNvSpPr/>
          <p:nvPr/>
        </p:nvSpPr>
        <p:spPr>
          <a:xfrm>
            <a:off x="730470" y="269052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Zenodo  |  DOI: 10.5281/zenodo.17122442  |  CC-BY 4.0</a:t>
            </a:r>
            <a:endParaRPr lang="en-US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4791599E-F482-0367-C555-78470E80C074}"/>
              </a:ext>
            </a:extLst>
          </p:cNvPr>
          <p:cNvGrpSpPr/>
          <p:nvPr/>
        </p:nvGrpSpPr>
        <p:grpSpPr>
          <a:xfrm>
            <a:off x="8055731" y="667223"/>
            <a:ext cx="3437068" cy="2437453"/>
            <a:chOff x="8379904" y="667223"/>
            <a:chExt cx="2931997" cy="2437453"/>
          </a:xfrm>
        </p:grpSpPr>
        <p:sp>
          <p:nvSpPr>
            <p:cNvPr id="68" name="Shape 18">
              <a:extLst>
                <a:ext uri="{FF2B5EF4-FFF2-40B4-BE49-F238E27FC236}">
                  <a16:creationId xmlns:a16="http://schemas.microsoft.com/office/drawing/2014/main" id="{26AA0AE7-0318-72A1-377B-F161F68AA40A}"/>
                </a:ext>
              </a:extLst>
            </p:cNvPr>
            <p:cNvSpPr/>
            <p:nvPr/>
          </p:nvSpPr>
          <p:spPr>
            <a:xfrm>
              <a:off x="8379904" y="667223"/>
              <a:ext cx="2931997" cy="2437453"/>
            </a:xfrm>
            <a:prstGeom prst="rect">
              <a:avLst/>
            </a:prstGeom>
            <a:solidFill>
              <a:srgbClr val="F0F4FA"/>
            </a:solidFill>
            <a:ln/>
          </p:spPr>
          <p:txBody>
            <a:bodyPr/>
            <a:lstStyle/>
            <a:p>
              <a:endPara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9" name="Shape 19">
              <a:extLst>
                <a:ext uri="{FF2B5EF4-FFF2-40B4-BE49-F238E27FC236}">
                  <a16:creationId xmlns:a16="http://schemas.microsoft.com/office/drawing/2014/main" id="{8B2CE18E-0D5E-7CFC-6191-AEFA98696748}"/>
                </a:ext>
              </a:extLst>
            </p:cNvPr>
            <p:cNvSpPr/>
            <p:nvPr/>
          </p:nvSpPr>
          <p:spPr>
            <a:xfrm>
              <a:off x="8379904" y="667223"/>
              <a:ext cx="70368" cy="2437453"/>
            </a:xfrm>
            <a:prstGeom prst="rect">
              <a:avLst/>
            </a:prstGeom>
            <a:solidFill>
              <a:srgbClr val="1A2744"/>
            </a:solidFill>
            <a:ln/>
          </p:spPr>
          <p:txBody>
            <a:bodyPr/>
            <a:lstStyle/>
            <a:p>
              <a:endParaRPr lang="ko-KR" altLang="en-US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477ED4E6-6886-6690-F7A4-BBF95B613D1E}"/>
              </a:ext>
            </a:extLst>
          </p:cNvPr>
          <p:cNvGrpSpPr/>
          <p:nvPr/>
        </p:nvGrpSpPr>
        <p:grpSpPr>
          <a:xfrm>
            <a:off x="8318158" y="843549"/>
            <a:ext cx="2887137" cy="2084801"/>
            <a:chOff x="8673104" y="770944"/>
            <a:chExt cx="2462877" cy="2084801"/>
          </a:xfrm>
        </p:grpSpPr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112754D7-2A2F-FC04-2AF3-DD21B05EB8A2}"/>
                </a:ext>
              </a:extLst>
            </p:cNvPr>
            <p:cNvSpPr/>
            <p:nvPr/>
          </p:nvSpPr>
          <p:spPr>
            <a:xfrm>
              <a:off x="8673104" y="770944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장비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DB4A70D9-4018-DF93-720A-2825A451A88B}"/>
                </a:ext>
              </a:extLst>
            </p:cNvPr>
            <p:cNvSpPr/>
            <p:nvPr/>
          </p:nvSpPr>
          <p:spPr>
            <a:xfrm>
              <a:off x="8673104" y="993530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SPTS Omega i2L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DSi Rapier (ICP-RIE)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9FF4F9A7-9F79-08B8-414E-4A98D3AABA51}"/>
                </a:ext>
              </a:extLst>
            </p:cNvPr>
            <p:cNvSpPr/>
            <p:nvPr/>
          </p:nvSpPr>
          <p:spPr>
            <a:xfrm>
              <a:off x="8673104" y="139244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웨이퍼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430A32F0-DFE8-8DB9-F013-1E6F342EDA8F}"/>
                </a:ext>
              </a:extLst>
            </p:cNvPr>
            <p:cNvSpPr/>
            <p:nvPr/>
          </p:nvSpPr>
          <p:spPr>
            <a:xfrm>
              <a:off x="8673104" y="1615028"/>
              <a:ext cx="2462877" cy="174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200mm Si &lt;100&gt;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F375F0CE-DB53-6BAB-A0D0-226B21CA9ECE}"/>
                </a:ext>
              </a:extLst>
            </p:cNvPr>
            <p:cNvSpPr/>
            <p:nvPr/>
          </p:nvSpPr>
          <p:spPr>
            <a:xfrm>
              <a:off x="8673104" y="182496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5" name="Text 25">
              <a:extLst>
                <a:ext uri="{FF2B5EF4-FFF2-40B4-BE49-F238E27FC236}">
                  <a16:creationId xmlns:a16="http://schemas.microsoft.com/office/drawing/2014/main" id="{863526F0-56B1-4647-5FDC-72093A6D0764}"/>
                </a:ext>
              </a:extLst>
            </p:cNvPr>
            <p:cNvSpPr/>
            <p:nvPr/>
          </p:nvSpPr>
          <p:spPr>
            <a:xfrm>
              <a:off x="8673104" y="2047548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(SF₆/C₄F₈)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 cycles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6" name="Text 26">
              <a:extLst>
                <a:ext uri="{FF2B5EF4-FFF2-40B4-BE49-F238E27FC236}">
                  <a16:creationId xmlns:a16="http://schemas.microsoft.com/office/drawing/2014/main" id="{8BB8B4AA-53A1-B5D9-2C92-FCD61E32DA7A}"/>
                </a:ext>
              </a:extLst>
            </p:cNvPr>
            <p:cNvSpPr/>
            <p:nvPr/>
          </p:nvSpPr>
          <p:spPr>
            <a:xfrm>
              <a:off x="8673104" y="2446460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규모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7" name="Text 27">
              <a:extLst>
                <a:ext uri="{FF2B5EF4-FFF2-40B4-BE49-F238E27FC236}">
                  <a16:creationId xmlns:a16="http://schemas.microsoft.com/office/drawing/2014/main" id="{C8F35BCC-120A-D69A-42DD-5711AFCFCC6F}"/>
                </a:ext>
              </a:extLst>
            </p:cNvPr>
            <p:cNvSpPr/>
            <p:nvPr/>
          </p:nvSpPr>
          <p:spPr>
            <a:xfrm>
              <a:off x="8673104" y="2669046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 lots × 10 wafers ≈ 100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78" name="Shape 3">
            <a:extLst>
              <a:ext uri="{FF2B5EF4-FFF2-40B4-BE49-F238E27FC236}">
                <a16:creationId xmlns:a16="http://schemas.microsoft.com/office/drawing/2014/main" id="{A87DA584-9C91-660C-4DF1-D7522F565041}"/>
              </a:ext>
            </a:extLst>
          </p:cNvPr>
          <p:cNvSpPr/>
          <p:nvPr/>
        </p:nvSpPr>
        <p:spPr>
          <a:xfrm>
            <a:off x="69920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9" name="Shape 4">
            <a:extLst>
              <a:ext uri="{FF2B5EF4-FFF2-40B4-BE49-F238E27FC236}">
                <a16:creationId xmlns:a16="http://schemas.microsoft.com/office/drawing/2014/main" id="{CE630992-ABC6-2981-08F7-B45E223D9202}"/>
              </a:ext>
            </a:extLst>
          </p:cNvPr>
          <p:cNvSpPr/>
          <p:nvPr/>
        </p:nvSpPr>
        <p:spPr>
          <a:xfrm>
            <a:off x="69920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905CF016-786C-7FC1-91CA-98CAC4E94343}"/>
              </a:ext>
            </a:extLst>
          </p:cNvPr>
          <p:cNvSpPr/>
          <p:nvPr/>
        </p:nvSpPr>
        <p:spPr>
          <a:xfrm>
            <a:off x="1000698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3,648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6833D00E-BC3E-48D7-00A5-FBF74C15569C}"/>
              </a:ext>
            </a:extLst>
          </p:cNvPr>
          <p:cNvSpPr/>
          <p:nvPr/>
        </p:nvSpPr>
        <p:spPr>
          <a:xfrm>
            <a:off x="1000698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채널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19D64436-F667-AE40-209C-2B0358F16CD7}"/>
              </a:ext>
            </a:extLst>
          </p:cNvPr>
          <p:cNvSpPr/>
          <p:nvPr/>
        </p:nvSpPr>
        <p:spPr>
          <a:xfrm>
            <a:off x="1000698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광학 방출 스펙트럼</a:t>
            </a:r>
            <a:endParaRPr 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185 ~ 884 nm, 25Hz</a:t>
            </a:r>
            <a:endParaRPr 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1097DBC8-1F23-2319-4E1A-BBBED0ED86A7}"/>
              </a:ext>
            </a:extLst>
          </p:cNvPr>
          <p:cNvSpPr/>
          <p:nvPr/>
        </p:nvSpPr>
        <p:spPr>
          <a:xfrm>
            <a:off x="4377466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AA290658-5265-9386-05CC-062CFA5E8F4B}"/>
              </a:ext>
            </a:extLst>
          </p:cNvPr>
          <p:cNvSpPr/>
          <p:nvPr/>
        </p:nvSpPr>
        <p:spPr>
          <a:xfrm>
            <a:off x="4377466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C0136110-2D90-0A9A-4743-BD9DCB9636B5}"/>
              </a:ext>
            </a:extLst>
          </p:cNvPr>
          <p:cNvSpPr/>
          <p:nvPr/>
        </p:nvSpPr>
        <p:spPr>
          <a:xfrm>
            <a:off x="4678963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31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7A79F0E9-9147-2411-6057-44AD7DC6F2F4}"/>
              </a:ext>
            </a:extLst>
          </p:cNvPr>
          <p:cNvSpPr/>
          <p:nvPr/>
        </p:nvSpPr>
        <p:spPr>
          <a:xfrm>
            <a:off x="4678963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파라미터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631EDC92-6F5D-B534-5FBD-49C326B8E7FD}"/>
              </a:ext>
            </a:extLst>
          </p:cNvPr>
          <p:cNvSpPr/>
          <p:nvPr/>
        </p:nvSpPr>
        <p:spPr>
          <a:xfrm>
            <a:off x="4678963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센서 데이터</a:t>
            </a:r>
            <a:endParaRPr 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RF Power, 가스, 압력 등</a:t>
            </a:r>
            <a:endParaRPr 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04A0249C-FC33-94D0-4F31-806F9F9C8C9B}"/>
              </a:ext>
            </a:extLst>
          </p:cNvPr>
          <p:cNvSpPr/>
          <p:nvPr/>
        </p:nvSpPr>
        <p:spPr>
          <a:xfrm>
            <a:off x="805573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8F82E976-B295-8372-45B7-F338C8361671}"/>
              </a:ext>
            </a:extLst>
          </p:cNvPr>
          <p:cNvSpPr/>
          <p:nvPr/>
        </p:nvSpPr>
        <p:spPr>
          <a:xfrm>
            <a:off x="805573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FA4CE38C-0840-EEDC-2662-9AE3ABEAA832}"/>
              </a:ext>
            </a:extLst>
          </p:cNvPr>
          <p:cNvSpPr/>
          <p:nvPr/>
        </p:nvSpPr>
        <p:spPr>
          <a:xfrm>
            <a:off x="8357229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89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77F824DA-C4E1-FD42-16C8-C5565321DF28}"/>
              </a:ext>
            </a:extLst>
          </p:cNvPr>
          <p:cNvSpPr/>
          <p:nvPr/>
        </p:nvSpPr>
        <p:spPr>
          <a:xfrm>
            <a:off x="8357229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포인트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A096E610-0F38-450B-EE69-4D2935128EBF}"/>
              </a:ext>
            </a:extLst>
          </p:cNvPr>
          <p:cNvSpPr/>
          <p:nvPr/>
        </p:nvSpPr>
        <p:spPr>
          <a:xfrm>
            <a:off x="8357229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웨이퍼 계측값</a:t>
            </a:r>
            <a:endParaRPr 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Etch Depth, Oxide 두께</a:t>
            </a:r>
            <a:endParaRPr 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CBD9AE42-F8EB-B03B-DD52-383040CCB9D0}"/>
              </a:ext>
            </a:extLst>
          </p:cNvPr>
          <p:cNvSpPr/>
          <p:nvPr/>
        </p:nvSpPr>
        <p:spPr>
          <a:xfrm>
            <a:off x="699201" y="5648082"/>
            <a:ext cx="10793598" cy="54269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ko-KR" alt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C7F23FD0-70B1-9B4F-5CBD-905BE5406E68}"/>
              </a:ext>
            </a:extLst>
          </p:cNvPr>
          <p:cNvSpPr/>
          <p:nvPr/>
        </p:nvSpPr>
        <p:spPr>
          <a:xfrm>
            <a:off x="940399" y="5684262"/>
            <a:ext cx="10130304" cy="458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+ 공정 파라미터(X)로 Etch Depth(Y)를 예측하는 가상 계측(VM) 모델의 학습 데이터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38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8620-8EB8-31B3-6E3A-85FF90CD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1414E6-7E22-65C7-A84A-6061E791464A}"/>
              </a:ext>
            </a:extLst>
          </p:cNvPr>
          <p:cNvSpPr txBox="1"/>
          <p:nvPr/>
        </p:nvSpPr>
        <p:spPr>
          <a:xfrm>
            <a:off x="514350" y="314637"/>
            <a:ext cx="717954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DBD4B2E-8337-5FFA-38F1-0FAE9715E21D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3B21766E-55F7-2C36-70FD-4C886C8D7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713BBB68-1F1B-44F0-99B6-EA4F39653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0C5477D1-F820-6ACC-9B9E-56430084B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0" y="1175974"/>
            <a:ext cx="9182100" cy="5167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6FD0E-E4BE-2E33-AF18-7AC9AAF6A8BF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</a:t>
            </a:r>
            <a:r>
              <a:rPr lang="en-US" sz="4000" b="1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XGBoost</a:t>
            </a:r>
            <a:endParaRPr lang="en-US" sz="4000" b="1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036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B4EC883-F827-C150-C1DA-8BBBD49FA8D4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A79C09C4-313B-B95E-263B-33150143C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AF7D60EB-1502-6B29-56E1-D1FB0B255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A0DC051-C2FE-820C-3EFD-9CAE60BBAA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399" y="508833"/>
            <a:ext cx="7270349" cy="6131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3DCEE3-6267-F7B3-9F8D-EB6CD705D238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Final Pipeline</a:t>
            </a:r>
          </a:p>
        </p:txBody>
      </p:sp>
    </p:spTree>
    <p:extLst>
      <p:ext uri="{BB962C8B-B14F-4D97-AF65-F5344CB8AC3E}">
        <p14:creationId xmlns:p14="http://schemas.microsoft.com/office/powerpoint/2010/main" val="260622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31317"/>
            <a:ext cx="53816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DL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 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못 맞추는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016092"/>
            <a:ext cx="8501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370"/>
                </a:solidFill>
                <a:latin typeface="Malgun Gothic"/>
              </a:defRPr>
            </a:pP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XGB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baseline은</a:t>
            </a: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Si를</a:t>
            </a: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</a:t>
            </a: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매우</a:t>
            </a: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잘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예측</a:t>
            </a:r>
            <a:endParaRPr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D7839AD0-007E-DC44-24CE-E1FB62CF78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BA67D1FF-56F8-8A04-97AB-4A62F72DCE2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7698A1A-5F00-33D0-962D-9CB517012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61" y="1882120"/>
            <a:ext cx="10659308" cy="426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75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72FD49C-953B-50DF-9134-DE53E88DF4B6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2" name="Picture 10">
              <a:extLst>
                <a:ext uri="{FF2B5EF4-FFF2-40B4-BE49-F238E27FC236}">
                  <a16:creationId xmlns:a16="http://schemas.microsoft.com/office/drawing/2014/main" id="{493E7B98-FD1C-6BFE-738D-15E5FF62F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5" name="Picture 11">
              <a:extLst>
                <a:ext uri="{FF2B5EF4-FFF2-40B4-BE49-F238E27FC236}">
                  <a16:creationId xmlns:a16="http://schemas.microsoft.com/office/drawing/2014/main" id="{1E13C8EC-64C7-6B06-84AC-7DB2BBEFC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247F9C6A-46D3-0CF5-FAD4-58981E464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1782859"/>
            <a:ext cx="10903348" cy="4560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B6FDFA-DCC4-156F-B251-6C299CEF2BBA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FiLM</a:t>
            </a: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modulation</a:t>
            </a:r>
          </a:p>
        </p:txBody>
      </p:sp>
    </p:spTree>
    <p:extLst>
      <p:ext uri="{BB962C8B-B14F-4D97-AF65-F5344CB8AC3E}">
        <p14:creationId xmlns:p14="http://schemas.microsoft.com/office/powerpoint/2010/main" val="144707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3AADEF1-0C09-35AD-2E37-FA6D38683F9C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6" name="Picture 10">
              <a:extLst>
                <a:ext uri="{FF2B5EF4-FFF2-40B4-BE49-F238E27FC236}">
                  <a16:creationId xmlns:a16="http://schemas.microsoft.com/office/drawing/2014/main" id="{B95BBBF0-810F-95A6-4FD9-4E9732941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7" name="Picture 11">
              <a:extLst>
                <a:ext uri="{FF2B5EF4-FFF2-40B4-BE49-F238E27FC236}">
                  <a16:creationId xmlns:a16="http://schemas.microsoft.com/office/drawing/2014/main" id="{7DD510BA-F41E-5C57-F476-F140B5F8F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3077F7E-209E-2E83-90E2-8B47845D2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1095063"/>
            <a:ext cx="9448800" cy="544830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06B1F02B-0FF7-3253-811F-B5A4DC029616}"/>
              </a:ext>
            </a:extLst>
          </p:cNvPr>
          <p:cNvSpPr txBox="1"/>
          <p:nvPr/>
        </p:nvSpPr>
        <p:spPr>
          <a:xfrm>
            <a:off x="514350" y="314637"/>
            <a:ext cx="598681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endParaRPr lang="en-US" altLang="ko-KR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2A51D-AA5A-16E4-2EAC-7F9258650907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Si_etch</a:t>
            </a: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wafer-map</a:t>
            </a:r>
          </a:p>
        </p:txBody>
      </p:sp>
    </p:spTree>
    <p:extLst>
      <p:ext uri="{BB962C8B-B14F-4D97-AF65-F5344CB8AC3E}">
        <p14:creationId xmlns:p14="http://schemas.microsoft.com/office/powerpoint/2010/main" val="1047978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347AF3B-70A4-6ED1-01E6-A4300AFE7727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0EB9F8E0-CDEC-83B6-B358-7429D177C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5D8D1E0C-77C4-DCE0-3004-FAB589435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992645D-F06B-3A79-1F54-CC5B785DC0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479" y="1011193"/>
            <a:ext cx="9966369" cy="56090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A3504B-15E3-EFB9-99AD-F03C2253C622}"/>
              </a:ext>
            </a:extLst>
          </p:cNvPr>
          <p:cNvSpPr txBox="1"/>
          <p:nvPr/>
        </p:nvSpPr>
        <p:spPr>
          <a:xfrm>
            <a:off x="411480" y="431317"/>
            <a:ext cx="52966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특정 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Fold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에서 성능 붕괴</a:t>
            </a:r>
          </a:p>
        </p:txBody>
      </p:sp>
    </p:spTree>
    <p:extLst>
      <p:ext uri="{BB962C8B-B14F-4D97-AF65-F5344CB8AC3E}">
        <p14:creationId xmlns:p14="http://schemas.microsoft.com/office/powerpoint/2010/main" val="300541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안정화를 위한 4가지 개선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A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Improvements   </a:t>
            </a: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더 똑똑하게가 아니라, </a:t>
            </a:r>
            <a:r>
              <a:rPr lang="en-US" sz="1600" b="1" dirty="0">
                <a:solidFill>
                  <a:srgbClr val="2C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흔들리지 않게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5836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 Top-k 파장 선택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194559"/>
            <a:ext cx="1485900" cy="135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타깃과 관련 큰 256개 파장만 </a:t>
            </a:r>
            <a:r>
              <a:rPr lang="en-US" sz="1250" dirty="0" err="1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나머지는 잡음으로 보고 모델이 보기 전에 제거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481328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419088" y="1664208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1908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31152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Wafer-mean 보조 손실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46520" y="2194560"/>
            <a:ext cx="13893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point별 예측에 '웨이퍼 평균' </a:t>
            </a:r>
            <a:r>
              <a:rPr lang="en-US" sz="1250" dirty="0" err="1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예측을</a:t>
            </a: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더해</a:t>
            </a:r>
            <a:endParaRPr lang="en-US" sz="1250" dirty="0">
              <a:solidFill>
                <a:srgbClr val="2B2B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웨이퍼 전체의 etch 수준까지 학습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7200" y="4041648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58368" y="4224528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65836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170432" y="4224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Wafer-level Mixup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85800" y="4754880"/>
            <a:ext cx="170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웨이퍼를 섞어 중간 상태를 만들어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적은 데이터의 빈틈을 메움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217920" y="4041648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6419088" y="4224528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641908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931152" y="4224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EMA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6446520" y="4754880"/>
            <a:ext cx="1558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중 지나온 가중치를 </a:t>
            </a:r>
            <a:r>
              <a:rPr lang="en-US" sz="1250" dirty="0" err="1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</a:t>
            </a: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평균내어</a:t>
            </a:r>
            <a:endParaRPr lang="en-US" sz="1250" dirty="0">
              <a:solidFill>
                <a:srgbClr val="2B2B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성능의 흔들림을 완화</a:t>
            </a:r>
            <a:endParaRPr lang="en-US" sz="125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A90A378-508A-D9BB-E71D-00F39524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7" b="7635"/>
          <a:stretch/>
        </p:blipFill>
        <p:spPr>
          <a:xfrm>
            <a:off x="2358943" y="4678681"/>
            <a:ext cx="3488137" cy="167894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4EEA477-F914-4C10-0498-3A7E0BC638F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3" b="8772"/>
          <a:stretch/>
        </p:blipFill>
        <p:spPr>
          <a:xfrm>
            <a:off x="2171700" y="2209801"/>
            <a:ext cx="3742962" cy="156337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E96BC3D-7409-3345-7F73-C340403DA3F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" b="8895"/>
          <a:stretch/>
        </p:blipFill>
        <p:spPr>
          <a:xfrm>
            <a:off x="8004810" y="2092664"/>
            <a:ext cx="3530600" cy="172062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BE7A778-A7C6-4302-FDA3-C817205B895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9" b="8911"/>
          <a:stretch/>
        </p:blipFill>
        <p:spPr>
          <a:xfrm>
            <a:off x="8068346" y="4612814"/>
            <a:ext cx="3562822" cy="174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9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E27D-3C19-5394-6722-50514832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6A039D6D-27C6-B144-E691-275A5E0F082D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4" name="Picture 10">
              <a:extLst>
                <a:ext uri="{FF2B5EF4-FFF2-40B4-BE49-F238E27FC236}">
                  <a16:creationId xmlns:a16="http://schemas.microsoft.com/office/drawing/2014/main" id="{8CC2AB1E-A81E-8159-D50F-9744C248D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A29FFC6F-F1B2-1E6D-737A-87D677DBF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D7EF2C9F-60FE-14FE-A367-625406FCA5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50" y="1693077"/>
            <a:ext cx="7037051" cy="44226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F4603B-0331-50B6-D72E-58FF0C015470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594" y="1495503"/>
            <a:ext cx="4324954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63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A2A1-3005-12A7-296B-845CBED8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B18C5618-BA6C-8D30-36A6-7BF7C89D8A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8A22E34-070F-6F12-6617-C4E3566CA7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7F4B3F-983D-36CF-F75C-2350366F7DD3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Expected Impact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893D2-A303-E070-DF81-8C99F3C18911}"/>
              </a:ext>
            </a:extLst>
          </p:cNvPr>
          <p:cNvSpPr txBox="1"/>
          <p:nvPr/>
        </p:nvSpPr>
        <p:spPr>
          <a:xfrm>
            <a:off x="514350" y="1210483"/>
            <a:ext cx="11417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예측 결과뿐 아니라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구간의 이상 신호를 추적하여 공정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drift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나 </a:t>
            </a:r>
            <a:endParaRPr lang="en-US" altLang="ko-KR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chamber conditioning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문제를 해석할 수 있음</a:t>
            </a:r>
            <a:endParaRPr lang="ko-KR" altLang="en-US" sz="24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3E4B9F6-2764-585F-D26D-43569969C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978"/>
          <a:stretch>
            <a:fillRect/>
          </a:stretch>
        </p:blipFill>
        <p:spPr>
          <a:xfrm>
            <a:off x="3402093" y="2041480"/>
            <a:ext cx="5387814" cy="445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46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85BEF-45FB-8718-46E3-0C64AB81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35ACD932-CEDD-3169-40D9-FB21D05396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F96CB4B-55F5-5EF7-D36E-6FD6293D8AD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24CA4E-5BB3-B5BE-27DE-6554AE6E996F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Expected Impact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3A0230B-D3CD-0C55-E182-DDC03B0CF0D0}"/>
              </a:ext>
            </a:extLst>
          </p:cNvPr>
          <p:cNvGrpSpPr/>
          <p:nvPr/>
        </p:nvGrpSpPr>
        <p:grpSpPr>
          <a:xfrm>
            <a:off x="4178352" y="1995555"/>
            <a:ext cx="3835296" cy="1921442"/>
            <a:chOff x="1066220" y="3475353"/>
            <a:chExt cx="3835296" cy="1921442"/>
          </a:xfrm>
        </p:grpSpPr>
        <p:sp>
          <p:nvSpPr>
            <p:cNvPr id="18" name="Rounded Rectangle 4">
              <a:extLst>
                <a:ext uri="{FF2B5EF4-FFF2-40B4-BE49-F238E27FC236}">
                  <a16:creationId xmlns:a16="http://schemas.microsoft.com/office/drawing/2014/main" id="{F47F4C10-36A9-B5CA-1E67-954678AD547D}"/>
                </a:ext>
              </a:extLst>
            </p:cNvPr>
            <p:cNvSpPr/>
            <p:nvPr/>
          </p:nvSpPr>
          <p:spPr>
            <a:xfrm>
              <a:off x="1066220" y="3475353"/>
              <a:ext cx="3835296" cy="1921442"/>
            </a:xfrm>
            <a:prstGeom prst="roundRect">
              <a:avLst/>
            </a:prstGeom>
            <a:solidFill>
              <a:srgbClr val="F8FAFD"/>
            </a:solidFill>
            <a:ln w="15240">
              <a:solidFill>
                <a:srgbClr val="ACC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BC670B7-20F7-907E-F841-EA3FEB25CB8E}"/>
                </a:ext>
              </a:extLst>
            </p:cNvPr>
            <p:cNvGrpSpPr/>
            <p:nvPr/>
          </p:nvGrpSpPr>
          <p:grpSpPr>
            <a:xfrm>
              <a:off x="1129812" y="3812310"/>
              <a:ext cx="3708113" cy="1292976"/>
              <a:chOff x="1129812" y="3450849"/>
              <a:chExt cx="3708113" cy="1292976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7319D0-D80A-EC70-7074-64455464D396}"/>
                  </a:ext>
                </a:extLst>
              </p:cNvPr>
              <p:cNvSpPr txBox="1"/>
              <p:nvPr/>
            </p:nvSpPr>
            <p:spPr>
              <a:xfrm>
                <a:off x="1945764" y="3450849"/>
                <a:ext cx="2076209" cy="4770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sz="2500" b="1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BOSCH DRIE</a:t>
                </a:r>
                <a:endParaRPr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6ACCA8-73C9-B7A1-0794-3E745D4BF348}"/>
                  </a:ext>
                </a:extLst>
              </p:cNvPr>
              <p:cNvSpPr txBox="1"/>
              <p:nvPr/>
            </p:nvSpPr>
            <p:spPr>
              <a:xfrm>
                <a:off x="1129812" y="4035939"/>
                <a:ext cx="370811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  <a:defRPr sz="1600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SF6 </a:t>
                </a:r>
                <a:r>
                  <a:rPr 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Etch</a:t>
                </a:r>
                <a:r>
                  <a:rPr 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+ C4F8 </a:t>
                </a:r>
                <a:r>
                  <a:rPr 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Passivation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</a:t>
                </a:r>
                <a:b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반복되는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cycle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</a:t>
                </a:r>
                <a:endParaRPr lang="en-US" altLang="ko-KR" sz="2000" b="1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23E1381-F899-2D86-C242-D2B9560913ED}"/>
              </a:ext>
            </a:extLst>
          </p:cNvPr>
          <p:cNvSpPr txBox="1"/>
          <p:nvPr/>
        </p:nvSpPr>
        <p:spPr>
          <a:xfrm>
            <a:off x="514350" y="1210483"/>
            <a:ext cx="700063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OES/Process signal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인코딩하고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drift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학습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lang="en-US" altLang="ko-KR" sz="2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다른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공정으로의 확장 가능성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endParaRPr lang="ko-KR" altLang="en-US" sz="20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2EFC4C2-9A78-AC9A-449E-ECFFEC807A38}"/>
              </a:ext>
            </a:extLst>
          </p:cNvPr>
          <p:cNvGrpSpPr/>
          <p:nvPr/>
        </p:nvGrpSpPr>
        <p:grpSpPr>
          <a:xfrm>
            <a:off x="4178352" y="4422208"/>
            <a:ext cx="3835296" cy="1921442"/>
            <a:chOff x="1066220" y="3475353"/>
            <a:chExt cx="3835296" cy="1921442"/>
          </a:xfrm>
        </p:grpSpPr>
        <p:sp>
          <p:nvSpPr>
            <p:cNvPr id="66" name="Rounded Rectangle 4">
              <a:extLst>
                <a:ext uri="{FF2B5EF4-FFF2-40B4-BE49-F238E27FC236}">
                  <a16:creationId xmlns:a16="http://schemas.microsoft.com/office/drawing/2014/main" id="{B3909AEE-935A-EADD-50FF-4EC26DD55656}"/>
                </a:ext>
              </a:extLst>
            </p:cNvPr>
            <p:cNvSpPr/>
            <p:nvPr/>
          </p:nvSpPr>
          <p:spPr>
            <a:xfrm>
              <a:off x="1066220" y="3475353"/>
              <a:ext cx="3835296" cy="1921442"/>
            </a:xfrm>
            <a:prstGeom prst="roundRect">
              <a:avLst/>
            </a:prstGeom>
            <a:solidFill>
              <a:srgbClr val="F8FAFD"/>
            </a:solidFill>
            <a:ln w="15240">
              <a:solidFill>
                <a:srgbClr val="ACC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20D761F7-827C-8DB2-0330-5E040E84D793}"/>
                </a:ext>
              </a:extLst>
            </p:cNvPr>
            <p:cNvGrpSpPr/>
            <p:nvPr/>
          </p:nvGrpSpPr>
          <p:grpSpPr>
            <a:xfrm>
              <a:off x="1129812" y="3812310"/>
              <a:ext cx="3708113" cy="1292976"/>
              <a:chOff x="1129812" y="3450849"/>
              <a:chExt cx="3708113" cy="1292976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87908EF-97C9-9614-108B-D6336A3C3DA5}"/>
                  </a:ext>
                </a:extLst>
              </p:cNvPr>
              <p:cNvSpPr txBox="1"/>
              <p:nvPr/>
            </p:nvSpPr>
            <p:spPr>
              <a:xfrm>
                <a:off x="2386589" y="3450849"/>
                <a:ext cx="1194558" cy="4770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500" b="1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PEALD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43F31C-69D8-00DE-C4BB-484713467C0B}"/>
                  </a:ext>
                </a:extLst>
              </p:cNvPr>
              <p:cNvSpPr txBox="1"/>
              <p:nvPr/>
            </p:nvSpPr>
            <p:spPr>
              <a:xfrm>
                <a:off x="1129812" y="4035939"/>
                <a:ext cx="370811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  <a:defRPr sz="1600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Gas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Plasma</a:t>
                </a: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처리가 </a:t>
                </a:r>
                <a:b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반복되며 박막을 쌓는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cycle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</a:t>
                </a:r>
                <a:endParaRPr lang="en-US" altLang="ko-KR" sz="2000" b="1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37433CD3-33AA-3376-448F-0E513C00DE05}"/>
              </a:ext>
            </a:extLst>
          </p:cNvPr>
          <p:cNvGrpSpPr/>
          <p:nvPr/>
        </p:nvGrpSpPr>
        <p:grpSpPr>
          <a:xfrm>
            <a:off x="121009" y="4422208"/>
            <a:ext cx="3835296" cy="1921442"/>
            <a:chOff x="1066220" y="3475353"/>
            <a:chExt cx="3835296" cy="1921442"/>
          </a:xfrm>
        </p:grpSpPr>
        <p:sp>
          <p:nvSpPr>
            <p:cNvPr id="71" name="Rounded Rectangle 4">
              <a:extLst>
                <a:ext uri="{FF2B5EF4-FFF2-40B4-BE49-F238E27FC236}">
                  <a16:creationId xmlns:a16="http://schemas.microsoft.com/office/drawing/2014/main" id="{CB74A364-847B-294F-85E7-47BE97A136D6}"/>
                </a:ext>
              </a:extLst>
            </p:cNvPr>
            <p:cNvSpPr/>
            <p:nvPr/>
          </p:nvSpPr>
          <p:spPr>
            <a:xfrm>
              <a:off x="1066220" y="3475353"/>
              <a:ext cx="3835296" cy="1921442"/>
            </a:xfrm>
            <a:prstGeom prst="roundRect">
              <a:avLst/>
            </a:prstGeom>
            <a:solidFill>
              <a:srgbClr val="F8FAFD"/>
            </a:solidFill>
            <a:ln w="15240">
              <a:solidFill>
                <a:srgbClr val="ACC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506C2188-6A61-F14F-ED0F-CEF1F7D75BEC}"/>
                </a:ext>
              </a:extLst>
            </p:cNvPr>
            <p:cNvGrpSpPr/>
            <p:nvPr/>
          </p:nvGrpSpPr>
          <p:grpSpPr>
            <a:xfrm>
              <a:off x="1129812" y="3812310"/>
              <a:ext cx="3708113" cy="1292976"/>
              <a:chOff x="1129812" y="3450849"/>
              <a:chExt cx="3708113" cy="1292976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F73664B-92EA-43F4-BC65-ADAA6DE2DDB6}"/>
                  </a:ext>
                </a:extLst>
              </p:cNvPr>
              <p:cNvSpPr txBox="1"/>
              <p:nvPr/>
            </p:nvSpPr>
            <p:spPr>
              <a:xfrm>
                <a:off x="2581354" y="3450849"/>
                <a:ext cx="805029" cy="4770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500" b="1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ALD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06EE005-C697-A59C-77EB-DF055BE6CA26}"/>
                  </a:ext>
                </a:extLst>
              </p:cNvPr>
              <p:cNvSpPr txBox="1"/>
              <p:nvPr/>
            </p:nvSpPr>
            <p:spPr>
              <a:xfrm>
                <a:off x="1129812" y="4035939"/>
                <a:ext cx="370811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  <a:defRPr sz="1600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Gas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Purge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반복되며 </a:t>
                </a:r>
                <a:b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박막을 쌓는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cycle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</a:t>
                </a:r>
                <a:endParaRPr lang="en-US" altLang="ko-KR" sz="2000" b="1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DF02228-B1AD-AD68-6739-58CF77D9E9FF}"/>
              </a:ext>
            </a:extLst>
          </p:cNvPr>
          <p:cNvGrpSpPr/>
          <p:nvPr/>
        </p:nvGrpSpPr>
        <p:grpSpPr>
          <a:xfrm>
            <a:off x="8235695" y="4422208"/>
            <a:ext cx="3835297" cy="1921442"/>
            <a:chOff x="1066220" y="3475353"/>
            <a:chExt cx="3835297" cy="1921442"/>
          </a:xfrm>
        </p:grpSpPr>
        <p:sp>
          <p:nvSpPr>
            <p:cNvPr id="76" name="Rounded Rectangle 4">
              <a:extLst>
                <a:ext uri="{FF2B5EF4-FFF2-40B4-BE49-F238E27FC236}">
                  <a16:creationId xmlns:a16="http://schemas.microsoft.com/office/drawing/2014/main" id="{3AAB1D13-7F26-B37F-9720-7967F4908D78}"/>
                </a:ext>
              </a:extLst>
            </p:cNvPr>
            <p:cNvSpPr/>
            <p:nvPr/>
          </p:nvSpPr>
          <p:spPr>
            <a:xfrm>
              <a:off x="1066220" y="3475353"/>
              <a:ext cx="3835296" cy="1921442"/>
            </a:xfrm>
            <a:prstGeom prst="roundRect">
              <a:avLst/>
            </a:prstGeom>
            <a:solidFill>
              <a:srgbClr val="F8FAFD"/>
            </a:solidFill>
            <a:ln w="15240">
              <a:solidFill>
                <a:srgbClr val="ACC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A347FC96-12BC-7ABB-D79A-80737A7E3F45}"/>
                </a:ext>
              </a:extLst>
            </p:cNvPr>
            <p:cNvGrpSpPr/>
            <p:nvPr/>
          </p:nvGrpSpPr>
          <p:grpSpPr>
            <a:xfrm>
              <a:off x="1066221" y="3812310"/>
              <a:ext cx="3835296" cy="1292976"/>
              <a:chOff x="1066221" y="3450849"/>
              <a:chExt cx="3835296" cy="1292976"/>
            </a:xfrm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014885-0DFD-72DF-B888-131E56CDE43E}"/>
                  </a:ext>
                </a:extLst>
              </p:cNvPr>
              <p:cNvSpPr txBox="1"/>
              <p:nvPr/>
            </p:nvSpPr>
            <p:spPr>
              <a:xfrm>
                <a:off x="2599789" y="3450849"/>
                <a:ext cx="768159" cy="4770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500" b="1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ALE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858CD7E-0408-E3C6-AFC5-8136144DB49F}"/>
                  </a:ext>
                </a:extLst>
              </p:cNvPr>
              <p:cNvSpPr txBox="1"/>
              <p:nvPr/>
            </p:nvSpPr>
            <p:spPr>
              <a:xfrm>
                <a:off x="1066221" y="4035939"/>
                <a:ext cx="38352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  <a:defRPr sz="1600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표면 처리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얇은 층 제거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반복되며 </a:t>
                </a:r>
                <a:r>
                  <a:rPr lang="ko-KR" altLang="en-US" sz="2000" dirty="0" err="1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원자층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단위로 깎는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cycle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</a:t>
                </a:r>
                <a:endParaRPr lang="en-US" altLang="ko-KR" sz="2000" b="1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2B84462-3F49-CE0C-5FCD-B4B271BF9878}"/>
              </a:ext>
            </a:extLst>
          </p:cNvPr>
          <p:cNvCxnSpPr>
            <a:cxnSpLocks/>
          </p:cNvCxnSpPr>
          <p:nvPr/>
        </p:nvCxnSpPr>
        <p:spPr>
          <a:xfrm>
            <a:off x="6096000" y="3975989"/>
            <a:ext cx="0" cy="397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26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20728903">
            <a:off x="495300" y="-1727200"/>
            <a:ext cx="11423650" cy="646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246973">
            <a:off x="495300" y="1797050"/>
            <a:ext cx="11423650" cy="646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89200" y="2647950"/>
            <a:ext cx="7213600" cy="1778000"/>
          </a:xfrm>
          <a:prstGeom prst="rect">
            <a:avLst/>
          </a:prstGeom>
        </p:spPr>
        <p:txBody>
          <a:bodyPr lIns="0" tIns="165100" rIns="0" bIns="0" rtlCol="0" anchor="t"/>
          <a:lstStyle/>
          <a:p>
            <a:pPr marL="0" marR="0" lvl="0" indent="0" algn="ctr" defTabSz="914400" rtl="0" eaLnBrk="1" fontAlgn="auto" latinLnBrk="1" hangingPunct="1">
              <a:lnSpc>
                <a:spcPct val="946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0" i="0" u="none" strike="noStrike" kern="1200" cap="none" spc="0" normalizeH="0" baseline="0" noProof="0" dirty="0">
                <a:ln>
                  <a:noFill/>
                </a:ln>
                <a:solidFill>
                  <a:srgbClr val="202A3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888</Words>
  <Application>Microsoft Office PowerPoint</Application>
  <PresentationFormat>와이드스크린</PresentationFormat>
  <Paragraphs>111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Pretendard Black</vt:lpstr>
      <vt:lpstr>맑은 고딕</vt:lpstr>
      <vt:lpstr>Pretendard SemiBold</vt:lpstr>
      <vt:lpstr>Pretendard ExtraBold</vt:lpstr>
      <vt:lpstr>Pretendard Medium</vt:lpstr>
      <vt:lpstr>Pretendard Light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이준서</dc:creator>
  <cp:lastModifiedBy>이준서</cp:lastModifiedBy>
  <cp:revision>20</cp:revision>
  <dcterms:created xsi:type="dcterms:W3CDTF">2026-05-28T15:40:42Z</dcterms:created>
  <dcterms:modified xsi:type="dcterms:W3CDTF">2026-06-24T12:41:38Z</dcterms:modified>
</cp:coreProperties>
</file>