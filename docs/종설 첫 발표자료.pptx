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5"/>
  </p:notesMasterIdLst>
  <p:sldIdLst>
    <p:sldId id="257" r:id="rId5"/>
    <p:sldId id="269" r:id="rId6"/>
    <p:sldId id="282" r:id="rId7"/>
    <p:sldId id="284" r:id="rId8"/>
    <p:sldId id="283" r:id="rId9"/>
    <p:sldId id="279" r:id="rId10"/>
    <p:sldId id="285" r:id="rId11"/>
    <p:sldId id="287" r:id="rId12"/>
    <p:sldId id="303" r:id="rId13"/>
    <p:sldId id="314" r:id="rId14"/>
    <p:sldId id="315" r:id="rId15"/>
    <p:sldId id="316" r:id="rId16"/>
    <p:sldId id="317" r:id="rId17"/>
    <p:sldId id="318" r:id="rId18"/>
    <p:sldId id="319" r:id="rId19"/>
    <p:sldId id="323" r:id="rId20"/>
    <p:sldId id="327" r:id="rId21"/>
    <p:sldId id="331" r:id="rId22"/>
    <p:sldId id="281" r:id="rId23"/>
    <p:sldId id="278" r:id="rId24"/>
  </p:sldIdLst>
  <p:sldSz cx="12192000" cy="6858000"/>
  <p:notesSz cx="6858000" cy="9144000"/>
  <p:embeddedFontLst>
    <p:embeddedFont>
      <p:font typeface="Outfit Regular" panose="020B0600000101010101" charset="-127"/>
      <p:regular r:id="rId26"/>
    </p:embeddedFont>
    <p:embeddedFont>
      <p:font typeface="Pretendard Black" panose="020B0600000101010101" charset="-127"/>
      <p:bold r:id="rId27"/>
    </p:embeddedFont>
    <p:embeddedFont>
      <p:font typeface="Pretendard ExtraBold" panose="020B0600000101010101" charset="-127"/>
      <p:bold r:id="rId28"/>
    </p:embeddedFont>
    <p:embeddedFont>
      <p:font typeface="Pretendard Medium" panose="020B0600000101010101" charset="-127"/>
      <p:regular r:id="rId29"/>
    </p:embeddedFont>
    <p:embeddedFont>
      <p:font typeface="Pretendard SemiBold" panose="020B0600000101010101" charset="-127"/>
      <p:bold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81496" autoAdjust="0"/>
  </p:normalViewPr>
  <p:slideViewPr>
    <p:cSldViewPr snapToGrid="0">
      <p:cViewPr varScale="1">
        <p:scale>
          <a:sx n="86" d="100"/>
          <a:sy n="86" d="100"/>
        </p:scale>
        <p:origin x="69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C1D9-B018-4416-BCEE-00231967477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1ADF3-D9EB-4753-914D-CCE533B33C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48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반도체 제조 공정에서 웨이퍼의 품질은 식각 깊이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산화막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등의 물리적인 측정값에 따라 달라집니다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이를 실제로 측정하려면 비용과 시간이 많이 소요되고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웨이퍼에 대해 수행하기 어렵다는 문제가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VM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공정 중에 수집되는 센서 데이터로부터 이러한 물리적 측정값을 예측하는 기술로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전수 검사를 가능하게 하고 공정 제어의 실시간성을 높일 수 있다는 장점이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24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이 논문의 데이터셋을 활용하여 반도체 제조 공정에서의 </a:t>
            </a:r>
            <a:r>
              <a:rPr lang="en-US" altLang="ko-KR" dirty="0"/>
              <a:t>VM</a:t>
            </a:r>
            <a:r>
              <a:rPr lang="ko-KR" altLang="en-US" dirty="0"/>
              <a:t>을 구현하려고 합니다</a:t>
            </a:r>
            <a:r>
              <a:rPr lang="en-US" altLang="ko-KR" dirty="0"/>
              <a:t>. </a:t>
            </a:r>
            <a:r>
              <a:rPr lang="ko-KR" altLang="en-US" dirty="0"/>
              <a:t>논문의 용어 몇 가지를 간단히 설명하겠습니다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식각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C4F8(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패시베이션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가스를 교대로 사용하는 사이클릭 공정입니다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연구에서 활용하는 데이터셋은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초의 점화 단계 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회의 사이클로 구성되며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사이클에서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C4F8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웨이퍼에 대해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채널에서 연속으로 기록됩니다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데이터에는 각 사이클에서의 플라즈마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화학종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변화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효과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풍부한 공정 정보가 포함되어 있기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정보를 고려한 예측 방법이 필요합니다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그러나 기존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연구에서는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등으로 축소하여 사용하는 경우가 대부분이며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방식으로는 사이클 간 시간적 변화 패턴이라는 핵심 정보가 손실된다는 문제가 생깁니다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852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접근법의 한계를 요약하면 이 세 가지로 정리할 수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방금 언급한 것처럼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통계적으로 축소하고 전통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사용하는 방식은 사이클 간의 시간적 변화 정보를 반영할 수 없습니다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직접 입력하는 방식은 모든 정보를 입력하고 학습시키는 것인데 차원이 너무 높아 불가능합니다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시계열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dirty="0"/>
              <a:t>BOSCH </a:t>
            </a:r>
            <a:r>
              <a:rPr lang="ko-KR" altLang="en-US" dirty="0"/>
              <a:t>공정의 사이클 구조를 반영하지 못한다는 문제가 있습니다</a:t>
            </a:r>
            <a:r>
              <a:rPr lang="en-US" altLang="ko-KR" dirty="0"/>
              <a:t>.</a:t>
            </a: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공정의 물리적 사이클 구조를 반영할 수 있는 딥러닝 기반 표현 학습 방법을 구현해보려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3C293B-635C-48FE-AA7C-5AA6B1642A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856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Dataset </a:t>
            </a:r>
            <a:r>
              <a:rPr lang="ko-KR" altLang="en-US" dirty="0"/>
              <a:t>파트에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저희가 쓰는 데이터는 독일 연구소에서 실제 플라즈마 식각 장비를 돌리면서 수집한 데이터입니다</a:t>
            </a:r>
            <a:r>
              <a:rPr lang="en-US" altLang="ko-KR" dirty="0"/>
              <a:t>. </a:t>
            </a:r>
            <a:r>
              <a:rPr lang="ko-KR" altLang="en-US" dirty="0"/>
              <a:t>장비는 </a:t>
            </a:r>
            <a:r>
              <a:rPr lang="en-US" altLang="ko-KR" dirty="0"/>
              <a:t>ICP-RIE </a:t>
            </a:r>
            <a:r>
              <a:rPr lang="ko-KR" altLang="en-US" dirty="0"/>
              <a:t>방식이고</a:t>
            </a:r>
            <a:r>
              <a:rPr lang="en-US" altLang="ko-KR" dirty="0"/>
              <a:t>, 200mm </a:t>
            </a:r>
            <a:r>
              <a:rPr lang="ko-KR" altLang="en-US" dirty="0"/>
              <a:t>실리콘 웨이퍼에 </a:t>
            </a:r>
            <a:r>
              <a:rPr lang="en-US" altLang="ko-KR" dirty="0"/>
              <a:t>SF₆</a:t>
            </a:r>
            <a:r>
              <a:rPr lang="ko-KR" altLang="en-US" dirty="0"/>
              <a:t>와 </a:t>
            </a:r>
            <a:r>
              <a:rPr lang="en-US" altLang="ko-KR" dirty="0"/>
              <a:t>C₄F₈</a:t>
            </a:r>
            <a:r>
              <a:rPr lang="ko-KR" altLang="en-US" dirty="0"/>
              <a:t>를 교대로 사용하는 </a:t>
            </a:r>
            <a:r>
              <a:rPr lang="en-US" altLang="ko-KR" dirty="0"/>
              <a:t>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적용했습니다</a:t>
            </a:r>
            <a:r>
              <a:rPr lang="en-US" altLang="ko-KR" dirty="0"/>
              <a:t>. </a:t>
            </a:r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개 </a:t>
            </a:r>
            <a:r>
              <a:rPr lang="ko-KR" altLang="en-US" dirty="0" err="1"/>
              <a:t>로트</a:t>
            </a:r>
            <a:r>
              <a:rPr lang="en-US" altLang="ko-KR" dirty="0"/>
              <a:t>, </a:t>
            </a:r>
            <a:r>
              <a:rPr lang="ko-KR" altLang="en-US" dirty="0"/>
              <a:t>약 </a:t>
            </a:r>
            <a:r>
              <a:rPr lang="en-US" altLang="ko-KR" dirty="0"/>
              <a:t>100</a:t>
            </a:r>
            <a:r>
              <a:rPr lang="ko-KR" altLang="en-US" dirty="0"/>
              <a:t>개 웨이퍼 규모이고</a:t>
            </a:r>
            <a:r>
              <a:rPr lang="en-US" altLang="ko-KR" dirty="0"/>
              <a:t>, </a:t>
            </a:r>
            <a:r>
              <a:rPr lang="en-US" altLang="ko-KR" dirty="0" err="1"/>
              <a:t>Zenodo</a:t>
            </a:r>
            <a:r>
              <a:rPr lang="ko-KR" altLang="en-US" dirty="0"/>
              <a:t>에 오픈 데이터로 공개되어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데이터의 가장 큰 강점은 세 종류의 데이터가 동시에 수집되었다는 점입니다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dirty="0"/>
              <a:t>플라즈마 안에 어떤 화학종이 있는지 빛으로 측정한 </a:t>
            </a:r>
            <a:r>
              <a:rPr lang="en-US" altLang="ko-KR" dirty="0"/>
              <a:t>OES </a:t>
            </a:r>
            <a:r>
              <a:rPr lang="ko-KR" altLang="en-US" dirty="0"/>
              <a:t>데이터 </a:t>
            </a:r>
            <a:r>
              <a:rPr lang="en-US" altLang="ko-KR" dirty="0"/>
              <a:t>3,648</a:t>
            </a:r>
            <a:r>
              <a:rPr lang="ko-KR" altLang="en-US" dirty="0"/>
              <a:t>채널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장비의 센서가 기록한 공정 파라미터 </a:t>
            </a:r>
            <a:r>
              <a:rPr lang="en-US" altLang="ko-KR" dirty="0"/>
              <a:t>31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식각이 끝난 후 실제로 재본 식각 깊이가 웨이퍼 </a:t>
            </a:r>
            <a:r>
              <a:rPr lang="ko-KR" altLang="en-US" dirty="0" err="1"/>
              <a:t>계측값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개 또는 </a:t>
            </a:r>
            <a:r>
              <a:rPr lang="en-US" altLang="ko-KR" dirty="0"/>
              <a:t>89</a:t>
            </a:r>
            <a:r>
              <a:rPr lang="ko-KR" altLang="en-US" dirty="0"/>
              <a:t>개 포인트로 </a:t>
            </a:r>
            <a:r>
              <a:rPr lang="ko-KR" altLang="en-US" dirty="0" err="1"/>
              <a:t>기록되어있습니다</a:t>
            </a:r>
            <a:r>
              <a:rPr lang="en-US" altLang="ko-KR" dirty="0"/>
              <a:t>. </a:t>
            </a:r>
            <a:r>
              <a:rPr lang="ko-KR" altLang="en-US" dirty="0"/>
              <a:t>앞의 둘이 모델의 입력이고</a:t>
            </a:r>
            <a:r>
              <a:rPr lang="en-US" altLang="ko-KR" dirty="0"/>
              <a:t>, </a:t>
            </a:r>
            <a:r>
              <a:rPr lang="ko-KR" altLang="en-US" dirty="0"/>
              <a:t>마지막이 저희가 예측하려는 </a:t>
            </a:r>
            <a:r>
              <a:rPr lang="ko-KR" altLang="en-US" dirty="0" err="1"/>
              <a:t>정답값입니다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21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31</a:t>
            </a:r>
            <a:r>
              <a:rPr lang="ko-KR" altLang="en-US" dirty="0"/>
              <a:t>개 공정 파라미터가 무엇인지 간단히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31</a:t>
            </a:r>
            <a:r>
              <a:rPr lang="ko-KR" altLang="en-US" dirty="0"/>
              <a:t>개 공정 파라미터는 </a:t>
            </a:r>
            <a:r>
              <a:rPr lang="en-US" altLang="ko-KR" dirty="0"/>
              <a:t>ICP-RIE </a:t>
            </a:r>
            <a:r>
              <a:rPr lang="ko-KR" altLang="en-US" dirty="0"/>
              <a:t>장비의 세 영역에 대응됩니다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장비 위쪽에는 </a:t>
            </a:r>
            <a:r>
              <a:rPr lang="en-US" altLang="ko-KR" dirty="0"/>
              <a:t>ICP </a:t>
            </a:r>
            <a:r>
              <a:rPr lang="ko-KR" altLang="en-US" dirty="0"/>
              <a:t>코일이 있어서 </a:t>
            </a:r>
            <a:r>
              <a:rPr lang="en-US" altLang="ko-KR" dirty="0"/>
              <a:t>RF </a:t>
            </a:r>
            <a:r>
              <a:rPr lang="ko-KR" altLang="en-US" dirty="0"/>
              <a:t>전력으로 플라즈마를 만들어 이것이 플라즈마 밀도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 </a:t>
            </a:r>
            <a:r>
              <a:rPr lang="ko-KR" altLang="en-US" dirty="0" err="1"/>
              <a:t>라디칼</a:t>
            </a:r>
            <a:r>
              <a:rPr lang="ko-KR" altLang="en-US" dirty="0"/>
              <a:t> </a:t>
            </a:r>
            <a:r>
              <a:rPr lang="ko-KR" altLang="en-US" dirty="0" err="1"/>
              <a:t>생성량을</a:t>
            </a:r>
            <a:r>
              <a:rPr lang="ko-KR" altLang="en-US" dirty="0"/>
              <a:t> 결정합니다</a:t>
            </a:r>
            <a:r>
              <a:rPr lang="en-US" altLang="ko-KR" dirty="0"/>
              <a:t>. </a:t>
            </a:r>
            <a:r>
              <a:rPr lang="ko-KR" altLang="en-US" dirty="0"/>
              <a:t>이 전력이 세질수록 가스가 더 많이 분해돼서 식각이 빨라집니다</a:t>
            </a:r>
            <a:r>
              <a:rPr lang="en-US" altLang="ko-KR" dirty="0"/>
              <a:t>. </a:t>
            </a:r>
            <a:r>
              <a:rPr lang="ko-KR" altLang="en-US" dirty="0"/>
              <a:t>중앙 챔버에서는 </a:t>
            </a:r>
            <a:r>
              <a:rPr lang="en-US" altLang="ko-KR" dirty="0"/>
              <a:t>SF₆, C₄F₈ </a:t>
            </a:r>
            <a:r>
              <a:rPr lang="ko-KR" altLang="en-US" dirty="0"/>
              <a:t>같은 가스 유량과 챔버 압력이 화학 반응 환경을 제어합니다</a:t>
            </a:r>
            <a:r>
              <a:rPr lang="en-US" altLang="ko-KR" dirty="0"/>
              <a:t>. </a:t>
            </a:r>
            <a:r>
              <a:rPr lang="ko-KR" altLang="en-US" dirty="0"/>
              <a:t>아래쪽에는 웨이퍼가 놓이는 전극이 있는데</a:t>
            </a:r>
            <a:r>
              <a:rPr lang="en-US" altLang="ko-KR" dirty="0"/>
              <a:t>, </a:t>
            </a:r>
            <a:r>
              <a:rPr lang="ko-KR" altLang="en-US" dirty="0"/>
              <a:t>여기에 걸리는 바이어스 전압이 이온을 얼마나 세게 가속시킬지를 결정하여 물리적 식각에 기여합니다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표에 정리했듯이 </a:t>
            </a:r>
            <a:r>
              <a:rPr lang="en-US" altLang="ko-KR" dirty="0"/>
              <a:t>Source RF Power, DC Bias, SF₆ </a:t>
            </a:r>
            <a:r>
              <a:rPr lang="ko-KR" altLang="en-US" dirty="0"/>
              <a:t>유량</a:t>
            </a:r>
            <a:r>
              <a:rPr lang="en-US" altLang="ko-KR" dirty="0"/>
              <a:t>, C₄F₈ </a:t>
            </a:r>
            <a:r>
              <a:rPr lang="ko-KR" altLang="en-US" dirty="0"/>
              <a:t>유량이 가장 핵심적인 변수로 예상됩니다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중요한 것은 이 </a:t>
            </a:r>
            <a:r>
              <a:rPr lang="en-US" altLang="ko-KR" dirty="0"/>
              <a:t>31</a:t>
            </a:r>
            <a:r>
              <a:rPr lang="ko-KR" altLang="en-US" dirty="0"/>
              <a:t>개 변수가 독립적으로 작용하는 게 아니라 복합적으로 상호작용하면서 식각 깊이를 결정한다는 점이고</a:t>
            </a:r>
            <a:r>
              <a:rPr lang="en-US" altLang="ko-KR" dirty="0"/>
              <a:t>, </a:t>
            </a:r>
            <a:r>
              <a:rPr lang="ko-KR" altLang="en-US" dirty="0"/>
              <a:t>이 복합 관계를 학습하는 것이 데이터 기반 접근의 핵심입니다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430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저희가 예측하려는 것은 실리콘이 얼마나 깊이 </a:t>
            </a:r>
            <a:r>
              <a:rPr lang="ko-KR" altLang="en-US" dirty="0" err="1"/>
              <a:t>파였는지입니다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그림을 보시면</a:t>
            </a:r>
            <a:r>
              <a:rPr lang="en-US" altLang="ko-KR" dirty="0"/>
              <a:t>, </a:t>
            </a:r>
            <a:r>
              <a:rPr lang="ko-KR" altLang="en-US" dirty="0"/>
              <a:t>식각 전에는 </a:t>
            </a:r>
            <a:r>
              <a:rPr lang="en-US" altLang="ko-KR" dirty="0" err="1"/>
              <a:t>SiO</a:t>
            </a:r>
            <a:r>
              <a:rPr lang="en-US" altLang="ko-KR" dirty="0"/>
              <a:t>₂ </a:t>
            </a:r>
            <a:r>
              <a:rPr lang="ko-KR" altLang="en-US" dirty="0"/>
              <a:t>마스크가 위에 덮여 있고 그 아래 실리콘이 평평합니다</a:t>
            </a:r>
            <a:r>
              <a:rPr lang="en-US" altLang="ko-KR" dirty="0"/>
              <a:t>. BOSCH </a:t>
            </a:r>
            <a:r>
              <a:rPr lang="ko-KR" altLang="en-US" dirty="0"/>
              <a:t>공정 </a:t>
            </a:r>
            <a:r>
              <a:rPr lang="en-US" altLang="ko-KR" dirty="0"/>
              <a:t>100</a:t>
            </a:r>
            <a:r>
              <a:rPr lang="ko-KR" altLang="en-US" dirty="0"/>
              <a:t>사이클을 거치면 마스크가 열린 부분으로 약 </a:t>
            </a:r>
            <a:r>
              <a:rPr lang="en-US" altLang="ko-KR" dirty="0"/>
              <a:t>40</a:t>
            </a:r>
            <a:r>
              <a:rPr lang="ko-KR" altLang="en-US" dirty="0"/>
              <a:t>마이크로미터 깊이의 구멍이 파이게 됩니다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40</a:t>
            </a:r>
            <a:r>
              <a:rPr lang="ko-KR" altLang="en-US" dirty="0"/>
              <a:t>마이크로미터라는 값이 저희 타겟</a:t>
            </a:r>
            <a:r>
              <a:rPr lang="en-US" altLang="ko-KR" dirty="0"/>
              <a:t>, </a:t>
            </a:r>
            <a:r>
              <a:rPr lang="ko-KR" altLang="en-US" dirty="0"/>
              <a:t>즉 모델이 맞춰야 할 정답입니다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마스크도 일부 소모되어 </a:t>
            </a:r>
            <a:r>
              <a:rPr lang="en-US" altLang="ko-KR" dirty="0"/>
              <a:t>0.45</a:t>
            </a:r>
            <a:r>
              <a:rPr lang="ko-KR" altLang="en-US" dirty="0"/>
              <a:t>마이크로미터로 얇아집니다</a:t>
            </a:r>
            <a:r>
              <a:rPr lang="en-US" altLang="ko-KR" dirty="0"/>
              <a:t>. </a:t>
            </a:r>
            <a:r>
              <a:rPr lang="ko-KR" altLang="en-US" dirty="0"/>
              <a:t>아래 표가 실제 </a:t>
            </a:r>
            <a:r>
              <a:rPr lang="en-US" altLang="ko-KR" dirty="0"/>
              <a:t>CSV </a:t>
            </a:r>
            <a:r>
              <a:rPr lang="ko-KR" altLang="en-US" dirty="0"/>
              <a:t>데이터이고</a:t>
            </a:r>
            <a:r>
              <a:rPr lang="en-US" altLang="ko-KR" dirty="0"/>
              <a:t>, </a:t>
            </a:r>
            <a:r>
              <a:rPr lang="en-US" altLang="ko-KR" dirty="0" err="1"/>
              <a:t>si_etch</a:t>
            </a:r>
            <a:r>
              <a:rPr lang="en-US" altLang="ko-KR" dirty="0"/>
              <a:t> </a:t>
            </a:r>
            <a:r>
              <a:rPr lang="ko-KR" altLang="en-US" dirty="0"/>
              <a:t>열이 저희 타겟입니다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전체 흐름입니다</a:t>
            </a:r>
            <a:r>
              <a:rPr lang="en-US" altLang="ko-KR" dirty="0"/>
              <a:t>, </a:t>
            </a:r>
            <a:r>
              <a:rPr lang="ko-KR" altLang="en-US" dirty="0"/>
              <a:t>식각 중 실시간으로 기록된 공정 파라미터와 </a:t>
            </a:r>
            <a:r>
              <a:rPr lang="en-US" altLang="ko-KR" dirty="0"/>
              <a:t>OES</a:t>
            </a:r>
            <a:r>
              <a:rPr lang="ko-KR" altLang="en-US" dirty="0"/>
              <a:t>가 입력이 되고</a:t>
            </a:r>
            <a:r>
              <a:rPr lang="en-US" altLang="ko-KR" dirty="0"/>
              <a:t>, </a:t>
            </a:r>
            <a:r>
              <a:rPr lang="ko-KR" altLang="en-US" dirty="0"/>
              <a:t>식각 후에 잰 깊이를 정답으로 매칭해서 모델을 학습시킵니다</a:t>
            </a:r>
            <a:r>
              <a:rPr lang="en-US" altLang="ko-KR" dirty="0"/>
              <a:t>. </a:t>
            </a:r>
            <a:r>
              <a:rPr lang="ko-KR" altLang="en-US" dirty="0"/>
              <a:t>이렇게 하면 나중에는 센서 데이터만 보고도 실제로 재지 않아도 식각 깊이를 예측할 수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00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지금부터 이 연구의 핵심인 모델링 파트를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제안하는 모델은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BOSCH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공정의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100-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구조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명시적으로 반영한 계층적 표현 학습 모델입니다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아키텍처는 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구성되어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19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데이터입니다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데이터셋에서 보셨듯이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3,648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파장 채널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시계열 데이터이고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Process Params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압력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가스유량 등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센서 변수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데이터는 물리적 성질이 완전히 다르기 때문에 별도의 경로로 처리합니다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600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단위 인코딩입니다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사이클을 각각 독립적으로 인코딩합니다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차원을 줄인 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1D-CNN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Process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중요한 점은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사이클이 동일한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encoder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공유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사이클 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국소 패턴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효율적으로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22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Early 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사이클에서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OES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Concat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결합합니다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Late Fusion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달리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내에서 두 센서 간의 상호작용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모델이 직접 학습할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과정을 통해 사이클별 통합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e₁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e₁₀₀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얻습니다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87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시간적 모델링입니다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ARDE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효과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챔버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컨디셔닝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사이클이 진행될수록 공정 상태가 변화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변화가 최종 식각 깊이에 영향을 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이러한 시간에 따른 변화를 모델이 학습할 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있어야합니다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저희 모델에서는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시퀀스를 시계열 모델인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Bi-LSTM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웨이퍼 전체를 요약하는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Wafer 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얻습니다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956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단계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공간 예측입니다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Wafer Representation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측정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위치 좌표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(X, 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를 함께 입력해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Head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통과시킵니다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최종적으로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si_etch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oxide_etch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식각 깊이를 웨이퍼 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공간 포인트 각각에 대해 예측합니다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520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실험 파이프라인입니다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제안 모델 단독이 아닌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베이스라인과의 앙상블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함께 실험합니다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모델이 서로 다른 관점으로 데이터를 학습한다는 점을 활용하는 전략입니다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394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기반의 베이스라인입니다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평균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분산 등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통계 요약 피처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변환한 뒤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간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비선형 상호작용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강하고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SHAP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분석으로 해석이 용이합니다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32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DL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Cycle-Aware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OES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시계열 그대로 입력해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사이클 간 시간적 변화 패턴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학습합니다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Attention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가중치로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어떤 사이클이 예측에 중요했는지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시각적으로 확인할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048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모델을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앙상블하는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이유는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강점이 다르기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정적 피처 관계에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동적 시퀀스 패턴에 강합니다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실수하는 지점이 서로 달라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결합 시 상호 보완이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최종 예측은 가중 평균 또는 메타 러너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스태킹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두 가지 방식으로 구현하고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어느 쪽이 더 효과적인지 실험으로 검증할 예정입니다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937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연구의 기대 효과는 두 가지로 정리할 수 있습니다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virtual metrology </a:t>
            </a:r>
            <a:r>
              <a:rPr lang="ko-KR" altLang="en-US" dirty="0"/>
              <a:t>모델을 사용하면 식각 결과를 매번 직접 측정하지 않고도 센서 데이터 기반으로 예측할 수 있기 때문에</a:t>
            </a:r>
            <a:r>
              <a:rPr lang="en-US" altLang="ko-KR" dirty="0"/>
              <a:t>, </a:t>
            </a:r>
            <a:r>
              <a:rPr lang="ko-KR" altLang="en-US" dirty="0"/>
              <a:t>측정 비용과 시간을 줄이고 공정 관리의 효율성을 높일 수 있습니다</a:t>
            </a:r>
            <a:r>
              <a:rPr lang="en-US" altLang="ko-KR" dirty="0"/>
              <a:t>. </a:t>
            </a:r>
            <a:r>
              <a:rPr lang="ko-KR" altLang="en-US" dirty="0"/>
              <a:t>또한 전수 검사나 실시간 모니터링에도 활용될 수 있다는 장점이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이번 연구는 </a:t>
            </a:r>
            <a:r>
              <a:rPr lang="en-US" altLang="ko-KR" dirty="0"/>
              <a:t>BOSCH </a:t>
            </a:r>
            <a:r>
              <a:rPr lang="ko-KR" altLang="en-US" dirty="0"/>
              <a:t>공정의 </a:t>
            </a:r>
            <a:r>
              <a:rPr lang="en-US" altLang="ko-KR" dirty="0"/>
              <a:t>cycle </a:t>
            </a:r>
            <a:r>
              <a:rPr lang="ko-KR" altLang="en-US" dirty="0"/>
              <a:t>구조를 고려한다는 점에서 의미가 있습니다</a:t>
            </a:r>
            <a:r>
              <a:rPr lang="en-US" altLang="ko-KR" dirty="0"/>
              <a:t>. BOSCH </a:t>
            </a:r>
            <a:r>
              <a:rPr lang="ko-KR" altLang="en-US" dirty="0"/>
              <a:t>공정은 </a:t>
            </a:r>
            <a:r>
              <a:rPr lang="en-US" altLang="ko-KR" dirty="0"/>
              <a:t>etch</a:t>
            </a:r>
            <a:r>
              <a:rPr lang="ko-KR" altLang="en-US" dirty="0"/>
              <a:t>와 </a:t>
            </a:r>
            <a:r>
              <a:rPr lang="en-US" altLang="ko-KR" dirty="0"/>
              <a:t>passivation</a:t>
            </a:r>
            <a:r>
              <a:rPr lang="ko-KR" altLang="en-US" dirty="0"/>
              <a:t>이 반복되는 구조이기 때문에</a:t>
            </a:r>
            <a:r>
              <a:rPr lang="en-US" altLang="ko-KR" dirty="0"/>
              <a:t>, </a:t>
            </a:r>
            <a:r>
              <a:rPr lang="ko-KR" altLang="en-US" dirty="0"/>
              <a:t>단순히 전체 신호를 평균내는 방식으로는 중요한 시간적 변화를 놓칠 수 있습니다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/>
              <a:t>cycle-aware </a:t>
            </a:r>
            <a:r>
              <a:rPr lang="ko-KR" altLang="en-US" dirty="0"/>
              <a:t>접근은 이러한 반복 구조와 </a:t>
            </a:r>
            <a:r>
              <a:rPr lang="en-US" altLang="ko-KR" dirty="0"/>
              <a:t>cycle </a:t>
            </a:r>
            <a:r>
              <a:rPr lang="ko-KR" altLang="en-US" dirty="0"/>
              <a:t>간 변화를 더 잘 반영할 수 있어서</a:t>
            </a:r>
            <a:r>
              <a:rPr lang="en-US" altLang="ko-KR" dirty="0"/>
              <a:t>, </a:t>
            </a:r>
            <a:r>
              <a:rPr lang="ko-KR" altLang="en-US" dirty="0"/>
              <a:t>공정 특성에 더 적합한 예측 모델로 발전할 가능성이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1ADF3-D9EB-4753-914D-CCE533B33CF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39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0770F-D728-4439-5857-849780E8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48C55C-DBE0-2167-0934-2C818D198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73F5A8-9B56-B62B-F52A-75AA875F7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B520F-3B45-F805-5444-94C9DF9F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347B91-E84F-4036-D7C8-B589A55E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8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FA413-CA51-1F45-8DC7-1A069E1B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DE04EB-3354-B874-EDAC-7F5C28554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6CD1-CCAC-6CF0-803D-A46284C6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4FA30-864F-3143-4C60-B49554B0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79FF1B-5B18-BB30-86CE-0A61E1889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097ED-8242-B8A7-11CF-BEF96528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0E531F-9982-414C-B087-99565BBB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68051-F30A-EBC4-FC0B-A4B16EDB4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ACE3F-26B9-64B7-5B5A-060CAE90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F3FC9-C4A4-4751-8FD9-6734BA2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39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5BDA4-50F9-C6DF-3878-F4856800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F960A-5A7C-B8F6-BF2D-831814A7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6D8664-E883-9B69-8CE7-51E474D51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99D0B2-A91B-8EB4-4D04-0F0D4E85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BF03B2-805C-A022-5E6E-9FAA21D7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37862-6269-E72C-371E-8E21DF6B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19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B0197-2B86-2E3E-3045-E44040D5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55DEDE-DA4E-EC1D-502C-DDEC78C33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E724A7-8325-2C1E-E460-E9AABC709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B8B83E-4206-FDEA-EF3E-C4906C9C6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00B246-02DF-911F-0297-1E864F4BD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A44302-559E-7EB0-180F-9E37DB3C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B37CB4-2228-F33B-98E7-93557C3D8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94A893-54A4-E994-620B-0E2A6087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2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A3F72-129A-9B71-4536-E5CAACB1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746C75-2D79-F2DE-407F-D86456F4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75E07-29B7-D7D0-47CA-C4798F99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789EF-7235-4314-B6E5-EBA4D2F3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60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BD7E58-B589-1D5B-13E0-F13D5408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13AF85-3B88-23A8-2875-8B8E2F198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C78908-2051-9F07-10D6-3486920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4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33A7E-D1F6-6693-95F3-429B2FF4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8F3B3-645B-D011-7030-38A5A9ABC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0FD68-0F33-B1F9-76FD-7127C0445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43DD80-619C-47E3-6D7C-68021D7E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6E2BBA-18DD-B277-DFD8-AF44C018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41DD4-AE4F-2DF3-C3F2-B76B08D9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703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FD4C8-D966-6E30-02CC-BB85FF3F2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3A96DD-5675-14AC-87FC-C15AF785C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A3F5E6-3D43-3A1B-E4AF-BE8F9E51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BDB55-9145-D13F-1FB6-E7B0750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D25595-9654-EA95-05EE-DF411A5A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8FE68E-BC32-3AA6-2899-38509C8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83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8362E-5715-0267-C269-9A92C6CA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DCE1E0-D23D-515E-9B3D-A2191ED2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4C5D-63CF-8FE4-6A77-B2A8E762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B6F6C-3749-0D2D-6FB5-DF4D6D91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4F069F-EA39-C960-1E1A-5C36AD2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2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93F588-EB27-9C58-3FA6-C81A5EA25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3FBC81-C1B2-1B27-861E-A32A1C004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8A182-40B9-8569-F491-5602C73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1EA2C-5A40-A95D-2F23-30FE0A38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52508-105F-0632-9445-C2B33F0B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45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249AA1-5582-6BD2-EF1A-654855D8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57EE5-A3EE-86CB-BB68-C735821BD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4E9680-583E-8438-768B-99FB50D15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00FF2-D11E-4552-B7E5-9AF2C6534834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BFDA2-4A40-F78C-8EB8-FBD967AE6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82D46-6B12-525E-5655-135455F76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47A77-EE82-4EFC-B1F0-6A32EE1B6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17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9000"/>
          </a:blip>
          <a:stretch>
            <a:fillRect/>
          </a:stretch>
        </p:blipFill>
        <p:spPr>
          <a:xfrm>
            <a:off x="2838450" y="-158750"/>
            <a:ext cx="9645650" cy="7416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61000"/>
          </a:blip>
          <a:stretch>
            <a:fillRect/>
          </a:stretch>
        </p:blipFill>
        <p:spPr>
          <a:xfrm>
            <a:off x="10483850" y="2298700"/>
            <a:ext cx="2139950" cy="47942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95300" y="1052558"/>
            <a:ext cx="11125200" cy="1784350"/>
          </a:xfrm>
          <a:prstGeom prst="rect">
            <a:avLst/>
          </a:prstGeom>
        </p:spPr>
        <p:txBody>
          <a:bodyPr lIns="0" tIns="114513" rIns="0" bIns="0" rtlCol="0" anchor="t"/>
          <a:lstStyle/>
          <a:p>
            <a:pPr lvl="0">
              <a:lnSpc>
                <a:spcPct val="95449"/>
              </a:lnSpc>
            </a:pPr>
            <a:r>
              <a:rPr lang="ko-KR" altLang="en-US" sz="5750" spc="5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광학방출 스펙트럼 및 공정 데이터 기반 반도체 공정 가상 계측 모델</a:t>
            </a:r>
            <a:endParaRPr lang="en-US" sz="5750" spc="50" dirty="0">
              <a:solidFill>
                <a:srgbClr val="202A3E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9000"/>
          </a:blip>
          <a:stretch>
            <a:fillRect/>
          </a:stretch>
        </p:blipFill>
        <p:spPr>
          <a:xfrm rot="8785357">
            <a:off x="9531350" y="2101850"/>
            <a:ext cx="1333500" cy="3568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2000"/>
          </a:blip>
          <a:stretch>
            <a:fillRect/>
          </a:stretch>
        </p:blipFill>
        <p:spPr>
          <a:xfrm rot="7657234">
            <a:off x="8102600" y="2616200"/>
            <a:ext cx="200025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 rot="6669180">
            <a:off x="6369050" y="4051300"/>
            <a:ext cx="914400" cy="339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9000"/>
          </a:blip>
          <a:stretch>
            <a:fillRect/>
          </a:stretch>
        </p:blipFill>
        <p:spPr>
          <a:xfrm rot="14083532">
            <a:off x="9112250" y="1136650"/>
            <a:ext cx="2743200" cy="19621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49000"/>
          </a:blip>
          <a:stretch>
            <a:fillRect/>
          </a:stretch>
        </p:blipFill>
        <p:spPr>
          <a:xfrm rot="4929301">
            <a:off x="5778500" y="5721350"/>
            <a:ext cx="2743200" cy="19621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95300" y="2927350"/>
            <a:ext cx="369570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종합설계프로젝트 </a:t>
            </a:r>
            <a:r>
              <a:rPr lang="en-US" altLang="ko-KR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6</a:t>
            </a:r>
            <a:r>
              <a:rPr lang="ko-KR" altLang="en-US" sz="3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조</a:t>
            </a:r>
            <a:endParaRPr lang="en-US" sz="300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>
            <a:extLst>
              <a:ext uri="{FF2B5EF4-FFF2-40B4-BE49-F238E27FC236}">
                <a16:creationId xmlns:a16="http://schemas.microsoft.com/office/drawing/2014/main" id="{EF799A8E-8E2E-71CA-1CC7-12AF29A77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990" y="500975"/>
            <a:ext cx="5449570" cy="1278664"/>
          </a:xfrm>
          <a:prstGeom prst="rect">
            <a:avLst/>
          </a:prstGeom>
        </p:spPr>
      </p:pic>
      <p:sp>
        <p:nvSpPr>
          <p:cNvPr id="20" name="TextBox 9">
            <a:extLst>
              <a:ext uri="{FF2B5EF4-FFF2-40B4-BE49-F238E27FC236}">
                <a16:creationId xmlns:a16="http://schemas.microsoft.com/office/drawing/2014/main" id="{1A5459F7-2EA3-012B-5951-37A2F20A3450}"/>
              </a:ext>
            </a:extLst>
          </p:cNvPr>
          <p:cNvSpPr txBox="1"/>
          <p:nvPr/>
        </p:nvSpPr>
        <p:spPr>
          <a:xfrm>
            <a:off x="6096000" y="854557"/>
            <a:ext cx="727710" cy="571500"/>
          </a:xfrm>
          <a:prstGeom prst="rect">
            <a:avLst/>
          </a:prstGeom>
        </p:spPr>
        <p:txBody>
          <a:bodyPr lIns="0" tIns="83651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2800" b="1" i="0" u="none" strike="noStrike" dirty="0">
                <a:solidFill>
                  <a:srgbClr val="5180D8"/>
                </a:solidFill>
                <a:latin typeface="Outfit Regular"/>
                <a:ea typeface="Outfit Regular"/>
                <a:cs typeface="Outfit Regular"/>
              </a:rPr>
              <a:t> 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02499" y="854557"/>
            <a:ext cx="26225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>
              <a:lnSpc>
                <a:spcPct val="107070"/>
              </a:lnSpc>
            </a:pPr>
            <a:r>
              <a:rPr lang="en-US" sz="32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7" name="TextBox 2">
            <a:extLst>
              <a:ext uri="{FF2B5EF4-FFF2-40B4-BE49-F238E27FC236}">
                <a16:creationId xmlns:a16="http://schemas.microsoft.com/office/drawing/2014/main" id="{FA8BCBA1-E452-0993-CAC3-8E8A8412FBC2}"/>
              </a:ext>
            </a:extLst>
          </p:cNvPr>
          <p:cNvSpPr txBox="1"/>
          <p:nvPr/>
        </p:nvSpPr>
        <p:spPr>
          <a:xfrm>
            <a:off x="514350" y="514350"/>
            <a:ext cx="320040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8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</a:p>
        </p:txBody>
      </p:sp>
      <p:pic>
        <p:nvPicPr>
          <p:cNvPr id="28" name="Picture 3">
            <a:extLst>
              <a:ext uri="{FF2B5EF4-FFF2-40B4-BE49-F238E27FC236}">
                <a16:creationId xmlns:a16="http://schemas.microsoft.com/office/drawing/2014/main" id="{EAD62DB9-468E-CD6B-7FB9-13C8934E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990" y="1975970"/>
            <a:ext cx="5449570" cy="1278664"/>
          </a:xfrm>
          <a:prstGeom prst="rect">
            <a:avLst/>
          </a:prstGeom>
        </p:spPr>
      </p:pic>
      <p:sp>
        <p:nvSpPr>
          <p:cNvPr id="29" name="TextBox 9">
            <a:extLst>
              <a:ext uri="{FF2B5EF4-FFF2-40B4-BE49-F238E27FC236}">
                <a16:creationId xmlns:a16="http://schemas.microsoft.com/office/drawing/2014/main" id="{AF237D7B-8A2B-2194-2B7F-0F2464D8E48F}"/>
              </a:ext>
            </a:extLst>
          </p:cNvPr>
          <p:cNvSpPr txBox="1"/>
          <p:nvPr/>
        </p:nvSpPr>
        <p:spPr>
          <a:xfrm>
            <a:off x="6096000" y="2329552"/>
            <a:ext cx="727710" cy="571500"/>
          </a:xfrm>
          <a:prstGeom prst="rect">
            <a:avLst/>
          </a:prstGeom>
        </p:spPr>
        <p:txBody>
          <a:bodyPr lIns="0" tIns="83651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2800" b="1" i="0" u="none" strike="noStrike" dirty="0">
                <a:solidFill>
                  <a:srgbClr val="5180D8"/>
                </a:solidFill>
                <a:latin typeface="Outfit Regular"/>
                <a:ea typeface="Outfit Regular"/>
                <a:cs typeface="Outfit Regular"/>
              </a:rPr>
              <a:t> 02	</a:t>
            </a: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86F6C4FE-7D78-AEC6-8AEC-B61AE5385F47}"/>
              </a:ext>
            </a:extLst>
          </p:cNvPr>
          <p:cNvSpPr txBox="1"/>
          <p:nvPr/>
        </p:nvSpPr>
        <p:spPr>
          <a:xfrm>
            <a:off x="7302499" y="2329552"/>
            <a:ext cx="26225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>
              <a:lnSpc>
                <a:spcPct val="107070"/>
              </a:lnSpc>
            </a:pPr>
            <a:r>
              <a:rPr lang="en-US" sz="32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32" name="Picture 3">
            <a:extLst>
              <a:ext uri="{FF2B5EF4-FFF2-40B4-BE49-F238E27FC236}">
                <a16:creationId xmlns:a16="http://schemas.microsoft.com/office/drawing/2014/main" id="{7F5C89E3-E9F4-CD2D-B27E-7261B524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990" y="3450965"/>
            <a:ext cx="5449570" cy="1278664"/>
          </a:xfrm>
          <a:prstGeom prst="rect">
            <a:avLst/>
          </a:prstGeom>
        </p:spPr>
      </p:pic>
      <p:sp>
        <p:nvSpPr>
          <p:cNvPr id="33" name="TextBox 9">
            <a:extLst>
              <a:ext uri="{FF2B5EF4-FFF2-40B4-BE49-F238E27FC236}">
                <a16:creationId xmlns:a16="http://schemas.microsoft.com/office/drawing/2014/main" id="{728F36BD-FFA1-CA6B-09D6-E754D5C30DE7}"/>
              </a:ext>
            </a:extLst>
          </p:cNvPr>
          <p:cNvSpPr txBox="1"/>
          <p:nvPr/>
        </p:nvSpPr>
        <p:spPr>
          <a:xfrm>
            <a:off x="6096000" y="3804547"/>
            <a:ext cx="727710" cy="571500"/>
          </a:xfrm>
          <a:prstGeom prst="rect">
            <a:avLst/>
          </a:prstGeom>
        </p:spPr>
        <p:txBody>
          <a:bodyPr lIns="0" tIns="83651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2800" b="1" i="0" u="none" strike="noStrike" dirty="0">
                <a:solidFill>
                  <a:srgbClr val="5180D8"/>
                </a:solidFill>
                <a:latin typeface="Outfit Regular"/>
                <a:ea typeface="Outfit Regular"/>
                <a:cs typeface="Outfit Regular"/>
              </a:rPr>
              <a:t> 03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A349E062-9485-5612-1D33-242CCFEA2B5C}"/>
              </a:ext>
            </a:extLst>
          </p:cNvPr>
          <p:cNvSpPr txBox="1"/>
          <p:nvPr/>
        </p:nvSpPr>
        <p:spPr>
          <a:xfrm>
            <a:off x="7302499" y="3804547"/>
            <a:ext cx="2622550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>
              <a:lnSpc>
                <a:spcPct val="107070"/>
              </a:lnSpc>
            </a:pPr>
            <a:r>
              <a:rPr lang="en-US" sz="32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Modeling</a:t>
            </a: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A66883B4-D8AE-BC85-3725-1305B2C5D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990" y="4925961"/>
            <a:ext cx="5449570" cy="1278664"/>
          </a:xfrm>
          <a:prstGeom prst="rect">
            <a:avLst/>
          </a:prstGeom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FDE3944B-C919-E8FF-56F0-2D99B5912E27}"/>
              </a:ext>
            </a:extLst>
          </p:cNvPr>
          <p:cNvSpPr txBox="1"/>
          <p:nvPr/>
        </p:nvSpPr>
        <p:spPr>
          <a:xfrm>
            <a:off x="6096000" y="5279543"/>
            <a:ext cx="727710" cy="571500"/>
          </a:xfrm>
          <a:prstGeom prst="rect">
            <a:avLst/>
          </a:prstGeom>
        </p:spPr>
        <p:txBody>
          <a:bodyPr lIns="0" tIns="83651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2800" b="1" i="0" u="none" strike="noStrike" dirty="0">
                <a:solidFill>
                  <a:srgbClr val="5180D8"/>
                </a:solidFill>
                <a:latin typeface="Outfit Regular"/>
                <a:ea typeface="Outfit Regular"/>
                <a:cs typeface="Outfit Regular"/>
              </a:rPr>
              <a:t> 04</a:t>
            </a:r>
          </a:p>
        </p:txBody>
      </p:sp>
      <p:sp>
        <p:nvSpPr>
          <p:cNvPr id="38" name="TextBox 7">
            <a:extLst>
              <a:ext uri="{FF2B5EF4-FFF2-40B4-BE49-F238E27FC236}">
                <a16:creationId xmlns:a16="http://schemas.microsoft.com/office/drawing/2014/main" id="{5563AE69-D643-42E9-BC06-EFEB8FF09D10}"/>
              </a:ext>
            </a:extLst>
          </p:cNvPr>
          <p:cNvSpPr txBox="1"/>
          <p:nvPr/>
        </p:nvSpPr>
        <p:spPr>
          <a:xfrm>
            <a:off x="7302499" y="5279543"/>
            <a:ext cx="3345835" cy="571500"/>
          </a:xfrm>
          <a:prstGeom prst="rect">
            <a:avLst/>
          </a:prstGeom>
        </p:spPr>
        <p:txBody>
          <a:bodyPr lIns="0" tIns="22352" rIns="0" bIns="0" rtlCol="0" anchor="t"/>
          <a:lstStyle/>
          <a:p>
            <a:pPr lvl="0">
              <a:lnSpc>
                <a:spcPct val="107070"/>
              </a:lnSpc>
            </a:pPr>
            <a:r>
              <a:rPr lang="en-US" sz="32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A313B-3E17-9D4C-A942-A6DCFEE71331}"/>
              </a:ext>
            </a:extLst>
          </p:cNvPr>
          <p:cNvSpPr txBox="1"/>
          <p:nvPr/>
        </p:nvSpPr>
        <p:spPr>
          <a:xfrm>
            <a:off x="884903" y="1517525"/>
            <a:ext cx="10422195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반도체 제조 공정에서 웨이퍼의 품질 관리는 식각 깊이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(etch depth),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산화막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두께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(oxide thickness)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등의 물리적 측정에 의존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가상 계측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(Virtual Metrology, VM)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은 이러한 물리적 측정값을 예측하는 기술 → 전수 검사 가능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 제어의 실시간성 향상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026" name="Picture 2" descr="VM 시스템 구성도">
            <a:extLst>
              <a:ext uri="{FF2B5EF4-FFF2-40B4-BE49-F238E27FC236}">
                <a16:creationId xmlns:a16="http://schemas.microsoft.com/office/drawing/2014/main" id="{031CD703-8FCC-B5F5-F8A0-2520DBD1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548850"/>
            <a:ext cx="8601075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1915-B615-22FE-2F5A-4E1C2A26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CD4E7BE9-7134-AC58-91F5-C53DC4AD0D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1184E29-6F37-AE44-9F88-EB58D11C08A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E22FFEF-AD30-69AB-F063-5FA7DE8C3468}"/>
              </a:ext>
            </a:extLst>
          </p:cNvPr>
          <p:cNvGrpSpPr/>
          <p:nvPr/>
        </p:nvGrpSpPr>
        <p:grpSpPr>
          <a:xfrm>
            <a:off x="521110" y="1188093"/>
            <a:ext cx="11149781" cy="5401256"/>
            <a:chOff x="658761" y="1188093"/>
            <a:chExt cx="11149781" cy="540125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BCF773-A988-AD12-E920-3DCBC05B3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8761" y="1188093"/>
              <a:ext cx="4119716" cy="540125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08D8FB8-6DBB-F4E7-7194-CF46FC12EE56}"/>
                </a:ext>
              </a:extLst>
            </p:cNvPr>
            <p:cNvSpPr txBox="1"/>
            <p:nvPr/>
          </p:nvSpPr>
          <p:spPr>
            <a:xfrm>
              <a:off x="4873728" y="1330008"/>
              <a:ext cx="6934814" cy="3783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(Deep Reactive Ion Etching, DRIE):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SF6(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식각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C4F8(</a:t>
              </a:r>
              <a:r>
                <a:rPr lang="ko-KR" altLang="en-US" dirty="0" err="1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패시베이션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가스를 교대로 사용하는 사이클릭 공정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데이터셋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: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초의 점화 단계 후 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회의 사이클**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(SF6 4.5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+ C4F8 1.5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초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로 구성되며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각 웨이퍼에 대해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OES(Optical Emission Spectroscopy)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3,648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개 파장 채널에서 연속 기록됨</a:t>
              </a: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기존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VM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연구에서는 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OES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를 통계적 요약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(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평균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분산 등</a:t>
              </a:r>
              <a:r>
                <a:rPr lang="en-US" altLang="ko-KR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)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으로 축소하여 사용 → </a:t>
              </a:r>
              <a:r>
                <a:rPr lang="ko-KR" altLang="en-US" b="1" u="sng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사이클 간 시간적 변화 패턴</a:t>
              </a:r>
              <a:r>
                <a:rPr lang="ko-KR" altLang="en-US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이라는 핵심 정보 손실</a:t>
              </a: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130D8BFA-32D3-B344-8672-57DAAFBC1E0D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63167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4B2CA-B423-9F11-E184-E40CF0E32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836D02F6-99BC-CAE8-46FF-A6FB63E743D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2B4A886-03C2-1A4A-798C-4433E2CEA99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E0A156-352E-C27A-13DD-281B8FE9BFFC}"/>
              </a:ext>
            </a:extLst>
          </p:cNvPr>
          <p:cNvSpPr txBox="1"/>
          <p:nvPr/>
        </p:nvSpPr>
        <p:spPr>
          <a:xfrm>
            <a:off x="884903" y="1517525"/>
            <a:ext cx="10422195" cy="2660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기존 접근법의 한계</a:t>
            </a:r>
            <a:endParaRPr lang="en-US" altLang="ko-KR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통계 요약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+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전통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ML: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사이클 간 시간적 변화 정보 손실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OES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직접 입력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차원이 너무 높아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(14,744 × 3,648)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학습 불가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일반적 시계열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DL: BOSCH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사이클 구조를 반영하지 못함</a:t>
            </a: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→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BOSCH </a:t>
            </a:r>
            <a:r>
              <a:rPr lang="ko-KR" altLang="en-US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공정의 물리적 사이클 구조를 반영한 딥러닝 기반 표현 학습 방법 필요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4182A52-E6A9-5667-9B8E-AED875CFDAA6}"/>
              </a:ext>
            </a:extLst>
          </p:cNvPr>
          <p:cNvSpPr txBox="1"/>
          <p:nvPr/>
        </p:nvSpPr>
        <p:spPr>
          <a:xfrm>
            <a:off x="514350" y="514350"/>
            <a:ext cx="2587665" cy="672637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47000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4200-1213-674A-240B-92267184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F729180-39D1-BCB1-8419-21DE2F7F2254}"/>
              </a:ext>
            </a:extLst>
          </p:cNvPr>
          <p:cNvSpPr txBox="1"/>
          <p:nvPr/>
        </p:nvSpPr>
        <p:spPr>
          <a:xfrm>
            <a:off x="514350" y="514350"/>
            <a:ext cx="6343650" cy="891540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1DA838BF-450B-E027-CE80-E39504BB26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6F8D9AA-B744-E161-53C9-92884C70A4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65" name="Text 1">
            <a:extLst>
              <a:ext uri="{FF2B5EF4-FFF2-40B4-BE49-F238E27FC236}">
                <a16:creationId xmlns:a16="http://schemas.microsoft.com/office/drawing/2014/main" id="{C72C8097-280E-506C-FB90-37705E206D8B}"/>
              </a:ext>
            </a:extLst>
          </p:cNvPr>
          <p:cNvSpPr/>
          <p:nvPr/>
        </p:nvSpPr>
        <p:spPr>
          <a:xfrm>
            <a:off x="699201" y="1458767"/>
            <a:ext cx="7300184" cy="10244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BOSCH Plasma Etch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Multi-Model Dataset</a:t>
            </a:r>
            <a:endParaRPr lang="en-US" sz="44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1BEF95C-A628-D908-628F-20B1BFCFD71D}"/>
              </a:ext>
            </a:extLst>
          </p:cNvPr>
          <p:cNvSpPr/>
          <p:nvPr/>
        </p:nvSpPr>
        <p:spPr>
          <a:xfrm>
            <a:off x="730470" y="269052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Zenodo  |  DOI: 10.5281/zenodo.17122442  |  CC-BY 4.0</a:t>
            </a:r>
            <a:endParaRPr lang="en-US" sz="16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3BC1FC46-1F2E-7AF1-61F6-9E1CF88BA3E6}"/>
              </a:ext>
            </a:extLst>
          </p:cNvPr>
          <p:cNvGrpSpPr/>
          <p:nvPr/>
        </p:nvGrpSpPr>
        <p:grpSpPr>
          <a:xfrm>
            <a:off x="8055731" y="667223"/>
            <a:ext cx="3437068" cy="2437453"/>
            <a:chOff x="8379904" y="667223"/>
            <a:chExt cx="2931997" cy="2437453"/>
          </a:xfrm>
        </p:grpSpPr>
        <p:sp>
          <p:nvSpPr>
            <p:cNvPr id="68" name="Shape 18">
              <a:extLst>
                <a:ext uri="{FF2B5EF4-FFF2-40B4-BE49-F238E27FC236}">
                  <a16:creationId xmlns:a16="http://schemas.microsoft.com/office/drawing/2014/main" id="{E941A855-46CD-92CC-9B56-45C52796763E}"/>
                </a:ext>
              </a:extLst>
            </p:cNvPr>
            <p:cNvSpPr/>
            <p:nvPr/>
          </p:nvSpPr>
          <p:spPr>
            <a:xfrm>
              <a:off x="8379904" y="667223"/>
              <a:ext cx="2931997" cy="2437453"/>
            </a:xfrm>
            <a:prstGeom prst="rect">
              <a:avLst/>
            </a:prstGeom>
            <a:solidFill>
              <a:srgbClr val="F0F4FA"/>
            </a:solidFill>
            <a:ln/>
          </p:spPr>
          <p:txBody>
            <a:bodyPr/>
            <a:lstStyle/>
            <a:p>
              <a:endPara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9" name="Shape 19">
              <a:extLst>
                <a:ext uri="{FF2B5EF4-FFF2-40B4-BE49-F238E27FC236}">
                  <a16:creationId xmlns:a16="http://schemas.microsoft.com/office/drawing/2014/main" id="{0E797F39-F21E-C00D-EE48-870A140B433F}"/>
                </a:ext>
              </a:extLst>
            </p:cNvPr>
            <p:cNvSpPr/>
            <p:nvPr/>
          </p:nvSpPr>
          <p:spPr>
            <a:xfrm>
              <a:off x="8379904" y="667223"/>
              <a:ext cx="70368" cy="2437453"/>
            </a:xfrm>
            <a:prstGeom prst="rect">
              <a:avLst/>
            </a:prstGeom>
            <a:solidFill>
              <a:srgbClr val="1A2744"/>
            </a:solidFill>
            <a:ln/>
          </p:spPr>
          <p:txBody>
            <a:bodyPr/>
            <a:lstStyle/>
            <a:p>
              <a:endParaRPr lang="ko-KR" altLang="en-US" sz="24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0764E4AA-656C-80D9-6AC1-82ACDF3053D9}"/>
              </a:ext>
            </a:extLst>
          </p:cNvPr>
          <p:cNvGrpSpPr/>
          <p:nvPr/>
        </p:nvGrpSpPr>
        <p:grpSpPr>
          <a:xfrm>
            <a:off x="8318158" y="843549"/>
            <a:ext cx="2887137" cy="2084801"/>
            <a:chOff x="8673104" y="770944"/>
            <a:chExt cx="2462877" cy="2084801"/>
          </a:xfrm>
        </p:grpSpPr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8AAD7B60-A9F7-7CA5-46D1-9119AE146183}"/>
                </a:ext>
              </a:extLst>
            </p:cNvPr>
            <p:cNvSpPr/>
            <p:nvPr/>
          </p:nvSpPr>
          <p:spPr>
            <a:xfrm>
              <a:off x="8673104" y="770944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장비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BDABCAB3-180C-B3C8-931A-529ECEE630D6}"/>
                </a:ext>
              </a:extLst>
            </p:cNvPr>
            <p:cNvSpPr/>
            <p:nvPr/>
          </p:nvSpPr>
          <p:spPr>
            <a:xfrm>
              <a:off x="8673104" y="993530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SPTS Omega i2L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DSi Rapier (ICP-RIE)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2" name="Text 22">
              <a:extLst>
                <a:ext uri="{FF2B5EF4-FFF2-40B4-BE49-F238E27FC236}">
                  <a16:creationId xmlns:a16="http://schemas.microsoft.com/office/drawing/2014/main" id="{0D163435-18C0-60AF-53AD-C631A7FCF952}"/>
                </a:ext>
              </a:extLst>
            </p:cNvPr>
            <p:cNvSpPr/>
            <p:nvPr/>
          </p:nvSpPr>
          <p:spPr>
            <a:xfrm>
              <a:off x="8673104" y="139244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웨이퍼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457D3CE0-2B76-6087-5F29-BA9B80EBF0A5}"/>
                </a:ext>
              </a:extLst>
            </p:cNvPr>
            <p:cNvSpPr/>
            <p:nvPr/>
          </p:nvSpPr>
          <p:spPr>
            <a:xfrm>
              <a:off x="8673104" y="1615028"/>
              <a:ext cx="2462877" cy="1740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200mm Si &lt;100&gt;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4" name="Text 24">
              <a:extLst>
                <a:ext uri="{FF2B5EF4-FFF2-40B4-BE49-F238E27FC236}">
                  <a16:creationId xmlns:a16="http://schemas.microsoft.com/office/drawing/2014/main" id="{D0C08D06-D7C4-864D-CE7C-617493509A66}"/>
                </a:ext>
              </a:extLst>
            </p:cNvPr>
            <p:cNvSpPr/>
            <p:nvPr/>
          </p:nvSpPr>
          <p:spPr>
            <a:xfrm>
              <a:off x="8673104" y="1824962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5" name="Text 25">
              <a:extLst>
                <a:ext uri="{FF2B5EF4-FFF2-40B4-BE49-F238E27FC236}">
                  <a16:creationId xmlns:a16="http://schemas.microsoft.com/office/drawing/2014/main" id="{1349BBE9-473B-C052-DC55-F620DF43693B}"/>
                </a:ext>
              </a:extLst>
            </p:cNvPr>
            <p:cNvSpPr/>
            <p:nvPr/>
          </p:nvSpPr>
          <p:spPr>
            <a:xfrm>
              <a:off x="8673104" y="2047548"/>
              <a:ext cx="2462877" cy="3630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BOSCH (SF₆/C₄F₈)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100 cycles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6" name="Text 26">
              <a:extLst>
                <a:ext uri="{FF2B5EF4-FFF2-40B4-BE49-F238E27FC236}">
                  <a16:creationId xmlns:a16="http://schemas.microsoft.com/office/drawing/2014/main" id="{52FF06A8-E5B6-CF8E-218F-236243B41FA6}"/>
                </a:ext>
              </a:extLst>
            </p:cNvPr>
            <p:cNvSpPr/>
            <p:nvPr/>
          </p:nvSpPr>
          <p:spPr>
            <a:xfrm>
              <a:off x="8673104" y="2446460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563E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규모</a:t>
              </a:r>
              <a:endParaRPr lang="en-US" sz="105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77" name="Text 27">
              <a:extLst>
                <a:ext uri="{FF2B5EF4-FFF2-40B4-BE49-F238E27FC236}">
                  <a16:creationId xmlns:a16="http://schemas.microsoft.com/office/drawing/2014/main" id="{CD08E975-F09F-8D32-913A-1FF6C160E867}"/>
                </a:ext>
              </a:extLst>
            </p:cNvPr>
            <p:cNvSpPr/>
            <p:nvPr/>
          </p:nvSpPr>
          <p:spPr>
            <a:xfrm>
              <a:off x="8673104" y="2669046"/>
              <a:ext cx="2462877" cy="1866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293B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10 lots × 10 wafers ≈ 100</a:t>
              </a:r>
              <a:endParaRPr lang="en-US" sz="11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  <p:sp>
        <p:nvSpPr>
          <p:cNvPr id="78" name="Shape 3">
            <a:extLst>
              <a:ext uri="{FF2B5EF4-FFF2-40B4-BE49-F238E27FC236}">
                <a16:creationId xmlns:a16="http://schemas.microsoft.com/office/drawing/2014/main" id="{CFDD2194-C231-3909-FEDB-D9FB73471181}"/>
              </a:ext>
            </a:extLst>
          </p:cNvPr>
          <p:cNvSpPr/>
          <p:nvPr/>
        </p:nvSpPr>
        <p:spPr>
          <a:xfrm>
            <a:off x="69920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9" name="Shape 4">
            <a:extLst>
              <a:ext uri="{FF2B5EF4-FFF2-40B4-BE49-F238E27FC236}">
                <a16:creationId xmlns:a16="http://schemas.microsoft.com/office/drawing/2014/main" id="{65E3C821-A017-E6F7-CA26-DEF2901AE444}"/>
              </a:ext>
            </a:extLst>
          </p:cNvPr>
          <p:cNvSpPr/>
          <p:nvPr/>
        </p:nvSpPr>
        <p:spPr>
          <a:xfrm>
            <a:off x="69920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D1936756-08B4-1132-AECF-38970A388C9E}"/>
              </a:ext>
            </a:extLst>
          </p:cNvPr>
          <p:cNvSpPr/>
          <p:nvPr/>
        </p:nvSpPr>
        <p:spPr>
          <a:xfrm>
            <a:off x="1000698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3,648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37BF3E72-10F1-52D3-575F-1B3E380A0939}"/>
              </a:ext>
            </a:extLst>
          </p:cNvPr>
          <p:cNvSpPr/>
          <p:nvPr/>
        </p:nvSpPr>
        <p:spPr>
          <a:xfrm>
            <a:off x="1000698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채널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5C5E5F83-CC98-9D8F-4B52-1E63463C8E47}"/>
              </a:ext>
            </a:extLst>
          </p:cNvPr>
          <p:cNvSpPr/>
          <p:nvPr/>
        </p:nvSpPr>
        <p:spPr>
          <a:xfrm>
            <a:off x="1000698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광학 방출 스펙트럼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185 ~ 884 nm, 25Hz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9C1534E9-8309-EEE2-81B6-5DB34F7DA198}"/>
              </a:ext>
            </a:extLst>
          </p:cNvPr>
          <p:cNvSpPr/>
          <p:nvPr/>
        </p:nvSpPr>
        <p:spPr>
          <a:xfrm>
            <a:off x="4377466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A4E43B2D-FC58-E5CD-C24B-E4A937F86F67}"/>
              </a:ext>
            </a:extLst>
          </p:cNvPr>
          <p:cNvSpPr/>
          <p:nvPr/>
        </p:nvSpPr>
        <p:spPr>
          <a:xfrm>
            <a:off x="4377466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F93B92DE-9CE5-5C55-0E00-B0567468B1A4}"/>
              </a:ext>
            </a:extLst>
          </p:cNvPr>
          <p:cNvSpPr/>
          <p:nvPr/>
        </p:nvSpPr>
        <p:spPr>
          <a:xfrm>
            <a:off x="4678963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31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26D88EE4-047F-E80F-E246-A564E345C4B4}"/>
              </a:ext>
            </a:extLst>
          </p:cNvPr>
          <p:cNvSpPr/>
          <p:nvPr/>
        </p:nvSpPr>
        <p:spPr>
          <a:xfrm>
            <a:off x="4678963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파라미터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7" name="Text 12">
            <a:extLst>
              <a:ext uri="{FF2B5EF4-FFF2-40B4-BE49-F238E27FC236}">
                <a16:creationId xmlns:a16="http://schemas.microsoft.com/office/drawing/2014/main" id="{C72A56BB-A6EE-9B1D-5A15-A5C03C877C13}"/>
              </a:ext>
            </a:extLst>
          </p:cNvPr>
          <p:cNvSpPr/>
          <p:nvPr/>
        </p:nvSpPr>
        <p:spPr>
          <a:xfrm>
            <a:off x="4678963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센서 데이터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RF Power, 가스, 압력 등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DFC3C4A4-6A05-12CB-76E2-043AC5D185C6}"/>
              </a:ext>
            </a:extLst>
          </p:cNvPr>
          <p:cNvSpPr/>
          <p:nvPr/>
        </p:nvSpPr>
        <p:spPr>
          <a:xfrm>
            <a:off x="8055731" y="3417003"/>
            <a:ext cx="3437068" cy="1989881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7DFC0076-BEFB-F6C3-F951-69F081F59BA5}"/>
              </a:ext>
            </a:extLst>
          </p:cNvPr>
          <p:cNvSpPr/>
          <p:nvPr/>
        </p:nvSpPr>
        <p:spPr>
          <a:xfrm>
            <a:off x="8055731" y="3417003"/>
            <a:ext cx="72359" cy="1989881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 sz="240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7F28A1A9-2DE4-4478-8FBB-C2D81C0591D6}"/>
              </a:ext>
            </a:extLst>
          </p:cNvPr>
          <p:cNvSpPr/>
          <p:nvPr/>
        </p:nvSpPr>
        <p:spPr>
          <a:xfrm>
            <a:off x="8357229" y="3477302"/>
            <a:ext cx="2894373" cy="663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744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9/89</a:t>
            </a:r>
            <a:endParaRPr lang="en-US" sz="4000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FC71E5D2-DC46-8786-2F6E-DB4E3D1DE24A}"/>
              </a:ext>
            </a:extLst>
          </p:cNvPr>
          <p:cNvSpPr/>
          <p:nvPr/>
        </p:nvSpPr>
        <p:spPr>
          <a:xfrm>
            <a:off x="8357229" y="4080297"/>
            <a:ext cx="2894373" cy="36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포인트</a:t>
            </a:r>
            <a:endParaRPr lang="en-US" sz="16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2" name="Text 17">
            <a:extLst>
              <a:ext uri="{FF2B5EF4-FFF2-40B4-BE49-F238E27FC236}">
                <a16:creationId xmlns:a16="http://schemas.microsoft.com/office/drawing/2014/main" id="{A6869D74-527B-EC64-19DC-54102A174189}"/>
              </a:ext>
            </a:extLst>
          </p:cNvPr>
          <p:cNvSpPr/>
          <p:nvPr/>
        </p:nvSpPr>
        <p:spPr>
          <a:xfrm>
            <a:off x="8357229" y="4442093"/>
            <a:ext cx="2894373" cy="844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웨이퍼 계측값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Etch Depth, Oxide 두께</a:t>
            </a:r>
            <a:endParaRPr lang="en-US" sz="11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3" name="Shape 28">
            <a:extLst>
              <a:ext uri="{FF2B5EF4-FFF2-40B4-BE49-F238E27FC236}">
                <a16:creationId xmlns:a16="http://schemas.microsoft.com/office/drawing/2014/main" id="{873F5134-2193-0C6F-B08D-D0D9EA0AAFDC}"/>
              </a:ext>
            </a:extLst>
          </p:cNvPr>
          <p:cNvSpPr/>
          <p:nvPr/>
        </p:nvSpPr>
        <p:spPr>
          <a:xfrm>
            <a:off x="699201" y="5648082"/>
            <a:ext cx="10793598" cy="542695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E8808E3B-37F1-C87C-05D1-A63C057B6D81}"/>
              </a:ext>
            </a:extLst>
          </p:cNvPr>
          <p:cNvSpPr/>
          <p:nvPr/>
        </p:nvSpPr>
        <p:spPr>
          <a:xfrm>
            <a:off x="940399" y="5684262"/>
            <a:ext cx="10130304" cy="458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+ 공정 파라미터(X)로 Etch Depth(Y)를 예측하는 가상 계측(VM) 모델의 학습 데이터</a:t>
            </a:r>
            <a:endParaRPr lang="en-US" sz="1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705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2D290-2FB5-9956-3765-45A20FCF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FE9FA752-34BE-49F7-298A-9D5C598F90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A7B2AA4-25AC-2FE6-E75F-E3B3F28063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118" name="TextBox 2">
            <a:extLst>
              <a:ext uri="{FF2B5EF4-FFF2-40B4-BE49-F238E27FC236}">
                <a16:creationId xmlns:a16="http://schemas.microsoft.com/office/drawing/2014/main" id="{7DAE976A-A970-B428-EF78-CFEF8078B514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119" name="Text 0">
            <a:extLst>
              <a:ext uri="{FF2B5EF4-FFF2-40B4-BE49-F238E27FC236}">
                <a16:creationId xmlns:a16="http://schemas.microsoft.com/office/drawing/2014/main" id="{0CCABD9F-A6C3-25A8-1542-24A3F1542506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공정 파라미터 31개 — 장비 구조와 매핑</a:t>
            </a:r>
            <a:endParaRPr lang="en-US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0" name="Text 1">
            <a:extLst>
              <a:ext uri="{FF2B5EF4-FFF2-40B4-BE49-F238E27FC236}">
                <a16:creationId xmlns:a16="http://schemas.microsoft.com/office/drawing/2014/main" id="{03684288-5B39-8658-0462-84E81EAE2B23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센서가 ICP-RIE 장비의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어느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부분을</a:t>
            </a:r>
            <a:r>
              <a:rPr lang="en-US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모니터링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하는지</a:t>
            </a:r>
            <a:endParaRPr lang="en-US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61" name="그림 160">
            <a:extLst>
              <a:ext uri="{FF2B5EF4-FFF2-40B4-BE49-F238E27FC236}">
                <a16:creationId xmlns:a16="http://schemas.microsoft.com/office/drawing/2014/main" id="{E298A38D-8158-D7EA-01E5-352652195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057" y="2077145"/>
            <a:ext cx="10057887" cy="370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2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C42-1A12-C903-5581-6BD58BC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>
            <a:extLst>
              <a:ext uri="{FF2B5EF4-FFF2-40B4-BE49-F238E27FC236}">
                <a16:creationId xmlns:a16="http://schemas.microsoft.com/office/drawing/2014/main" id="{23AD093C-1908-2048-CF62-1C2D579745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D778C96C-7DCB-1C32-D440-3C0A96E7BE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sp>
        <p:nvSpPr>
          <p:cNvPr id="45" name="TextBox 2">
            <a:extLst>
              <a:ext uri="{FF2B5EF4-FFF2-40B4-BE49-F238E27FC236}">
                <a16:creationId xmlns:a16="http://schemas.microsoft.com/office/drawing/2014/main" id="{65AE0E54-91AE-893D-0489-C5809F6BEB82}"/>
              </a:ext>
            </a:extLst>
          </p:cNvPr>
          <p:cNvSpPr txBox="1"/>
          <p:nvPr/>
        </p:nvSpPr>
        <p:spPr>
          <a:xfrm>
            <a:off x="514350" y="514350"/>
            <a:ext cx="6343650" cy="631544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Dataset</a:t>
            </a:r>
          </a:p>
        </p:txBody>
      </p:sp>
      <p:sp>
        <p:nvSpPr>
          <p:cNvPr id="46" name="Text 0">
            <a:extLst>
              <a:ext uri="{FF2B5EF4-FFF2-40B4-BE49-F238E27FC236}">
                <a16:creationId xmlns:a16="http://schemas.microsoft.com/office/drawing/2014/main" id="{45602636-7D7A-CB53-E760-0E8E09DE401B}"/>
              </a:ext>
            </a:extLst>
          </p:cNvPr>
          <p:cNvSpPr/>
          <p:nvPr/>
        </p:nvSpPr>
        <p:spPr>
          <a:xfrm>
            <a:off x="814859" y="132392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타겟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변수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(Y) 및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데이터</a:t>
            </a:r>
            <a:r>
              <a:rPr lang="en-US" altLang="ko-KR" sz="2400" dirty="0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400" dirty="0" err="1">
                <a:solidFill>
                  <a:srgbClr val="1A2744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파이프라인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CFDA115-F354-C074-FE9F-2C97A671B006}"/>
              </a:ext>
            </a:extLst>
          </p:cNvPr>
          <p:cNvSpPr/>
          <p:nvPr/>
        </p:nvSpPr>
        <p:spPr>
          <a:xfrm>
            <a:off x="814859" y="178112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무엇을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예측하고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어떻게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모델에</a:t>
            </a:r>
            <a:r>
              <a:rPr lang="en-US" altLang="ko-KR" sz="1400" dirty="0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1400" dirty="0" err="1">
                <a:solidFill>
                  <a:srgbClr val="475569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들어가는가</a:t>
            </a:r>
            <a:endParaRPr lang="en-US" altLang="ko-KR" sz="1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29" name="그림 128">
            <a:extLst>
              <a:ext uri="{FF2B5EF4-FFF2-40B4-BE49-F238E27FC236}">
                <a16:creationId xmlns:a16="http://schemas.microsoft.com/office/drawing/2014/main" id="{F6A7FAF9-2122-3731-6D8C-EDE45E2F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2249510"/>
            <a:ext cx="9245600" cy="38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32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56560-B365-3C0F-462F-C3F2ED48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087F75-F8E1-CBE6-F072-AC2830CF5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E44D20-17A2-937C-705E-D26BF90209FE}"/>
              </a:ext>
            </a:extLst>
          </p:cNvPr>
          <p:cNvSpPr txBox="1"/>
          <p:nvPr/>
        </p:nvSpPr>
        <p:spPr>
          <a:xfrm>
            <a:off x="791760" y="3217459"/>
            <a:ext cx="5828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BOSCH 100-</a:t>
            </a:r>
            <a:r>
              <a:rPr lang="ko-KR" altLang="en-US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구조를 명시적으로 반영한 </a:t>
            </a:r>
            <a:endParaRPr lang="en-US" altLang="ko-KR" sz="2000" b="1" i="0" dirty="0">
              <a:effectLst/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endParaRPr lang="en-US" altLang="ko-KR" sz="20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sz="2000" b="1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계층적 표현 학습 모델</a:t>
            </a:r>
            <a:endParaRPr lang="ko-KR" altLang="en-US" sz="20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45044-1E35-43F5-42D1-28B6BF22604D}"/>
              </a:ext>
            </a:extLst>
          </p:cNvPr>
          <p:cNvSpPr txBox="1"/>
          <p:nvPr/>
        </p:nvSpPr>
        <p:spPr>
          <a:xfrm>
            <a:off x="514350" y="514350"/>
            <a:ext cx="6343650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Modeling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946DC9F1-44C9-9122-E8D5-5C4E30CEBD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AA442C42-0EEF-0579-90AC-4C641563DF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64F0BE-E930-405B-A7EE-F2B962BA32C1}"/>
              </a:ext>
            </a:extLst>
          </p:cNvPr>
          <p:cNvSpPr txBox="1"/>
          <p:nvPr/>
        </p:nvSpPr>
        <p:spPr>
          <a:xfrm>
            <a:off x="1019791" y="3068850"/>
            <a:ext cx="6604000" cy="130965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3,648 파장 채널 시계열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Process Params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44개 센서 변수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서로 다른 물리량을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함께 입력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382C3DA-6D41-3129-C1CA-696E1BA08845}"/>
              </a:ext>
            </a:extLst>
          </p:cNvPr>
          <p:cNvGrpSpPr/>
          <p:nvPr/>
        </p:nvGrpSpPr>
        <p:grpSpPr>
          <a:xfrm>
            <a:off x="-1133475" y="514350"/>
            <a:ext cx="6501888" cy="7851775"/>
            <a:chOff x="-1133475" y="514350"/>
            <a:chExt cx="6501888" cy="7851775"/>
          </a:xfrm>
        </p:grpSpPr>
        <p:sp>
          <p:nvSpPr>
            <p:cNvPr id="4" name="TextBox 2">
              <a:extLst>
                <a:ext uri="{FF2B5EF4-FFF2-40B4-BE49-F238E27FC236}">
                  <a16:creationId xmlns:a16="http://schemas.microsoft.com/office/drawing/2014/main" id="{C50BF51E-7C67-40BA-18B0-756FDA09A099}"/>
                </a:ext>
              </a:extLst>
            </p:cNvPr>
            <p:cNvSpPr txBox="1"/>
            <p:nvPr/>
          </p:nvSpPr>
          <p:spPr>
            <a:xfrm>
              <a:off x="514350" y="514350"/>
              <a:ext cx="4854063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1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 Input (Multi-Modal)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1C1B76A3-07C4-394D-090A-5D11B1D64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0E8CCAC0-ADF4-AD78-C328-46C9EB9C8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45BC95B-7A5C-EF5E-5FB1-BA04ABCFCF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3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2E656D-2715-45FE-B7C2-A16DF08B40D1}"/>
              </a:ext>
            </a:extLst>
          </p:cNvPr>
          <p:cNvSpPr txBox="1"/>
          <p:nvPr/>
        </p:nvSpPr>
        <p:spPr>
          <a:xfrm>
            <a:off x="1016001" y="2812142"/>
            <a:ext cx="6604000" cy="166872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100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각각을 독립적으로 인코딩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→ PCA + 1D-CNN / Process → MLP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Weight Sharing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모든 사이클에 동일 encoder 적용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사이클 단위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국소 패턴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포착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B5DB49-CDC9-115B-1020-B27520D9270A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0CC5142A-A851-D775-A02F-D80515370DE2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2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Per-Cycle Encoding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377FACB0-4BF8-4CE3-3463-1839FD607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B558577D-C03B-BAB7-F3A6-BD607F6AB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658AE15F-119A-0F78-B00C-08631378D9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5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20772-E1BA-434F-B40C-CE07AC8DEC27}"/>
              </a:ext>
            </a:extLst>
          </p:cNvPr>
          <p:cNvSpPr txBox="1"/>
          <p:nvPr/>
        </p:nvSpPr>
        <p:spPr>
          <a:xfrm>
            <a:off x="649514" y="2980871"/>
            <a:ext cx="6604000" cy="1311449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OES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임베딩 ⊕ Process 임베딩 → Concat + FC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Late Fusion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대비 장점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사이클 내 센서 간 상호작용 학습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사이클별 통합 임베딩 </a:t>
            </a:r>
            <a:r>
              <a:rPr lang="en-US" altLang="ko-KR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e₁, e₂, ..., e₁₀₀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5D0747-5DE9-8545-66E2-4DAC93AB1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434768A5-2402-117C-CBF5-07DB2E31B141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7FF620F6-8B20-7663-A3B7-9EBE8F569C18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3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Early Fusion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E0F457C6-5D4F-97D1-5E28-E0EC9B06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9" name="Picture 11">
              <a:extLst>
                <a:ext uri="{FF2B5EF4-FFF2-40B4-BE49-F238E27FC236}">
                  <a16:creationId xmlns:a16="http://schemas.microsoft.com/office/drawing/2014/main" id="{BEB71018-C977-4F8B-F592-648C44069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4092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95FEF-789F-4796-BC7F-4F95C31BDE02}"/>
              </a:ext>
            </a:extLst>
          </p:cNvPr>
          <p:cNvSpPr txBox="1"/>
          <p:nvPr/>
        </p:nvSpPr>
        <p:spPr>
          <a:xfrm>
            <a:off x="671285" y="2422313"/>
            <a:ext cx="6604000" cy="2349361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Bi-LSTM / Transformer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시퀀스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물리적 근거: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ARDE (Aspect Ratio Dependent Etching)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Chamber conditioning</a:t>
            </a:r>
          </a:p>
          <a:p>
            <a:pPr marL="457200" indent="-228600" algn="l">
              <a:lnSpc>
                <a:spcPts val="2600"/>
              </a:lnSpc>
              <a:buFont typeface="Arial" panose="020B0604020202020204" pitchFamily="34" charset="0"/>
              <a:buChar char="–"/>
            </a:pPr>
            <a:r>
              <a:rPr lang="en-US" altLang="ko-KR" dirty="0">
                <a:solidFill>
                  <a:srgbClr val="555555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Thermal drift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공정 drift 표현하는 </a:t>
            </a:r>
            <a:r>
              <a:rPr lang="en-US" altLang="ko-KR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Wafer Representation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51BC3F-B9B3-C6F6-E0BB-47F64C4C9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A806F22-B0FB-69D3-17C0-60074EBFA1DE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6B395FEE-7180-C9FB-5246-437AFCDC3AAC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Modeling - Stage 4</a:t>
              </a: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：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Temporal Modeling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F549484E-82E9-211E-7490-47CF3811A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601F25A4-6E95-55F0-BEE6-A2509389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842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67B535-0110-424A-9B59-583DE0E4C091}"/>
              </a:ext>
            </a:extLst>
          </p:cNvPr>
          <p:cNvSpPr txBox="1"/>
          <p:nvPr/>
        </p:nvSpPr>
        <p:spPr>
          <a:xfrm>
            <a:off x="870858" y="2870716"/>
            <a:ext cx="6253899" cy="132158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Wafer Representation + (X, Y)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좌표</a:t>
            </a:r>
          </a:p>
          <a:p>
            <a:pPr marL="228600" indent="-2286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Regression Head (MLP) →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si_etch / oxide_etch</a:t>
            </a:r>
          </a:p>
          <a:p>
            <a:pPr algn="l">
              <a:lnSpc>
                <a:spcPts val="2800"/>
              </a:lnSpc>
              <a:spcBef>
                <a:spcPts val="1400"/>
              </a:spcBef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웨이퍼 내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공간 불균일성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예측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67BCCA-2091-D27C-DB39-2A5B38D4D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84"/>
          <a:stretch>
            <a:fillRect/>
          </a:stretch>
        </p:blipFill>
        <p:spPr>
          <a:xfrm>
            <a:off x="7211371" y="194101"/>
            <a:ext cx="4681516" cy="6469797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8283BD3-769B-D58B-F1A4-B35A3D047355}"/>
              </a:ext>
            </a:extLst>
          </p:cNvPr>
          <p:cNvSpPr txBox="1"/>
          <p:nvPr/>
        </p:nvSpPr>
        <p:spPr>
          <a:xfrm>
            <a:off x="514350" y="514350"/>
            <a:ext cx="5129366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>
              <a:lnSpc>
                <a:spcPct val="103749"/>
              </a:lnSpc>
            </a:pPr>
            <a:r>
              <a:rPr lang="en-US" altLang="ko-KR" sz="4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Modeling - Stage 5</a:t>
            </a:r>
            <a:r>
              <a:rPr lang="ko-KR" altLang="en-US" sz="4000" b="1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：</a:t>
            </a:r>
            <a:r>
              <a:rPr lang="en-US" altLang="ko-KR" sz="400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</a:rPr>
              <a:t> Spatial Prediction</a:t>
            </a:r>
            <a:endParaRPr lang="en-US" sz="4000" spc="50" dirty="0">
              <a:solidFill>
                <a:srgbClr val="202A3E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0FB2B1A-4675-F4FF-815A-7758B3A0A8BD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FED21945-E8C0-4C40-E44B-ADFADAA7C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94341D41-99DB-CC04-B8F9-6F5E15B4A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589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5DD8-0BDB-1DEE-A455-06C70BC9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B5267CAB-12DE-B7D1-8809-7F495949C85E}"/>
              </a:ext>
            </a:extLst>
          </p:cNvPr>
          <p:cNvGrpSpPr/>
          <p:nvPr/>
        </p:nvGrpSpPr>
        <p:grpSpPr>
          <a:xfrm>
            <a:off x="3094187" y="736600"/>
            <a:ext cx="6003627" cy="5702995"/>
            <a:chOff x="2987307" y="736600"/>
            <a:chExt cx="6003627" cy="570299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3A6800B-467F-D195-2F5C-EBE9187D2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1" r="8923"/>
            <a:stretch>
              <a:fillRect/>
            </a:stretch>
          </p:blipFill>
          <p:spPr>
            <a:xfrm>
              <a:off x="2987307" y="736600"/>
              <a:ext cx="6003627" cy="512931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4D5C20-189B-493E-B357-66BADF6E08A1}"/>
                </a:ext>
              </a:extLst>
            </p:cNvPr>
            <p:cNvSpPr txBox="1"/>
            <p:nvPr/>
          </p:nvSpPr>
          <p:spPr>
            <a:xfrm>
              <a:off x="3378533" y="6070263"/>
              <a:ext cx="5221174" cy="369332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ctr"/>
              <a:r>
                <a:rPr lang="ko-KR" altLang="en-US" b="1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두 모델의 학습 관점 차이를 활용한 상보적 앙상블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507830-FB26-ACC9-3B1E-55F27A20BE1A}"/>
              </a:ext>
            </a:extLst>
          </p:cNvPr>
          <p:cNvSpPr txBox="1"/>
          <p:nvPr/>
        </p:nvSpPr>
        <p:spPr>
          <a:xfrm>
            <a:off x="514350" y="514350"/>
            <a:ext cx="6343650" cy="596695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Pipeline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6A74C81-13B7-425B-6098-EBC82436ACB5}"/>
              </a:ext>
            </a:extLst>
          </p:cNvPr>
          <p:cNvGrpSpPr/>
          <p:nvPr/>
        </p:nvGrpSpPr>
        <p:grpSpPr>
          <a:xfrm>
            <a:off x="-1133475" y="3406775"/>
            <a:ext cx="5289550" cy="4959350"/>
            <a:chOff x="-1133475" y="3406775"/>
            <a:chExt cx="5289550" cy="4959350"/>
          </a:xfrm>
        </p:grpSpPr>
        <p:pic>
          <p:nvPicPr>
            <p:cNvPr id="10" name="Picture 10">
              <a:extLst>
                <a:ext uri="{FF2B5EF4-FFF2-40B4-BE49-F238E27FC236}">
                  <a16:creationId xmlns:a16="http://schemas.microsoft.com/office/drawing/2014/main" id="{6F96C87A-78D4-9747-E168-6F044F62F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11" name="Picture 11">
              <a:extLst>
                <a:ext uri="{FF2B5EF4-FFF2-40B4-BE49-F238E27FC236}">
                  <a16:creationId xmlns:a16="http://schemas.microsoft.com/office/drawing/2014/main" id="{A60BBE1D-D746-C0CD-22A0-4F07489B7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6897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7C201-9260-4121-B93A-7DAEF8DFB55E}"/>
              </a:ext>
            </a:extLst>
          </p:cNvPr>
          <p:cNvSpPr txBox="1"/>
          <p:nvPr/>
        </p:nvSpPr>
        <p:spPr>
          <a:xfrm>
            <a:off x="655335" y="2694359"/>
            <a:ext cx="6604000" cy="19389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OES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통계 요약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(평균 / 분산 / 피크)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XGBoost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+ (X, Y)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좌표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강점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특징 간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비선형 상호작용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해석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SHAP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분석으로 변수 기여도 파악</a:t>
            </a:r>
            <a:endParaRPr lang="en-US" altLang="ko-KR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정적 </a:t>
            </a:r>
            <a:r>
              <a:rPr lang="en-US" altLang="ko-KR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Feature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관계에 강점</a:t>
            </a:r>
            <a:endParaRPr lang="ko-KR" altLang="en-US" sz="2000" b="1" dirty="0">
              <a:solidFill>
                <a:srgbClr val="15608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" name="Copied Picture 4">
            <a:extLst>
              <a:ext uri="{FF2B5EF4-FFF2-40B4-BE49-F238E27FC236}">
                <a16:creationId xmlns:a16="http://schemas.microsoft.com/office/drawing/2014/main" id="{13A6800B-467F-D195-2F5C-EBE9187D2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B653EFE-8E62-345E-5785-EFDDEECC0134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7EB0C47E-8F1F-1D06-1F0D-4FF531044851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ML Branch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</a:t>
              </a:r>
            </a:p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Baseline (</a:t>
              </a:r>
              <a:r>
                <a:rPr lang="en-US" altLang="ko-KR" sz="4000" dirty="0" err="1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XGBoost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9670A199-A706-64C8-09D9-85B717FA8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229DF7D0-23B7-B80C-C319-DD3C8E0B6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6636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DDF541-C753-4DFE-87A3-EC4D0193FC31}"/>
              </a:ext>
            </a:extLst>
          </p:cNvPr>
          <p:cNvSpPr txBox="1"/>
          <p:nvPr/>
        </p:nvSpPr>
        <p:spPr>
          <a:xfrm>
            <a:off x="682171" y="2737089"/>
            <a:ext cx="5768086" cy="1938992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입력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OES + Process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시계열 그대로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Cycle-Aware CNN + LSTM / Transformer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강점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사이클 간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시간적 변화 패턴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학습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해석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Attention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시각화로 핵심 사이클 추적</a:t>
            </a:r>
            <a:endParaRPr lang="en-US" altLang="ko-KR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rgbClr val="333333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동적 </a:t>
            </a:r>
            <a:r>
              <a:rPr lang="en-US" altLang="ko-KR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Sequence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패턴을 포착하는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모델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50378B0-529E-4A1A-F8EE-B3C26C5722B3}"/>
              </a:ext>
            </a:extLst>
          </p:cNvPr>
          <p:cNvGrpSpPr/>
          <p:nvPr/>
        </p:nvGrpSpPr>
        <p:grpSpPr>
          <a:xfrm>
            <a:off x="-1133475" y="514350"/>
            <a:ext cx="7455617" cy="7851775"/>
            <a:chOff x="-1133475" y="514350"/>
            <a:chExt cx="7455617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982B4A7E-10A9-3417-90C2-38A1269FAB42}"/>
                </a:ext>
              </a:extLst>
            </p:cNvPr>
            <p:cNvSpPr txBox="1"/>
            <p:nvPr/>
          </p:nvSpPr>
          <p:spPr>
            <a:xfrm>
              <a:off x="514349" y="514350"/>
              <a:ext cx="5807793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DL Branch</a:t>
              </a: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: </a:t>
              </a:r>
            </a:p>
            <a:p>
              <a:pPr lvl="0">
                <a:lnSpc>
                  <a:spcPct val="103749"/>
                </a:lnSpc>
              </a:pPr>
              <a:r>
                <a:rPr lang="en-US" altLang="ko-KR" sz="400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Proposed (Cycle-Aware)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4FA12F3E-76DF-C0B8-4129-937F5B7F6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F0800994-590E-AE8E-5643-407CE6695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Copied Picture 4">
            <a:extLst>
              <a:ext uri="{FF2B5EF4-FFF2-40B4-BE49-F238E27FC236}">
                <a16:creationId xmlns:a16="http://schemas.microsoft.com/office/drawing/2014/main" id="{B07A5CC0-0918-9636-2EC7-3315C769B3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72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3375B8-6BEE-43B0-B069-16134DA6FA21}"/>
              </a:ext>
            </a:extLst>
          </p:cNvPr>
          <p:cNvSpPr txBox="1"/>
          <p:nvPr/>
        </p:nvSpPr>
        <p:spPr>
          <a:xfrm>
            <a:off x="624583" y="2447813"/>
            <a:ext cx="6604000" cy="246221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ML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정적 피처 관계에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DL</a:t>
            </a:r>
            <a:r>
              <a:rPr lang="en-US" altLang="ko-KR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동적 시퀀스 패턴에 강함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</a:t>
            </a: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실수하는 지점이 서로 다름</a:t>
            </a:r>
            <a:r>
              <a:rPr lang="ko-KR" altLang="en-US" sz="2000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→ 상보적 결합</a:t>
            </a:r>
          </a:p>
          <a:p>
            <a:pPr algn="l">
              <a:buNone/>
            </a:pPr>
            <a:r>
              <a:rPr lang="ko-KR" altLang="en-US" sz="2000" b="1" dirty="0">
                <a:solidFill>
                  <a:srgbClr val="33333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최종 예측:</a:t>
            </a:r>
          </a:p>
          <a:p>
            <a:pPr algn="l">
              <a:buNone/>
            </a:pP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pred = 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α</a:t>
            </a: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· pred_ML + (1-</a:t>
            </a:r>
            <a:r>
              <a:rPr lang="en-US" altLang="ko-KR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α</a:t>
            </a: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 · </a:t>
            </a:r>
            <a:r>
              <a:rPr lang="en-US" altLang="ko-KR" dirty="0" err="1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pred_DL</a:t>
            </a: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en-US" altLang="ko-KR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Meta learner</a:t>
            </a:r>
            <a:r>
              <a:rPr lang="ko-KR" altLang="en-US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로 </a:t>
            </a:r>
            <a:r>
              <a:rPr lang="ko-KR" altLang="en-US" dirty="0" err="1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스태킹</a:t>
            </a:r>
            <a:r>
              <a:rPr lang="ko-KR" altLang="en-US" dirty="0">
                <a:solidFill>
                  <a:srgbClr val="66666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endParaRPr lang="en-US" altLang="ko-KR" dirty="0">
              <a:solidFill>
                <a:srgbClr val="66666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l">
              <a:buNone/>
            </a:pP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→ 서로 다른 관점의 예측을 </a:t>
            </a:r>
            <a:r>
              <a:rPr lang="ko-KR" altLang="en-US" sz="2000" b="1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결합</a:t>
            </a:r>
            <a:r>
              <a:rPr lang="ko-KR" altLang="en-US" sz="2000" dirty="0">
                <a:solidFill>
                  <a:srgbClr val="15608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하여 정확도 향상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BCA308-6FC9-92A5-D2CF-86397EAB1930}"/>
              </a:ext>
            </a:extLst>
          </p:cNvPr>
          <p:cNvGrpSpPr/>
          <p:nvPr/>
        </p:nvGrpSpPr>
        <p:grpSpPr>
          <a:xfrm>
            <a:off x="-1133475" y="514350"/>
            <a:ext cx="6777191" cy="7851775"/>
            <a:chOff x="-1133475" y="514350"/>
            <a:chExt cx="6777191" cy="7851775"/>
          </a:xfrm>
        </p:grpSpPr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D0956C64-E9D0-94F1-7EAD-8C8A13511DB2}"/>
                </a:ext>
              </a:extLst>
            </p:cNvPr>
            <p:cNvSpPr txBox="1"/>
            <p:nvPr/>
          </p:nvSpPr>
          <p:spPr>
            <a:xfrm>
              <a:off x="514350" y="514350"/>
              <a:ext cx="5129366" cy="59669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Why</a:t>
              </a:r>
              <a:r>
                <a:rPr lang="ko-KR" altLang="en-US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 </a:t>
              </a:r>
              <a:r>
                <a:rPr lang="en-US" altLang="ko-KR" sz="4000" b="1" dirty="0">
                  <a:solidFill>
                    <a:srgbClr val="15608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Ensemble? </a:t>
              </a:r>
              <a:r>
                <a:rPr lang="en-US" altLang="ko-KR" sz="4000" b="1" dirty="0"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:</a:t>
              </a:r>
            </a:p>
            <a:p>
              <a:pPr lvl="0">
                <a:lnSpc>
                  <a:spcPct val="103749"/>
                </a:lnSpc>
              </a:pPr>
              <a:r>
                <a:rPr lang="ko-KR" altLang="en-US" sz="4000" b="1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</a:rPr>
                <a:t>상보적 결합</a:t>
              </a:r>
              <a:endPara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5C0F2C69-ABE9-5B50-4062-6C28C4322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17000"/>
            </a:blip>
            <a:stretch>
              <a:fillRect/>
            </a:stretch>
          </p:blipFill>
          <p:spPr>
            <a:xfrm rot="14249959">
              <a:off x="165100" y="2108200"/>
              <a:ext cx="2520950" cy="51181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FB1BB9EA-A6B8-5549-998B-665B2C0EC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6051549">
              <a:off x="336550" y="4546600"/>
              <a:ext cx="2520950" cy="5118100"/>
            </a:xfrm>
            <a:prstGeom prst="rect">
              <a:avLst/>
            </a:prstGeom>
          </p:spPr>
        </p:pic>
      </p:grpSp>
      <p:pic>
        <p:nvPicPr>
          <p:cNvPr id="9" name="Copied Picture 4">
            <a:extLst>
              <a:ext uri="{FF2B5EF4-FFF2-40B4-BE49-F238E27FC236}">
                <a16:creationId xmlns:a16="http://schemas.microsoft.com/office/drawing/2014/main" id="{AC302A60-EE08-F416-1BE4-C4926E7653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8923"/>
          <a:stretch>
            <a:fillRect/>
          </a:stretch>
        </p:blipFill>
        <p:spPr>
          <a:xfrm>
            <a:off x="6441743" y="787211"/>
            <a:ext cx="5429724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0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FA5D-3090-7E0B-0A53-A2DA10FF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B36C9DF-9B0D-8C2E-ED48-6A8E9656A33A}"/>
              </a:ext>
            </a:extLst>
          </p:cNvPr>
          <p:cNvSpPr txBox="1"/>
          <p:nvPr/>
        </p:nvSpPr>
        <p:spPr>
          <a:xfrm>
            <a:off x="514350" y="514350"/>
            <a:ext cx="4146140" cy="665521"/>
          </a:xfrm>
          <a:prstGeom prst="rect">
            <a:avLst/>
          </a:prstGeom>
        </p:spPr>
        <p:txBody>
          <a:bodyPr lIns="0" tIns="52070" rIns="0" bIns="0" rtlCol="0" anchor="t"/>
          <a:lstStyle/>
          <a:p>
            <a:pPr lvl="0" algn="l">
              <a:lnSpc>
                <a:spcPct val="103749"/>
              </a:lnSpc>
            </a:pPr>
            <a:r>
              <a:rPr lang="en-US" sz="4000" spc="50" dirty="0">
                <a:solidFill>
                  <a:srgbClr val="202A3E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Expected Impact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A536331-8D17-72BE-EB3F-B22959394F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>
            <a:fillRect/>
          </a:stretch>
        </p:blipFill>
        <p:spPr>
          <a:xfrm rot="14249959">
            <a:off x="165100" y="2108200"/>
            <a:ext cx="2520950" cy="51181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7F0D7D1-5C92-36D4-F296-79686BE9A5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6051549">
            <a:off x="336550" y="4546600"/>
            <a:ext cx="2520950" cy="511810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A8889FCD-F161-774E-0160-0375C7761EB5}"/>
              </a:ext>
            </a:extLst>
          </p:cNvPr>
          <p:cNvGrpSpPr/>
          <p:nvPr/>
        </p:nvGrpSpPr>
        <p:grpSpPr>
          <a:xfrm>
            <a:off x="694086" y="1743170"/>
            <a:ext cx="10803829" cy="3798873"/>
            <a:chOff x="694086" y="1586760"/>
            <a:chExt cx="10803829" cy="3798873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4359D35-27BC-1719-AF84-6AD202516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7015" y="1586760"/>
              <a:ext cx="5190900" cy="3798873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DEEC56B-FEDC-17BE-6FC7-C1F51E95A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4086" y="1586760"/>
              <a:ext cx="5190900" cy="3798873"/>
            </a:xfrm>
            <a:prstGeom prst="rect">
              <a:avLst/>
            </a:prstGeom>
          </p:spPr>
        </p:pic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704174BD-96F6-5884-8BC2-A101D0FC8EA5}"/>
                </a:ext>
              </a:extLst>
            </p:cNvPr>
            <p:cNvSpPr txBox="1"/>
            <p:nvPr/>
          </p:nvSpPr>
          <p:spPr>
            <a:xfrm>
              <a:off x="1038364" y="2229181"/>
              <a:ext cx="4502344" cy="665521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 algn="ctr">
                <a:lnSpc>
                  <a:spcPct val="103749"/>
                </a:lnSpc>
              </a:pPr>
              <a:r>
                <a:rPr lang="en-US" sz="3200" spc="5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VM(Virtual Metrology)</a:t>
              </a: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AE96A2E8-2EBB-BDDA-3FE0-C7A259B9EA97}"/>
                </a:ext>
              </a:extLst>
            </p:cNvPr>
            <p:cNvSpPr txBox="1"/>
            <p:nvPr/>
          </p:nvSpPr>
          <p:spPr>
            <a:xfrm>
              <a:off x="6599459" y="2229181"/>
              <a:ext cx="4606012" cy="665521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 algn="ctr">
                <a:lnSpc>
                  <a:spcPct val="103749"/>
                </a:lnSpc>
              </a:pPr>
              <a:r>
                <a:rPr lang="en-US" sz="3200" spc="50" dirty="0">
                  <a:solidFill>
                    <a:srgbClr val="202A3E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Cycle-Aware of BOSCH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69789ECC-BE35-C29F-9135-0DED4DA95C8D}"/>
                </a:ext>
              </a:extLst>
            </p:cNvPr>
            <p:cNvSpPr txBox="1"/>
            <p:nvPr/>
          </p:nvSpPr>
          <p:spPr>
            <a:xfrm>
              <a:off x="944082" y="3387857"/>
              <a:ext cx="4690908" cy="127394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측정 시간 </a:t>
              </a: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/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비용절감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전수 검사 가능성 확대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 모니터링 및 제어 실시간성 향상</a:t>
              </a:r>
              <a:endParaRPr lang="en-US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2" name="TextBox 2">
              <a:extLst>
                <a:ext uri="{FF2B5EF4-FFF2-40B4-BE49-F238E27FC236}">
                  <a16:creationId xmlns:a16="http://schemas.microsoft.com/office/drawing/2014/main" id="{73227161-AF88-F62A-3F0D-A386E7F1851A}"/>
                </a:ext>
              </a:extLst>
            </p:cNvPr>
            <p:cNvSpPr txBox="1"/>
            <p:nvPr/>
          </p:nvSpPr>
          <p:spPr>
            <a:xfrm>
              <a:off x="6557011" y="3387857"/>
              <a:ext cx="4690908" cy="1273945"/>
            </a:xfrm>
            <a:prstGeom prst="rect">
              <a:avLst/>
            </a:prstGeom>
          </p:spPr>
          <p:txBody>
            <a:bodyPr lIns="0" tIns="52070" rIns="0" bIns="0" rtlCol="0" anchor="t"/>
            <a:lstStyle/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BOSCH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공정의 </a:t>
              </a: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Cycle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구조를 반영한 표현 학습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  <a:p>
              <a:pPr lvl="0">
                <a:lnSpc>
                  <a:spcPct val="103749"/>
                </a:lnSpc>
              </a:pPr>
              <a:r>
                <a:rPr lang="en-US" altLang="ko-KR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- </a:t>
              </a:r>
              <a:r>
                <a:rPr lang="ko-KR" altLang="en-US" sz="2400" spc="50" dirty="0">
                  <a:solidFill>
                    <a:srgbClr val="202A3E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더 정교한 예측 가능성</a:t>
              </a:r>
              <a:endParaRPr lang="en-US" altLang="ko-KR" sz="2400" spc="50" dirty="0">
                <a:solidFill>
                  <a:srgbClr val="202A3E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3742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20728903">
            <a:off x="495300" y="-1727200"/>
            <a:ext cx="11423650" cy="646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246973">
            <a:off x="495300" y="1797050"/>
            <a:ext cx="11423650" cy="6464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489200" y="2647950"/>
            <a:ext cx="7213600" cy="1778000"/>
          </a:xfrm>
          <a:prstGeom prst="rect">
            <a:avLst/>
          </a:prstGeom>
        </p:spPr>
        <p:txBody>
          <a:bodyPr lIns="0" tIns="165100" rIns="0" bIns="0" rtlCol="0" anchor="t"/>
          <a:lstStyle/>
          <a:p>
            <a:pPr lvl="0" algn="ctr">
              <a:lnSpc>
                <a:spcPct val="94619"/>
              </a:lnSpc>
            </a:pPr>
            <a:r>
              <a:rPr lang="en-US" sz="10000" dirty="0">
                <a:solidFill>
                  <a:srgbClr val="202A3E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F787AD634E8974FAABB582240919361" ma:contentTypeVersion="5" ma:contentTypeDescription="새 문서를 만듭니다." ma:contentTypeScope="" ma:versionID="1fa8b2931dd5ad3d6ba865f7069cfefe">
  <xsd:schema xmlns:xsd="http://www.w3.org/2001/XMLSchema" xmlns:xs="http://www.w3.org/2001/XMLSchema" xmlns:p="http://schemas.microsoft.com/office/2006/metadata/properties" xmlns:ns3="c3eb8d4a-7777-481c-ac78-29a95a185d1c" targetNamespace="http://schemas.microsoft.com/office/2006/metadata/properties" ma:root="true" ma:fieldsID="f44929429e3522498aed53a9090a96ba" ns3:_="">
    <xsd:import namespace="c3eb8d4a-7777-481c-ac78-29a95a185d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eb8d4a-7777-481c-ac78-29a95a185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0787CD8-1CA6-4A7E-9E33-CF87F87B4A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eb8d4a-7777-481c-ac78-29a95a185d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8D86DD-8A5A-42B5-B777-EE1A170D4A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B072FC-6A9A-4992-90A1-A618702A7127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c3eb8d4a-7777-481c-ac78-29a95a185d1c"/>
    <ds:schemaRef ds:uri="http://www.w3.org/XML/1998/namespace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1947</Words>
  <Application>Microsoft Office PowerPoint</Application>
  <PresentationFormat>와이드스크린</PresentationFormat>
  <Paragraphs>172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Pretendard ExtraBold</vt:lpstr>
      <vt:lpstr>Pretendard SemiBold</vt:lpstr>
      <vt:lpstr>Pretendard Black</vt:lpstr>
      <vt:lpstr>Pretendard Medium</vt:lpstr>
      <vt:lpstr>맑은 고딕</vt:lpstr>
      <vt:lpstr>Arial</vt:lpstr>
      <vt:lpstr>Outfit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박성하</dc:creator>
  <cp:lastModifiedBy>이준서</cp:lastModifiedBy>
  <cp:revision>7</cp:revision>
  <dcterms:created xsi:type="dcterms:W3CDTF">2026-04-14T07:50:13Z</dcterms:created>
  <dcterms:modified xsi:type="dcterms:W3CDTF">2026-04-21T09:15:34Z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0x010100CF787AD634E8974FAABB582240919361</vt:lpwstr>
  </property>
</Properties>
</file>