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9" r:id="rId6"/>
    <p:sldId id="266" r:id="rId7"/>
    <p:sldId id="279" r:id="rId8"/>
    <p:sldId id="303" r:id="rId9"/>
    <p:sldId id="314" r:id="rId10"/>
    <p:sldId id="315" r:id="rId11"/>
    <p:sldId id="316" r:id="rId12"/>
    <p:sldId id="317" r:id="rId13"/>
    <p:sldId id="318" r:id="rId14"/>
    <p:sldId id="319" r:id="rId15"/>
    <p:sldId id="323" r:id="rId16"/>
    <p:sldId id="327" r:id="rId17"/>
    <p:sldId id="331" r:id="rId18"/>
    <p:sldId id="281" r:id="rId19"/>
    <p:sldId id="282" r:id="rId20"/>
    <p:sldId id="27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51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0770F-D728-4439-5857-849780E87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48C55C-DBE0-2167-0934-2C818D198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3F5A8-9B56-B62B-F52A-75AA875F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B520F-3B45-F805-5444-94C9DF9F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47B91-E84F-4036-D7C8-B589A55E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28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FA413-CA51-1F45-8DC7-1A069E1B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DE04EB-3354-B874-EDAC-7F5C28554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C6CD1-CCAC-6CF0-803D-A46284C6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4FA30-864F-3143-4C60-B49554B0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9FF1B-5B18-BB30-86CE-0A61E188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4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097ED-8242-B8A7-11CF-BEF96528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0E531F-9982-414C-B087-99565BBB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68051-F30A-EBC4-FC0B-A4B16EDB4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ACE3F-26B9-64B7-5B5A-060CAE90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F3FC9-C4A4-4751-8FD9-6734BA26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39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5BDA4-50F9-C6DF-3878-F485680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F960A-5A7C-B8F6-BF2D-831814A7C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6D8664-E883-9B69-8CE7-51E474D51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99D0B2-A91B-8EB4-4D04-0F0D4E85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BF03B2-805C-A022-5E6E-9FAA21D7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637862-6269-E72C-371E-8E21DF6B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51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B0197-2B86-2E3E-3045-E44040D5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55DEDE-DA4E-EC1D-502C-DDEC78C3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E724A7-8325-2C1E-E460-E9AABC709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B8B83E-4206-FDEA-EF3E-C4906C9C6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00B246-02DF-911F-0297-1E864F4BD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A44302-559E-7EB0-180F-9E37DB3C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B37CB4-2228-F33B-98E7-93557C3D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94A893-54A4-E994-620B-0E2A6087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42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A3F72-129A-9B71-4536-E5CAACB1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746C75-2D79-F2DE-407F-D86456F4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975E07-29B7-D7D0-47CA-C4798F99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9789EF-7235-4314-B6E5-EBA4D2F3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60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BD7E58-B589-1D5B-13E0-F13D5408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13AF85-3B88-23A8-2875-8B8E2F19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78908-2051-9F07-10D6-3486920F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4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33A7E-D1F6-6693-95F3-429B2FF4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8F3B3-645B-D011-7030-38A5A9ABC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40FD68-0F33-B1F9-76FD-7127C0445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43DD80-619C-47E3-6D7C-68021D7E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6E2BBA-18DD-B277-DFD8-AF44C018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541DD4-AE4F-2DF3-C3F2-B76B08D9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70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FD4C8-D966-6E30-02CC-BB85FF3F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3A96DD-5675-14AC-87FC-C15AF785C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A3F5E6-3D43-3A1B-E4AF-BE8F9E510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7BDB55-9145-D13F-1FB6-E7B07503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D25595-9654-EA95-05EE-DF411A5A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8FE68E-BC32-3AA6-2899-38509C80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83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8362E-5715-0267-C269-9A92C6CA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DCE1E0-D23D-515E-9B3D-A2191ED22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4C5D-63CF-8FE4-6A77-B2A8E762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B6F6C-3749-0D2D-6FB5-DF4D6D91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4F069F-EA39-C960-1E1A-5C36AD22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22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93F588-EB27-9C58-3FA6-C81A5EA25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3FBC81-C1B2-1B27-861E-A32A1C004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8A182-40B9-8569-F491-5602C73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81EA2C-5A40-A95D-2F23-30FE0A38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52508-105F-0632-9445-C2B33F0B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45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249AA1-5582-6BD2-EF1A-654855D8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57EE5-A3EE-86CB-BB68-C735821BD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4E9680-583E-8438-768B-99FB50D15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00FF2-D11E-4552-B7E5-9AF2C6534834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BFDA2-4A40-F78C-8EB8-FBD967AE6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82D46-6B12-525E-5655-135455F76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17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2838450" y="-158750"/>
            <a:ext cx="964565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10483850" y="2298700"/>
            <a:ext cx="2139950" cy="47942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5300" y="1052558"/>
            <a:ext cx="11125200" cy="1784350"/>
          </a:xfrm>
          <a:prstGeom prst="rect">
            <a:avLst/>
          </a:prstGeom>
        </p:spPr>
        <p:txBody>
          <a:bodyPr lIns="0" tIns="114513" rIns="0" bIns="0" rtlCol="0" anchor="t"/>
          <a:lstStyle/>
          <a:p>
            <a:pPr lvl="0">
              <a:lnSpc>
                <a:spcPct val="95449"/>
              </a:lnSpc>
            </a:pPr>
            <a:r>
              <a:rPr lang="ko-KR" altLang="en-US" sz="5750" spc="50" dirty="0">
                <a:solidFill>
                  <a:srgbClr val="202A3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광학방출 스펙트럼 및 공정 데이터 기반 반도체 공정 가상 계측 모델</a:t>
            </a:r>
            <a:endParaRPr lang="en-US" sz="5750" spc="50" dirty="0">
              <a:solidFill>
                <a:srgbClr val="202A3E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rot="8785357">
            <a:off x="9531350" y="2101850"/>
            <a:ext cx="1333500" cy="356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2000"/>
          </a:blip>
          <a:stretch>
            <a:fillRect/>
          </a:stretch>
        </p:blipFill>
        <p:spPr>
          <a:xfrm rot="7657234">
            <a:off x="8102600" y="2616200"/>
            <a:ext cx="2000250" cy="356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6669180">
            <a:off x="6369050" y="4051300"/>
            <a:ext cx="914400" cy="339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9000"/>
          </a:blip>
          <a:stretch>
            <a:fillRect/>
          </a:stretch>
        </p:blipFill>
        <p:spPr>
          <a:xfrm rot="14083532">
            <a:off x="9112250" y="1136650"/>
            <a:ext cx="2743200" cy="19621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49000"/>
          </a:blip>
          <a:stretch>
            <a:fillRect/>
          </a:stretch>
        </p:blipFill>
        <p:spPr>
          <a:xfrm rot="4929301">
            <a:off x="5778500" y="5721350"/>
            <a:ext cx="2743200" cy="19621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5300" y="2927350"/>
            <a:ext cx="369570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종합설계프로젝트 </a:t>
            </a:r>
            <a:r>
              <a:rPr lang="en-US" altLang="ko-KR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6</a:t>
            </a: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조</a:t>
            </a:r>
            <a:endParaRPr lang="en-US" sz="300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250" y="514350"/>
            <a:ext cx="6000750" cy="12255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5124450"/>
            <a:ext cx="6026150" cy="12255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250" y="2051050"/>
            <a:ext cx="6000750" cy="12255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250" y="3587750"/>
            <a:ext cx="6000750" cy="12255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372350" y="844550"/>
            <a:ext cx="262255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3200">
                <a:solidFill>
                  <a:srgbClr val="202A3E"/>
                </a:solidFill>
                <a:latin typeface="Outfit Regular"/>
                <a:ea typeface="Outfit Regular"/>
                <a:cs typeface="Outfit Regular"/>
              </a:rPr>
              <a:t>Early ideas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37450" y="2355850"/>
            <a:ext cx="229235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3200">
                <a:solidFill>
                  <a:srgbClr val="202A3E"/>
                </a:solidFill>
                <a:latin typeface="Outfit Regular"/>
                <a:ea typeface="Outfit Regular"/>
                <a:cs typeface="Outfit Regular"/>
              </a:rPr>
              <a:t>Feedback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19950" y="3917950"/>
            <a:ext cx="292100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3200">
                <a:solidFill>
                  <a:srgbClr val="202A3E"/>
                </a:solidFill>
                <a:latin typeface="Outfit Regular"/>
                <a:ea typeface="Outfit Regular"/>
                <a:cs typeface="Outfit Regular"/>
              </a:rPr>
              <a:t>Refinements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7450" y="5454650"/>
            <a:ext cx="229235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3200">
                <a:solidFill>
                  <a:srgbClr val="202A3E"/>
                </a:solidFill>
                <a:latin typeface="Outfit Regular"/>
                <a:ea typeface="Outfit Regular"/>
                <a:cs typeface="Outfit Regular"/>
              </a:rPr>
              <a:t>Outcome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43550" y="939800"/>
            <a:ext cx="381000" cy="381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43550" y="2476500"/>
            <a:ext cx="381000" cy="38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43550" y="4013200"/>
            <a:ext cx="381000" cy="38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5543550" y="5549900"/>
            <a:ext cx="381000" cy="381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7" name="TextBox 2">
            <a:extLst>
              <a:ext uri="{FF2B5EF4-FFF2-40B4-BE49-F238E27FC236}">
                <a16:creationId xmlns:a16="http://schemas.microsoft.com/office/drawing/2014/main" id="{FA8BCBA1-E452-0993-CAC3-8E8A8412FBC2}"/>
              </a:ext>
            </a:extLst>
          </p:cNvPr>
          <p:cNvSpPr txBox="1"/>
          <p:nvPr/>
        </p:nvSpPr>
        <p:spPr>
          <a:xfrm>
            <a:off x="514350" y="514350"/>
            <a:ext cx="320040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8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8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4200-1213-674A-240B-92267184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F729180-39D1-BCB1-8419-21DE2F7F2254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8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1DA838BF-450B-E027-CE80-E39504BB26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6F8D9AA-B744-E161-53C9-92884C70A4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5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6560-B365-3C0F-462F-C3F2ED48F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489DA3F-6BEC-4B1F-AC3B-F8BBE39E4DFB}"/>
              </a:ext>
            </a:extLst>
          </p:cNvPr>
          <p:cNvSpPr txBox="1"/>
          <p:nvPr/>
        </p:nvSpPr>
        <p:spPr>
          <a:xfrm>
            <a:off x="381000" y="101600"/>
            <a:ext cx="3810000" cy="63500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0000"/>
              </a:lnSpc>
            </a:pPr>
            <a:r>
              <a:rPr lang="en-US" sz="48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Modeling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087F75-F8E1-CBE6-F072-AC2830CF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E44D20-17A2-937C-705E-D26BF90209FE}"/>
              </a:ext>
            </a:extLst>
          </p:cNvPr>
          <p:cNvSpPr txBox="1"/>
          <p:nvPr/>
        </p:nvSpPr>
        <p:spPr>
          <a:xfrm>
            <a:off x="791760" y="3217459"/>
            <a:ext cx="58287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 dirty="0">
                <a:effectLst/>
                <a:latin typeface="-apple-system"/>
              </a:rPr>
              <a:t>BOSCH 100-</a:t>
            </a:r>
            <a:r>
              <a:rPr lang="ko-KR" altLang="en-US" sz="2000" b="1" i="0" dirty="0">
                <a:effectLst/>
                <a:latin typeface="-apple-system"/>
              </a:rPr>
              <a:t>사이클 구조를 명시적으로 반영한 </a:t>
            </a:r>
            <a:endParaRPr lang="en-US" altLang="ko-KR" sz="2000" b="1" i="0" dirty="0">
              <a:effectLst/>
              <a:latin typeface="-apple-system"/>
            </a:endParaRPr>
          </a:p>
          <a:p>
            <a:pPr algn="ctr"/>
            <a:endParaRPr lang="en-US" altLang="ko-KR" sz="2000" b="1" dirty="0">
              <a:latin typeface="-apple-system"/>
            </a:endParaRPr>
          </a:p>
          <a:p>
            <a:pPr algn="ctr"/>
            <a:r>
              <a:rPr lang="ko-KR" altLang="en-US" sz="2000" b="1" i="0" dirty="0">
                <a:effectLst/>
                <a:latin typeface="-apple-system"/>
              </a:rPr>
              <a:t>계층적 표현 학습 모델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754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C9D28-FCD0-4237-579C-288A531D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6604000" cy="698500"/>
          </a:xfrm>
        </p:spPr>
        <p:txBody>
          <a:bodyPr/>
          <a:lstStyle/>
          <a:p>
            <a:pPr algn="l">
              <a:buNone/>
            </a:pPr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Modeling - Stage 1</a:t>
            </a:r>
            <a:r>
              <a:rPr lang="en-US" altLang="ko-KR" sz="24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: Input (Multi-Modal)</a:t>
            </a:r>
          </a:p>
        </p:txBody>
      </p:sp>
      <p:pic>
        <p:nvPicPr>
          <p:cNvPr id="3" name="Copied Picture 3">
            <a:extLst>
              <a:ext uri="{FF2B5EF4-FFF2-40B4-BE49-F238E27FC236}">
                <a16:creationId xmlns:a16="http://schemas.microsoft.com/office/drawing/2014/main" id="{55087F75-F8E1-CBE6-F072-AC2830CF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492621" y="269734"/>
            <a:ext cx="4569915" cy="63185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64F0BE-E930-405B-A7EE-F2B962BA32C1}"/>
              </a:ext>
            </a:extLst>
          </p:cNvPr>
          <p:cNvSpPr txBox="1"/>
          <p:nvPr/>
        </p:nvSpPr>
        <p:spPr>
          <a:xfrm>
            <a:off x="1019791" y="3068850"/>
            <a:ext cx="6604000" cy="13096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OES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3,648 파장 채널 시계열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Process Params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44개 센서 변수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→ 서로 다른 물리량을 </a:t>
            </a:r>
            <a:r>
              <a:rPr lang="ko-KR" altLang="en-US" sz="18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함께 입력</a:t>
            </a:r>
          </a:p>
        </p:txBody>
      </p:sp>
    </p:spTree>
    <p:extLst>
      <p:ext uri="{BB962C8B-B14F-4D97-AF65-F5344CB8AC3E}">
        <p14:creationId xmlns:p14="http://schemas.microsoft.com/office/powerpoint/2010/main" val="1509032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6C2DD-DF9C-6946-D93F-EC4FBCE69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6604000" cy="698500"/>
          </a:xfrm>
        </p:spPr>
        <p:txBody>
          <a:bodyPr/>
          <a:lstStyle/>
          <a:p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Modeling - Stage 2</a:t>
            </a:r>
            <a:r>
              <a:rPr lang="en-US" altLang="ko-KR" sz="24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— Per-Cycle Encoding</a:t>
            </a:r>
          </a:p>
        </p:txBody>
      </p:sp>
      <p:pic>
        <p:nvPicPr>
          <p:cNvPr id="3" name="Copied Picture 3">
            <a:extLst>
              <a:ext uri="{FF2B5EF4-FFF2-40B4-BE49-F238E27FC236}">
                <a16:creationId xmlns:a16="http://schemas.microsoft.com/office/drawing/2014/main" id="{55087F75-F8E1-CBE6-F072-AC2830CF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429500" y="127000"/>
            <a:ext cx="4546600" cy="62862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2E656D-2715-45FE-B7C2-A16DF08B40D1}"/>
              </a:ext>
            </a:extLst>
          </p:cNvPr>
          <p:cNvSpPr txBox="1"/>
          <p:nvPr/>
        </p:nvSpPr>
        <p:spPr>
          <a:xfrm>
            <a:off x="1016001" y="2812142"/>
            <a:ext cx="6604000" cy="166872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100 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사이클 각각을 독립적으로 인코딩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OES → PCA + 1D-CNN / Process → MLP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Weight Sharing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모든 사이클에 동일 encoder 적용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→ 사이클 단위 </a:t>
            </a:r>
            <a:r>
              <a:rPr lang="ko-KR" altLang="en-US" sz="18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국소 패턴</a:t>
            </a: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포착</a:t>
            </a:r>
          </a:p>
        </p:txBody>
      </p:sp>
    </p:spTree>
    <p:extLst>
      <p:ext uri="{BB962C8B-B14F-4D97-AF65-F5344CB8AC3E}">
        <p14:creationId xmlns:p14="http://schemas.microsoft.com/office/powerpoint/2010/main" val="362875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87F79-9A29-899D-4F9F-3BF71D09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6604000" cy="698500"/>
          </a:xfrm>
        </p:spPr>
        <p:txBody>
          <a:bodyPr/>
          <a:lstStyle/>
          <a:p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Modeling - Stage 3</a:t>
            </a:r>
            <a:r>
              <a:rPr lang="en-US" altLang="ko-KR" sz="24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— Early Fusion</a:t>
            </a:r>
          </a:p>
        </p:txBody>
      </p:sp>
      <p:pic>
        <p:nvPicPr>
          <p:cNvPr id="3" name="Copied Picture 3">
            <a:extLst>
              <a:ext uri="{FF2B5EF4-FFF2-40B4-BE49-F238E27FC236}">
                <a16:creationId xmlns:a16="http://schemas.microsoft.com/office/drawing/2014/main" id="{55087F75-F8E1-CBE6-F072-AC2830CF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342414" y="192313"/>
            <a:ext cx="4617357" cy="63841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820772-E1BA-434F-B40C-CE07AC8DEC27}"/>
              </a:ext>
            </a:extLst>
          </p:cNvPr>
          <p:cNvSpPr txBox="1"/>
          <p:nvPr/>
        </p:nvSpPr>
        <p:spPr>
          <a:xfrm>
            <a:off x="649514" y="2980871"/>
            <a:ext cx="6604000" cy="131144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OES 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임베딩 ⊕ Process 임베딩 → Concat + FC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Late Fusion </a:t>
            </a: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대비 장점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사이클 내 센서 간 상호작용 학습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→ 사이클별 통합 임베딩 </a:t>
            </a:r>
            <a:r>
              <a:rPr lang="en-US" altLang="ko-KR" sz="18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e₁, e₂, ..., e₁₀₀</a:t>
            </a:r>
          </a:p>
        </p:txBody>
      </p:sp>
    </p:spTree>
    <p:extLst>
      <p:ext uri="{BB962C8B-B14F-4D97-AF65-F5344CB8AC3E}">
        <p14:creationId xmlns:p14="http://schemas.microsoft.com/office/powerpoint/2010/main" val="200409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DFE93-5800-E554-ECB2-CB0A7A4E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6604000" cy="698500"/>
          </a:xfrm>
        </p:spPr>
        <p:txBody>
          <a:bodyPr/>
          <a:lstStyle/>
          <a:p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Modeling - Stage 4</a:t>
            </a:r>
            <a:r>
              <a:rPr lang="en-US" altLang="ko-KR" sz="24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— Temporal Modeling</a:t>
            </a:r>
          </a:p>
        </p:txBody>
      </p:sp>
      <p:pic>
        <p:nvPicPr>
          <p:cNvPr id="3" name="Copied Picture 3">
            <a:extLst>
              <a:ext uri="{FF2B5EF4-FFF2-40B4-BE49-F238E27FC236}">
                <a16:creationId xmlns:a16="http://schemas.microsoft.com/office/drawing/2014/main" id="{55087F75-F8E1-CBE6-F072-AC2830CF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395235" y="214085"/>
            <a:ext cx="4580865" cy="63336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F95FEF-789F-4796-BC7F-4F95C31BDE02}"/>
              </a:ext>
            </a:extLst>
          </p:cNvPr>
          <p:cNvSpPr txBox="1"/>
          <p:nvPr/>
        </p:nvSpPr>
        <p:spPr>
          <a:xfrm>
            <a:off x="671285" y="2442029"/>
            <a:ext cx="6604000" cy="230992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Bi-LSTM / Transformer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로 </a:t>
            </a: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사이클 시퀀스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학습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물리적 근거: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sz="16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ARDE (Aspect Ratio Dependent Etching)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sz="16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Chamber conditioning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sz="16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Thermal drift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→ 공정 drift 표현하는 </a:t>
            </a:r>
            <a:r>
              <a:rPr lang="en-US" altLang="ko-KR" sz="18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Wafer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708428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24F462-5F93-1C6B-46BA-536A1652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6604000" cy="698500"/>
          </a:xfrm>
        </p:spPr>
        <p:txBody>
          <a:bodyPr/>
          <a:lstStyle/>
          <a:p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Modeling - Stage 5</a:t>
            </a:r>
            <a:r>
              <a:rPr lang="en-US" altLang="ko-KR" sz="24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— Spatial Prediction</a:t>
            </a:r>
          </a:p>
        </p:txBody>
      </p:sp>
      <p:pic>
        <p:nvPicPr>
          <p:cNvPr id="3" name="Copied Picture 3">
            <a:extLst>
              <a:ext uri="{FF2B5EF4-FFF2-40B4-BE49-F238E27FC236}">
                <a16:creationId xmlns:a16="http://schemas.microsoft.com/office/drawing/2014/main" id="{55087F75-F8E1-CBE6-F072-AC2830CF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434943" y="110671"/>
            <a:ext cx="4568371" cy="6316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67B535-0110-424A-9B59-583DE0E4C091}"/>
              </a:ext>
            </a:extLst>
          </p:cNvPr>
          <p:cNvSpPr txBox="1"/>
          <p:nvPr/>
        </p:nvSpPr>
        <p:spPr>
          <a:xfrm>
            <a:off x="870858" y="2876679"/>
            <a:ext cx="5840185" cy="13096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Wafer Representation + (X, Y) 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좌표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Regression Head (MLP) → </a:t>
            </a: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si_etch / oxide_etch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→ 웨이퍼 내 </a:t>
            </a:r>
            <a:r>
              <a:rPr lang="ko-KR" altLang="en-US" sz="18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공간 불균일성</a:t>
            </a: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예측</a:t>
            </a:r>
          </a:p>
        </p:txBody>
      </p:sp>
    </p:spTree>
    <p:extLst>
      <p:ext uri="{BB962C8B-B14F-4D97-AF65-F5344CB8AC3E}">
        <p14:creationId xmlns:p14="http://schemas.microsoft.com/office/powerpoint/2010/main" val="3628589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5DD8-0BDB-1DEE-A455-06C70BC9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A61448-5403-82FC-8819-EB558BA841BA}"/>
              </a:ext>
            </a:extLst>
          </p:cNvPr>
          <p:cNvSpPr txBox="1"/>
          <p:nvPr/>
        </p:nvSpPr>
        <p:spPr>
          <a:xfrm>
            <a:off x="381000" y="101600"/>
            <a:ext cx="3810000" cy="63500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0000"/>
              </a:lnSpc>
            </a:pPr>
            <a:r>
              <a:rPr lang="en-US" sz="48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A6800B-467F-D195-2F5C-EBE9187D2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2987307" y="736600"/>
            <a:ext cx="6003627" cy="51293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4D5C20-189B-493E-B357-66BADF6E08A1}"/>
              </a:ext>
            </a:extLst>
          </p:cNvPr>
          <p:cNvSpPr txBox="1"/>
          <p:nvPr/>
        </p:nvSpPr>
        <p:spPr>
          <a:xfrm>
            <a:off x="3254232" y="6070263"/>
            <a:ext cx="889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 dirty="0"/>
              <a:t>두 모델의 학습 관점 차이를 활용한 상보적 앙상블</a:t>
            </a:r>
          </a:p>
        </p:txBody>
      </p:sp>
    </p:spTree>
    <p:extLst>
      <p:ext uri="{BB962C8B-B14F-4D97-AF65-F5344CB8AC3E}">
        <p14:creationId xmlns:p14="http://schemas.microsoft.com/office/powerpoint/2010/main" val="3976897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DD73C-E3A7-ACAE-A87F-961FAB2D6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6604000" cy="698500"/>
          </a:xfrm>
        </p:spPr>
        <p:txBody>
          <a:bodyPr/>
          <a:lstStyle/>
          <a:p>
            <a:pPr algn="l">
              <a:buNone/>
            </a:pPr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ML Branch</a:t>
            </a:r>
            <a:r>
              <a:rPr lang="en-US" altLang="ko-KR" sz="2400" b="1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— Baseline (</a:t>
            </a:r>
            <a:r>
              <a:rPr lang="en-US" altLang="ko-KR" sz="2400" b="1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XGBoost</a:t>
            </a:r>
            <a:r>
              <a:rPr lang="en-US" altLang="ko-KR" sz="2400" b="1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7C201-9260-4121-B93A-7DAEF8DFB55E}"/>
              </a:ext>
            </a:extLst>
          </p:cNvPr>
          <p:cNvSpPr txBox="1"/>
          <p:nvPr/>
        </p:nvSpPr>
        <p:spPr>
          <a:xfrm>
            <a:off x="763490" y="2925191"/>
            <a:ext cx="6604000" cy="147732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입력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OES </a:t>
            </a: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통계 요약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(평균 / 분산 / 피크)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모델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XGBoost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+ (X, Y) 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좌표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강점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특징 간 </a:t>
            </a: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비선형 상호작용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학습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해석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SHAP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분석으로 변수 기여도 파악</a:t>
            </a:r>
          </a:p>
          <a:p>
            <a:pPr algn="l">
              <a:buNone/>
            </a:pP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→ 정적 </a:t>
            </a:r>
            <a:r>
              <a:rPr lang="en-US" altLang="ko-KR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Feature</a:t>
            </a: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관계에 강점</a:t>
            </a:r>
            <a:endParaRPr lang="ko-KR" altLang="en-US" sz="1800" b="1" dirty="0">
              <a:solidFill>
                <a:srgbClr val="156082"/>
              </a:solidFill>
              <a:latin typeface="Pretendard SemiBold" panose="02000703000000020004" pitchFamily="50" charset="-127"/>
              <a:ea typeface="Pretendard SemiBold" panose="02000703000000020004" pitchFamily="50" charset="-127"/>
            </a:endParaRPr>
          </a:p>
        </p:txBody>
      </p:sp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13A6800B-467F-D195-2F5C-EBE9187D2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441743" y="787211"/>
            <a:ext cx="5429724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62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CE795-3554-B408-2C93-8BED0B4F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6604000" cy="698500"/>
          </a:xfrm>
        </p:spPr>
        <p:txBody>
          <a:bodyPr/>
          <a:lstStyle/>
          <a:p>
            <a:pPr algn="l">
              <a:buNone/>
            </a:pPr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DL Branch</a:t>
            </a:r>
            <a:r>
              <a:rPr lang="en-US" altLang="ko-KR" sz="2400" b="1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— Proposed (Cycle-Aware)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DF541-C753-4DFE-87A3-EC4D0193FC31}"/>
              </a:ext>
            </a:extLst>
          </p:cNvPr>
          <p:cNvSpPr txBox="1"/>
          <p:nvPr/>
        </p:nvSpPr>
        <p:spPr>
          <a:xfrm>
            <a:off x="682171" y="2967921"/>
            <a:ext cx="5555343" cy="147732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입력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OES + Process </a:t>
            </a: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시계열 그대로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모델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Cycle-Aware CNN + LSTM / Transformer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강점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사이클 간 </a:t>
            </a: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시간적 변화 패턴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학습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해석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Attention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시각화로 핵심 사이클 추적</a:t>
            </a:r>
          </a:p>
          <a:p>
            <a:pPr algn="l">
              <a:buNone/>
            </a:pP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→ 동적 </a:t>
            </a:r>
            <a:r>
              <a:rPr lang="en-US" altLang="ko-KR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Sequence</a:t>
            </a: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패턴을 포착하는 </a:t>
            </a:r>
            <a:r>
              <a:rPr lang="ko-KR" altLang="en-US" sz="18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모델</a:t>
            </a:r>
          </a:p>
        </p:txBody>
      </p:sp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13A6800B-467F-D195-2F5C-EBE9187D2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536871" y="872671"/>
            <a:ext cx="5395687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7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56082-83CF-DBE3-F5B6-7ED696B1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81000"/>
            <a:ext cx="6604000" cy="698500"/>
          </a:xfrm>
        </p:spPr>
        <p:txBody>
          <a:bodyPr/>
          <a:lstStyle/>
          <a:p>
            <a:pPr algn="l">
              <a:buNone/>
            </a:pPr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Why</a:t>
            </a:r>
            <a:r>
              <a:rPr lang="ko-KR" altLang="en-US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</a:t>
            </a:r>
            <a:r>
              <a:rPr lang="en-US" altLang="ko-KR" sz="24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Ensemble? </a:t>
            </a:r>
            <a:r>
              <a:rPr lang="en-US" altLang="ko-KR" sz="2400" b="1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— </a:t>
            </a:r>
            <a:r>
              <a:rPr lang="ko-KR" altLang="en-US" sz="2400" b="1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상보적 결합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375B8-6BEE-43B0-B069-16134DA6FA21}"/>
              </a:ext>
            </a:extLst>
          </p:cNvPr>
          <p:cNvSpPr txBox="1"/>
          <p:nvPr/>
        </p:nvSpPr>
        <p:spPr>
          <a:xfrm>
            <a:off x="595086" y="2570922"/>
            <a:ext cx="6604000" cy="2215991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ML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정적 피처 관계에 강함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DL</a:t>
            </a:r>
            <a:r>
              <a:rPr lang="en-US" altLang="ko-KR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동적 시퀀스 패턴에 강함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 </a:t>
            </a: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실수하는 지점이 서로 다름</a:t>
            </a:r>
            <a:r>
              <a:rPr lang="ko-KR" altLang="en-US" sz="180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→ 상보적 결합</a:t>
            </a:r>
          </a:p>
          <a:p>
            <a:pPr algn="l">
              <a:buNone/>
            </a:pPr>
            <a:r>
              <a:rPr lang="ko-KR" altLang="en-US" sz="18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최종 예측:</a:t>
            </a:r>
          </a:p>
          <a:p>
            <a:pPr algn="l">
              <a:buNone/>
            </a:pPr>
            <a:r>
              <a:rPr lang="en-US" altLang="ko-KR" sz="1600" dirty="0">
                <a:solidFill>
                  <a:srgbClr val="666666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1. pred = </a:t>
            </a:r>
            <a:r>
              <a:rPr lang="en-US" altLang="ko-KR" sz="1600" dirty="0">
                <a:solidFill>
                  <a:srgbClr val="156082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α</a:t>
            </a:r>
            <a:r>
              <a:rPr lang="en-US" altLang="ko-KR" sz="1600" dirty="0">
                <a:solidFill>
                  <a:srgbClr val="666666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 · pred_ML + (1-</a:t>
            </a:r>
            <a:r>
              <a:rPr lang="en-US" altLang="ko-KR" sz="1600" dirty="0">
                <a:solidFill>
                  <a:srgbClr val="156082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α</a:t>
            </a:r>
            <a:r>
              <a:rPr lang="en-US" altLang="ko-KR" sz="1600" dirty="0">
                <a:solidFill>
                  <a:srgbClr val="666666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) · </a:t>
            </a:r>
            <a:r>
              <a:rPr lang="en-US" altLang="ko-KR" sz="1600" dirty="0" err="1">
                <a:solidFill>
                  <a:srgbClr val="666666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pred_DL</a:t>
            </a:r>
            <a:endParaRPr lang="en-US" altLang="ko-KR" sz="1600" dirty="0">
              <a:solidFill>
                <a:srgbClr val="666666"/>
              </a:solidFill>
              <a:latin typeface="Courier New" panose="02070309020205020404" pitchFamily="49" charset="0"/>
              <a:ea typeface="Pretendard" panose="02000503000000020004" pitchFamily="50" charset="-127"/>
            </a:endParaRPr>
          </a:p>
          <a:p>
            <a:pPr algn="l">
              <a:buNone/>
            </a:pPr>
            <a:r>
              <a:rPr lang="en-US" altLang="ko-KR" sz="1600" dirty="0">
                <a:solidFill>
                  <a:srgbClr val="666666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2. Meta learner</a:t>
            </a:r>
            <a:r>
              <a:rPr lang="ko-KR" altLang="en-US" sz="1600" dirty="0">
                <a:solidFill>
                  <a:srgbClr val="666666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로 </a:t>
            </a:r>
            <a:r>
              <a:rPr lang="ko-KR" altLang="en-US" sz="1600" dirty="0" err="1">
                <a:solidFill>
                  <a:srgbClr val="666666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스태킹</a:t>
            </a:r>
            <a:r>
              <a:rPr lang="ko-KR" altLang="en-US" sz="1600" dirty="0">
                <a:solidFill>
                  <a:srgbClr val="666666"/>
                </a:solidFill>
                <a:latin typeface="Courier New" panose="02070309020205020404" pitchFamily="49" charset="0"/>
                <a:ea typeface="Pretendard" panose="02000503000000020004" pitchFamily="50" charset="-127"/>
              </a:rPr>
              <a:t> </a:t>
            </a:r>
            <a:endParaRPr lang="en-US" altLang="ko-KR" sz="1600" dirty="0">
              <a:solidFill>
                <a:srgbClr val="666666"/>
              </a:solidFill>
              <a:latin typeface="Courier New" panose="02070309020205020404" pitchFamily="49" charset="0"/>
              <a:ea typeface="Pretendard" panose="02000503000000020004" pitchFamily="50" charset="-127"/>
            </a:endParaRPr>
          </a:p>
          <a:p>
            <a:pPr algn="l">
              <a:buNone/>
            </a:pPr>
            <a:endParaRPr lang="en-US" altLang="ko-KR" sz="1600" dirty="0">
              <a:solidFill>
                <a:srgbClr val="666666"/>
              </a:solidFill>
              <a:latin typeface="Courier New" panose="02070309020205020404" pitchFamily="49" charset="0"/>
              <a:ea typeface="Pretendard" panose="02000503000000020004" pitchFamily="50" charset="-127"/>
            </a:endParaRPr>
          </a:p>
          <a:p>
            <a:pPr algn="l">
              <a:buNone/>
            </a:pP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→ 서로 다른 관점의 예측을 </a:t>
            </a:r>
            <a:r>
              <a:rPr lang="ko-KR" altLang="en-US" sz="18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결합</a:t>
            </a:r>
            <a:r>
              <a:rPr lang="ko-KR" altLang="en-US" sz="18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하여 정확도 향상</a:t>
            </a:r>
          </a:p>
        </p:txBody>
      </p:sp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13A6800B-467F-D195-2F5C-EBE9187D2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569528" y="817336"/>
            <a:ext cx="5297715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0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5FA5D-3090-7E0B-0A53-A2DA10FF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36C9DF-9B0D-8C2E-ED48-6A8E9656A33A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8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Expected Impact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9A536331-8D17-72BE-EB3F-B2295939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7F0D7D1-5C92-36D4-F296-79686BE9A5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42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C390-CE3A-37B5-5573-9AED8796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89CF8DA-950E-9CFE-1899-EBFE2BB96C65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8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Summary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6B5A03C9-1B86-FD75-BC25-D2E7462FBA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049238E-03A1-1B46-EF2F-94AA8E7063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77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20728903">
            <a:off x="495300" y="-1727200"/>
            <a:ext cx="11423650" cy="646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246973">
            <a:off x="495300" y="1797050"/>
            <a:ext cx="11423650" cy="646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89200" y="2647950"/>
            <a:ext cx="7213600" cy="1778000"/>
          </a:xfrm>
          <a:prstGeom prst="rect">
            <a:avLst/>
          </a:prstGeom>
        </p:spPr>
        <p:txBody>
          <a:bodyPr lIns="0" tIns="165100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10000" dirty="0">
                <a:solidFill>
                  <a:srgbClr val="202A3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1FC024-0DEC-4850-A61E-A145937224B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33be8ad-226e-4b53-968f-58f34e4a81c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F787AD634E8974FAABB582240919361" ma:contentTypeVersion="5" ma:contentTypeDescription="새 문서를 만듭니다." ma:contentTypeScope="" ma:versionID="1fa8b2931dd5ad3d6ba865f7069cfefe">
  <xsd:schema xmlns:xsd="http://www.w3.org/2001/XMLSchema" xmlns:xs="http://www.w3.org/2001/XMLSchema" xmlns:p="http://schemas.microsoft.com/office/2006/metadata/properties" xmlns:ns3="c3eb8d4a-7777-481c-ac78-29a95a185d1c" targetNamespace="http://schemas.microsoft.com/office/2006/metadata/properties" ma:root="true" ma:fieldsID="f44929429e3522498aed53a9090a96ba" ns3:_="">
    <xsd:import namespace="c3eb8d4a-7777-481c-ac78-29a95a185d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eb8d4a-7777-481c-ac78-29a95a185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B072FC-6A9A-4992-90A1-A618702A7127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c3eb8d4a-7777-481c-ac78-29a95a185d1c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68D86DD-8A5A-42B5-B777-EE1A170D4A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787CD8-1CA6-4A7E-9E33-CF87F87B4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eb8d4a-7777-481c-ac78-29a95a185d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370</Words>
  <Application>Microsoft Office PowerPoint</Application>
  <PresentationFormat>와이드스크린</PresentationFormat>
  <Paragraphs>63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-apple-system</vt:lpstr>
      <vt:lpstr>Outfit Regular</vt:lpstr>
      <vt:lpstr>Pretendard</vt:lpstr>
      <vt:lpstr>Pretendard ExtraBold</vt:lpstr>
      <vt:lpstr>Pretendard SemiBold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Modeling - Stage 1 : Input (Multi-Modal)</vt:lpstr>
      <vt:lpstr>Modeling - Stage 2 — Per-Cycle Encoding</vt:lpstr>
      <vt:lpstr>Modeling - Stage 3 — Early Fusion</vt:lpstr>
      <vt:lpstr>Modeling - Stage 4 — Temporal Modeling</vt:lpstr>
      <vt:lpstr>Modeling - Stage 5 — Spatial Prediction</vt:lpstr>
      <vt:lpstr>PowerPoint 프레젠테이션</vt:lpstr>
      <vt:lpstr>ML Branch — Baseline (XGBoost)</vt:lpstr>
      <vt:lpstr>DL Branch — Proposed (Cycle-Aware)</vt:lpstr>
      <vt:lpstr>Why Ensemble? — 상보적 결합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박성하</dc:creator>
  <cp:lastModifiedBy>이준서</cp:lastModifiedBy>
  <cp:revision>6</cp:revision>
  <dcterms:created xsi:type="dcterms:W3CDTF">2026-04-14T07:50:13Z</dcterms:created>
  <dcterms:modified xsi:type="dcterms:W3CDTF">2026-04-18T08:30:28Z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0x010100CF787AD634E8974FAABB582240919361</vt:lpwstr>
  </property>
</Properties>
</file>